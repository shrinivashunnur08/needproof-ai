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8" r:id="rId8"/>
    <p:sldId id="259" r:id="rId9"/>
    <p:sldId id="260" r:id="rId10"/>
    <p:sldId id="261" r:id="rId11"/>
    <p:sldId id="262" r:id="rId12"/>
    <p:sldId id="263" r:id="rId13"/>
    <p:sldId id="264" r:id="rId14"/>
    <p:sldId id="270" r:id="rId20"/>
    <p:sldId id="265" r:id="rId15"/>
    <p:sldId id="266" r:id="rId16"/>
    <p:sldId id="267" r:id="rId17"/>
    <p:sldId id="268" r:id="rId18"/>
    <p:sldId id="269" r:id="rId19"/>
    <p:sldId id="271" r:id="rId21"/>
  </p:sldIdLst>
  <p:sldSz cy="5143500" cx="9144000"/>
  <p:notesSz cx="6858000" cy="9144000"/>
  <p:embeddedFontLst>
    <p:embeddedFont>
      <p:font typeface="Google Sans Flex Medium"/>
      <p:regular r:id="rId22"/>
      <p:bold r:id="rId23"/>
    </p:embeddedFont>
    <p:embeddedFont>
      <p:font typeface="Google Sans Flex"/>
      <p:regular r:id="rId24"/>
      <p:bold r:id="rId25"/>
    </p:embeddedFont>
    <p:embeddedFont>
      <p:font typeface="Google Sans Flex SemiBold"/>
      <p:regular r:id="rId26"/>
      <p:bold r:id="rId2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Relationships xmlns="http://schemas.openxmlformats.org/package/2006/relationships"><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5" Type="http://schemas.openxmlformats.org/officeDocument/2006/relationships/notesMaster" Target="notesMasters/notesMaster1.xml"/><Relationship Id="rId6" Type="http://schemas.openxmlformats.org/officeDocument/2006/relationships/slide" Target="slides/slide1.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slide" Target="slides/slide7.xml"/><Relationship Id="rId13" Type="http://schemas.openxmlformats.org/officeDocument/2006/relationships/slide" Target="slides/slide8.xml"/><Relationship Id="rId14" Type="http://schemas.openxmlformats.org/officeDocument/2006/relationships/slide" Target="slides/slide9.xml"/><Relationship Id="rId15" Type="http://schemas.openxmlformats.org/officeDocument/2006/relationships/slide" Target="slides/slide10.xml"/><Relationship Id="rId16" Type="http://schemas.openxmlformats.org/officeDocument/2006/relationships/slide" Target="slides/slide11.xml"/><Relationship Id="rId17" Type="http://schemas.openxmlformats.org/officeDocument/2006/relationships/slide" Target="slides/slide12.xml"/><Relationship Id="rId18" Type="http://schemas.openxmlformats.org/officeDocument/2006/relationships/slide" Target="slides/slide13.xml"/><Relationship Id="rId19" Type="http://schemas.openxmlformats.org/officeDocument/2006/relationships/slide" Target="slides/slide14.xml"/><Relationship Id="rId20" Type="http://schemas.openxmlformats.org/officeDocument/2006/relationships/slide" Target="slides/slide15.xml"/><Relationship Id="rId21" Type="http://schemas.openxmlformats.org/officeDocument/2006/relationships/slide" Target="slides/slide16.xml"/><Relationship Id="rId22" Type="http://schemas.openxmlformats.org/officeDocument/2006/relationships/font" Target="fonts/GoogleSansFlexMedium-regular.fntdata"/><Relationship Id="rId23" Type="http://schemas.openxmlformats.org/officeDocument/2006/relationships/font" Target="fonts/GoogleSansFlexMedium-bold.fntdata"/><Relationship Id="rId24" Type="http://schemas.openxmlformats.org/officeDocument/2006/relationships/font" Target="fonts/GoogleSansFlex-regular.fntdata"/><Relationship Id="rId25" Type="http://schemas.openxmlformats.org/officeDocument/2006/relationships/font" Target="fonts/GoogleSansFlex-bold.fntdata"/><Relationship Id="rId26" Type="http://schemas.openxmlformats.org/officeDocument/2006/relationships/font" Target="fonts/GoogleSansFlexSemiBold-regular.fntdata"/><Relationship Id="rId27" Type="http://schemas.openxmlformats.org/officeDocument/2006/relationships/font" Target="fonts/GoogleSansFlexSemiBold-bold.fntdata"/></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ser>
          <c:idx val="0"/>
          <c:order val="0"/>
          <c:tx>
            <c:strRef>
              <c:f>Sheet1!$B$1</c:f>
              <c:strCache>
                <c:ptCount val="1"/>
                <c:pt idx="0">
                  <c:v>Net value per decision (₹)</c:v>
                </c:pt>
              </c:strCache>
            </c:strRef>
          </c:tx>
          <c:dPt>
            <c:idx val="0"/>
            <c:spPr>
              <a:solidFill>
                <a:srgbClr val="1E8E3E"/>
              </a:solidFill>
            </c:spPr>
          </c:dPt>
          <c:dPt>
            <c:idx val="1"/>
            <c:spPr>
              <a:solidFill>
                <a:srgbClr val="1A73E8"/>
              </a:solidFill>
            </c:spPr>
          </c:dPt>
          <c:dPt>
            <c:idx val="2"/>
            <c:spPr>
              <a:solidFill>
                <a:srgbClr val="9AA0A6"/>
              </a:solidFill>
            </c:spPr>
          </c:dPt>
          <c:cat>
            <c:strRef>
              <c:f>Sheet1!$A$2:$A$4</c:f>
              <c:strCache>
                <c:ptCount val="3"/>
                <c:pt idx="0">
                  <c:v>Ask only when worth it (EVSI)</c:v>
                </c:pt>
                <c:pt idx="1">
                  <c:v>Verify every shop</c:v>
                </c:pt>
                <c:pt idx="2">
                  <c:v>Never verify</c:v>
                </c:pt>
              </c:strCache>
            </c:strRef>
          </c:cat>
          <c:val>
            <c:numRef>
              <c:f>Sheet1!$B$2:$B$4</c:f>
              <c:numCache>
                <c:formatCode>General</c:formatCode>
                <c:ptCount val="3"/>
                <c:pt idx="0">
                  <c:v>175.25</c:v>
                </c:pt>
                <c:pt idx="1">
                  <c:v>158.48</c:v>
                </c:pt>
                <c:pt idx="2">
                  <c:v>138.6</c:v>
                </c:pt>
              </c:numCache>
            </c:numRef>
          </c:val>
        </c:ser>
        <c:dLbls>
          <c:numFmt formatCode="&quot;₹&quot;0" sourceLinked="0"/>
          <c:txPr>
            <a:bodyPr/>
            <a:lstStyle/>
            <a:p>
              <a:pPr>
                <a:defRPr sz="900">
                  <a:solidFill>
                    <a:srgbClr val="202124"/>
                  </a:solidFill>
                  <a:latin typeface="Google Sans Flex"/>
                </a:defRPr>
              </a:pPr>
            </a:p>
          </c:txPr>
          <c:dLblPos val="outEnd"/>
          <c:showLegendKey val="0"/>
          <c:showVal val="1"/>
          <c:showCatName val="0"/>
          <c:showSerName val="0"/>
          <c:showPercent val="0"/>
          <c:showBubbleSize val="0"/>
          <c:showLeaderLines val="1"/>
        </c:dLbls>
        <c:gapWidth val="60"/>
        <c:axId val="-2068027336"/>
        <c:axId val="-2113994440"/>
      </c:barChart>
      <c:catAx>
        <c:axId val="-2068027336"/>
        <c:scaling>
          <c:orientation val="maxMin"/>
        </c:scaling>
        <c:delete val="0"/>
        <c:axPos val="l"/>
        <c:majorTickMark val="out"/>
        <c:minorTickMark val="none"/>
        <c:tickLblPos val="nextTo"/>
        <c:spPr>
          <a:ln>
            <a:solidFill>
              <a:srgbClr val="DADCE0"/>
            </a:solidFill>
          </a:ln>
        </c:spPr>
        <c:txPr>
          <a:bodyPr/>
          <a:lstStyle/>
          <a:p>
            <a:pPr>
              <a:defRPr sz="850">
                <a:latin typeface="Google Sans Flex"/>
              </a:defRPr>
            </a:pPr>
          </a:p>
        </c:txPr>
        <c:crossAx val="-2113994440"/>
        <c:crosses val="autoZero"/>
        <c:auto val="1"/>
        <c:lblAlgn val="ctr"/>
        <c:lblOffset val="100"/>
        <c:noMultiLvlLbl val="0"/>
      </c:catAx>
      <c:valAx>
        <c:axId val="-2113994440"/>
        <c:scaling>
          <c:max val="200.0"/>
          <c:min val="0.0"/>
        </c:scaling>
        <c:delete/>
        <c:axPos val="b"/>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Fill in the team name and team leader before exporting.</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 name="Shape 65"/>
        <p:cNvGrpSpPr/>
        <p:nvPr/>
      </p:nvGrpSpPr>
      <p:grpSpPr>
        <a:xfrm>
          <a:off x="0" y="0"/>
          <a:ext cx="0" cy="0"/>
          <a:chOff x="0" y="0"/>
          <a:chExt cx="0" cy="0"/>
        </a:xfrm>
      </p:grpSpPr>
      <p:sp>
        <p:nvSpPr>
          <p:cNvPr id="66" name="Google Shape;66;g3fb085bff3c_0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7" name="Google Shape;67;g3fb085bff3c_0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 name="Shape 72"/>
        <p:cNvGrpSpPr/>
        <p:nvPr/>
      </p:nvGrpSpPr>
      <p:grpSpPr>
        <a:xfrm>
          <a:off x="0" y="0"/>
          <a:ext cx="0" cy="0"/>
          <a:chOff x="0" y="0"/>
          <a:chExt cx="0" cy="0"/>
        </a:xfrm>
      </p:grpSpPr>
      <p:sp>
        <p:nvSpPr>
          <p:cNvPr id="73" name="Google Shape;73;g3fb085bff3c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4" name="Google Shape;74;g3fb085bff3c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g3fb085bff3c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 name="Google Shape;82;g3fb085bff3c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g3fb085bff3c_0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0" name="Google Shape;90;g3fb085bff3c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g3fb085bff3c_0_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8" name="Google Shape;98;g3fb085bff3c_0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g3fb085bff3c_0_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6" name="Google Shape;106;g3fb085bff3c_0_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g3fb085bff3c_0_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4" name="Google Shape;114;g3fb085bff3c_0_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g3fb085bff3c_0_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2" name="Google Shape;122;g3fb085bff3c_0_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g3fb085bff3c_0_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0" name="Google Shape;130;g3fb085bff3c_0_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g3fb085bff3c_0_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8" name="Google Shape;138;g3fb085bff3c_0_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g3fb085bff3c_0_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6" name="Google Shape;146;g3fb085bff3c_0_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g3fb085bff3c_0_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4" name="Google Shape;154;g3fb085bff3c_0_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g3fb085bff3c_0_1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2" name="Google Shape;162;g3fb085bff3c_0_1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g3fb085bff3c_0_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9" name="Google Shape;169;g3fb085bff3c_0_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2.png"/><Relationship Id="rId4" Type="http://schemas.openxmlformats.org/officeDocument/2006/relationships/image" Target="../media/image6.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3.png"/><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3.png"/><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3.png"/><Relationship Id="rId4" Type="http://schemas.openxmlformats.org/officeDocument/2006/relationships/image" Target="../media/image2.png"/><Relationship Id="rId5" Type="http://schemas.openxmlformats.org/officeDocument/2006/relationships/image" Target="../media/image7.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3.png"/><Relationship Id="rId4" Type="http://schemas.openxmlformats.org/officeDocument/2006/relationships/image" Target="../media/image2.png"/><Relationship Id="rId5" Type="http://schemas.openxmlformats.org/officeDocument/2006/relationships/image" Target="../media/image8.jpg"/><Relationship Id="rId6" Type="http://schemas.openxmlformats.org/officeDocument/2006/relationships/image" Target="../media/image9.jpg"/><Relationship Id="rId7" Type="http://schemas.openxmlformats.org/officeDocument/2006/relationships/image" Target="../media/image10.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3.png"/><Relationship Id="rId4" Type="http://schemas.openxmlformats.org/officeDocument/2006/relationships/image" Target="../media/image2.png"/><Relationship Id="rId5" Type="http://schemas.openxmlformats.org/officeDocument/2006/relationships/image" Target="../media/image1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3.png"/><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3.png"/><Relationship Id="rId4"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3.png"/><Relationship Id="rId4" Type="http://schemas.openxmlformats.org/officeDocument/2006/relationships/image" Target="../media/image2.png"/><Relationship Id="rId5" Type="http://schemas.openxmlformats.org/officeDocument/2006/relationships/image" Target="../media/image12.jpg"/><Relationship Id="rId6" Type="http://schemas.openxmlformats.org/officeDocument/2006/relationships/image" Target="../media/image13.jpg"/><Relationship Id="rId7" Type="http://schemas.openxmlformats.org/officeDocument/2006/relationships/image" Target="../media/image14.jpg"/><Relationship Id="rId8" Type="http://schemas.openxmlformats.org/officeDocument/2006/relationships/image" Target="../media/image15.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3.png"/><Relationship Id="rId4" Type="http://schemas.openxmlformats.org/officeDocument/2006/relationships/image" Target="../media/image2.png"/><Relationship Id="rId5" Type="http://schemas.openxmlformats.org/officeDocument/2006/relationships/chart" Target="../charts/char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3.png"/><Relationship Id="rId4" Type="http://schemas.openxmlformats.org/officeDocument/2006/relationships/image" Target="../media/image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3.png"/><Relationship Id="rId4" Type="http://schemas.openxmlformats.org/officeDocument/2006/relationships/image" Target="../media/image2.png"/><Relationship Id="rId5" Type="http://schemas.openxmlformats.org/officeDocument/2006/relationships/hyperlink" Target="https://github.com/shrinivashunnur08/NeedProof-AI" TargetMode="External"/><Relationship Id="rId6" Type="http://schemas.openxmlformats.org/officeDocument/2006/relationships/hyperlink" Target="https://needproof-822406860102.asia-southeast1.run.app" TargetMode="Externa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3.png"/><Relationship Id="rId4" Type="http://schemas.openxmlformats.org/officeDocument/2006/relationships/image" Target="../media/image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3.png"/><Relationship Id="rId4"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nvSpPr>
        <p:spPr>
          <a:xfrm>
            <a:off x="146600" y="2902694"/>
            <a:ext cx="5257800" cy="2003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100">
                <a:latin typeface="Google Sans Flex SemiBold"/>
                <a:ea typeface="Google Sans Flex SemiBold"/>
                <a:cs typeface="Google Sans Flex SemiBold"/>
                <a:sym typeface="Google Sans Flex SemiBold"/>
              </a:rPr>
              <a:t>Team Details</a:t>
            </a:r>
            <a:endParaRPr sz="2100">
              <a:latin typeface="Google Sans Flex SemiBold"/>
              <a:ea typeface="Google Sans Flex SemiBold"/>
              <a:cs typeface="Google Sans Flex SemiBold"/>
              <a:sym typeface="Google Sans Flex SemiBold"/>
            </a:endParaRPr>
          </a:p>
          <a:p>
            <a:pPr indent="0" lvl="0" marL="0" rtl="0" algn="l">
              <a:spcBef>
                <a:spcPts val="0"/>
              </a:spcBef>
              <a:spcAft>
                <a:spcPts val="0"/>
              </a:spcAft>
              <a:buNone/>
            </a:pPr>
            <a:r>
              <a:t/>
            </a:r>
            <a:endParaRPr sz="1800">
              <a:latin typeface="Google Sans Flex Medium"/>
              <a:ea typeface="Google Sans Flex Medium"/>
              <a:cs typeface="Google Sans Flex Medium"/>
              <a:sym typeface="Google Sans Flex Medium"/>
            </a:endParaRPr>
          </a:p>
          <a:p>
            <a:pPr indent="-342900" lvl="1" marL="914400" rtl="0" algn="l">
              <a:spcBef>
                <a:spcPts val="0"/>
              </a:spcBef>
              <a:spcAft>
                <a:spcPts val="0"/>
              </a:spcAft>
              <a:buSzPts val="1800"/>
              <a:buFont typeface="Google Sans Flex"/>
              <a:buAutoNum type="alphaLcPeriod"/>
            </a:pPr>
            <a:r>
              <a:rPr lang="en-GB" sz="1800">
                <a:latin typeface="Google Sans Flex"/>
                <a:ea typeface="Google Sans Flex"/>
                <a:cs typeface="Google Sans Flex"/>
                <a:sym typeface="Google Sans Flex"/>
              </a:rPr>
              <a:t>Team name: </a:t>
            </a:r>
            <a:r>
              <a:rPr sz="1800" b="0">
                <a:solidFill>
                  <a:srgbClr val="5F6368"/>
                </a:solidFill>
                <a:latin typeface="Google Sans Flex"/>
                <a:ea typeface="Google Sans Flex"/>
                <a:cs typeface="Google Sans Flex"/>
                <a:sym typeface="Google Sans Flex"/>
              </a:rPr>
              <a:t>‹Team name›</a:t>
            </a:r>
            <a:endParaRPr sz="1800">
              <a:latin typeface="Google Sans Flex"/>
              <a:ea typeface="Google Sans Flex"/>
              <a:cs typeface="Google Sans Flex"/>
              <a:sym typeface="Google Sans Flex"/>
            </a:endParaRPr>
          </a:p>
          <a:p>
            <a:pPr indent="-342900" lvl="1" marL="914400" rtl="0" algn="l">
              <a:spcBef>
                <a:spcPts val="0"/>
              </a:spcBef>
              <a:spcAft>
                <a:spcPts val="0"/>
              </a:spcAft>
              <a:buSzPts val="1800"/>
              <a:buFont typeface="Google Sans Flex"/>
              <a:buAutoNum type="alphaLcPeriod"/>
            </a:pPr>
            <a:r>
              <a:rPr lang="en-GB" sz="1800">
                <a:latin typeface="Google Sans Flex"/>
                <a:ea typeface="Google Sans Flex"/>
                <a:cs typeface="Google Sans Flex"/>
                <a:sym typeface="Google Sans Flex"/>
              </a:rPr>
              <a:t>Team leader name: </a:t>
            </a:r>
            <a:r>
              <a:rPr sz="1800" b="0">
                <a:solidFill>
                  <a:srgbClr val="5F6368"/>
                </a:solidFill>
                <a:latin typeface="Google Sans Flex"/>
                <a:ea typeface="Google Sans Flex"/>
                <a:cs typeface="Google Sans Flex"/>
                <a:sym typeface="Google Sans Flex"/>
              </a:rPr>
              <a:t>‹Team leader name›</a:t>
            </a:r>
            <a:endParaRPr sz="1800">
              <a:latin typeface="Google Sans Flex"/>
              <a:ea typeface="Google Sans Flex"/>
              <a:cs typeface="Google Sans Flex"/>
              <a:sym typeface="Google Sans Flex"/>
            </a:endParaRPr>
          </a:p>
          <a:p>
            <a:pPr indent="-342900" lvl="1" marL="914400" rtl="0" algn="l">
              <a:spcBef>
                <a:spcPts val="0"/>
              </a:spcBef>
              <a:spcAft>
                <a:spcPts val="0"/>
              </a:spcAft>
              <a:buSzPts val="1800"/>
              <a:buFont typeface="Google Sans Flex"/>
              <a:buAutoNum type="alphaLcPeriod"/>
            </a:pPr>
            <a:r>
              <a:rPr lang="en-GB" sz="1800">
                <a:latin typeface="Google Sans Flex"/>
                <a:ea typeface="Google Sans Flex"/>
                <a:cs typeface="Google Sans Flex"/>
                <a:sym typeface="Google Sans Flex"/>
              </a:rPr>
              <a:t>Problem Statement: </a:t>
            </a:r>
            <a:r>
              <a:rPr sz="1300" b="0">
                <a:solidFill>
                  <a:srgbClr val="202124"/>
                </a:solidFill>
                <a:latin typeface="Google Sans Flex"/>
                <a:ea typeface="Google Sans Flex"/>
                <a:cs typeface="Google Sans Flex"/>
                <a:sym typeface="Google Sans Flex"/>
              </a:rPr>
              <a:t>Retail &amp; Commerce. A shopper can't tell which nearby shop really has the exact item in stock, and small shops can't show it, so trips are wasted and sales lost.</a:t>
            </a:r>
            <a:endParaRPr sz="1800">
              <a:latin typeface="Google Sans Flex"/>
              <a:ea typeface="Google Sans Flex"/>
              <a:cs typeface="Google Sans Flex"/>
              <a:sym typeface="Google Sans Flex"/>
            </a:endParaRPr>
          </a:p>
          <a:p>
            <a:pPr indent="0" lvl="0" marL="0" rtl="0" algn="l">
              <a:spcBef>
                <a:spcPts val="0"/>
              </a:spcBef>
              <a:spcAft>
                <a:spcPts val="0"/>
              </a:spcAft>
              <a:buNone/>
            </a:pPr>
            <a:r>
              <a:t/>
            </a:r>
            <a:endParaRPr sz="1800">
              <a:latin typeface="Google Sans Flex Medium"/>
              <a:ea typeface="Google Sans Flex Medium"/>
              <a:cs typeface="Google Sans Flex Medium"/>
              <a:sym typeface="Google Sans Flex Medium"/>
            </a:endParaRPr>
          </a:p>
        </p:txBody>
      </p:sp>
      <p:pic>
        <p:nvPicPr>
          <p:cNvPr id="55" name="Google Shape;55;p13" title="Frame 144.png"/>
          <p:cNvPicPr preferRelativeResize="0"/>
          <p:nvPr/>
        </p:nvPicPr>
        <p:blipFill>
          <a:blip r:embed="rId3">
            <a:alphaModFix/>
          </a:blip>
          <a:stretch>
            <a:fillRect/>
          </a:stretch>
        </p:blipFill>
        <p:spPr>
          <a:xfrm>
            <a:off x="0" y="-3"/>
            <a:ext cx="9144000" cy="2715526"/>
          </a:xfrm>
          <a:prstGeom prst="rect">
            <a:avLst/>
          </a:prstGeom>
          <a:noFill/>
          <a:ln>
            <a:noFill/>
          </a:ln>
        </p:spPr>
      </p:pic>
      <p:pic>
        <p:nvPicPr>
          <p:cNvPr id="56" name="Google Shape;56;p13" title="Frame 144.png"/>
          <p:cNvPicPr preferRelativeResize="0"/>
          <p:nvPr/>
        </p:nvPicPr>
        <p:blipFill rotWithShape="1">
          <a:blip r:embed="rId4">
            <a:alphaModFix/>
          </a:blip>
          <a:srcRect b="98001" l="0" r="0" t="0"/>
          <a:stretch/>
        </p:blipFill>
        <p:spPr>
          <a:xfrm>
            <a:off x="0" y="5093562"/>
            <a:ext cx="9144000" cy="54275"/>
          </a:xfrm>
          <a:prstGeom prst="rect">
            <a:avLst/>
          </a:prstGeom>
          <a:noFill/>
          <a:ln>
            <a:noFill/>
          </a:ln>
        </p:spPr>
      </p:pic>
      <p:sp>
        <p:nvSpPr>
          <p:cNvPr id="57" name="TextBox 56"/>
          <p:cNvSpPr txBox="1"/>
          <p:nvPr/>
        </p:nvSpPr>
        <p:spPr>
          <a:xfrm>
            <a:off x="5715000" y="3017520"/>
            <a:ext cx="3200400" cy="548640"/>
          </a:xfrm>
          <a:prstGeom prst="rect">
            <a:avLst/>
          </a:prstGeom>
          <a:noFill/>
        </p:spPr>
        <p:txBody>
          <a:bodyPr wrap="square" anchor="t" lIns="0" rIns="0" tIns="0" bIns="0">
            <a:spAutoFit/>
          </a:bodyPr>
          <a:lstStyle/>
          <a:p>
            <a:pPr algn="l">
              <a:spcAft>
                <a:spcPts val="400"/>
              </a:spcAft>
            </a:pPr>
            <a:r>
              <a:rPr sz="3400" b="0">
                <a:solidFill>
                  <a:srgbClr val="202124"/>
                </a:solidFill>
                <a:latin typeface="Google Sans Flex Medium"/>
                <a:ea typeface="Google Sans Flex Medium"/>
                <a:cs typeface="Google Sans Flex Medium"/>
                <a:sym typeface="Google Sans Flex Medium"/>
              </a:rPr>
              <a:t>NeedProof</a:t>
            </a:r>
          </a:p>
        </p:txBody>
      </p:sp>
      <p:sp>
        <p:nvSpPr>
          <p:cNvPr id="58" name="TextBox 57"/>
          <p:cNvSpPr txBox="1"/>
          <p:nvPr/>
        </p:nvSpPr>
        <p:spPr>
          <a:xfrm>
            <a:off x="5715000" y="3611880"/>
            <a:ext cx="3200400" cy="1188720"/>
          </a:xfrm>
          <a:prstGeom prst="rect">
            <a:avLst/>
          </a:prstGeom>
          <a:noFill/>
        </p:spPr>
        <p:txBody>
          <a:bodyPr wrap="square" anchor="t" lIns="0" rIns="0" tIns="0" bIns="0">
            <a:spAutoFit/>
          </a:bodyPr>
          <a:lstStyle/>
          <a:p>
            <a:pPr algn="l">
              <a:spcAft>
                <a:spcPts val="600"/>
              </a:spcAft>
            </a:pPr>
            <a:r>
              <a:rPr sz="1500" b="0">
                <a:solidFill>
                  <a:srgbClr val="202124"/>
                </a:solidFill>
                <a:latin typeface="Google Sans Flex"/>
                <a:ea typeface="Google Sans Flex"/>
                <a:cs typeface="Google Sans Flex"/>
                <a:sym typeface="Google Sans Flex"/>
              </a:rPr>
              <a:t>Know it's in stock before you go.</a:t>
            </a:r>
          </a:p>
          <a:p>
            <a:pPr algn="l">
              <a:spcAft>
                <a:spcPts val="600"/>
              </a:spcAft>
            </a:pPr>
            <a:r>
              <a:rPr sz="1150" b="0">
                <a:solidFill>
                  <a:srgbClr val="5F6368"/>
                </a:solidFill>
                <a:latin typeface="Google Sans Flex"/>
                <a:ea typeface="Google Sans Flex"/>
                <a:cs typeface="Google Sans Flex"/>
                <a:sym typeface="Google Sans Flex"/>
              </a:rPr>
              <a:t>Real nearby shops prove it with one photo; Gemini checks the proof.</a:t>
            </a: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 name="Shape 68"/>
        <p:cNvGrpSpPr/>
        <p:nvPr/>
      </p:nvGrpSpPr>
      <p:grpSpPr>
        <a:xfrm>
          <a:off x="0" y="0"/>
          <a:ext cx="0" cy="0"/>
          <a:chOff x="0" y="0"/>
          <a:chExt cx="0" cy="0"/>
        </a:xfrm>
      </p:grpSpPr>
      <p:pic>
        <p:nvPicPr>
          <p:cNvPr id="69" name="Google Shape;69;p15" title="Group 427319979.png"/>
          <p:cNvPicPr preferRelativeResize="0"/>
          <p:nvPr/>
        </p:nvPicPr>
        <p:blipFill>
          <a:blip r:embed="rId3">
            <a:alphaModFix/>
          </a:blip>
          <a:stretch>
            <a:fillRect/>
          </a:stretch>
        </p:blipFill>
        <p:spPr>
          <a:xfrm>
            <a:off x="0" y="1"/>
            <a:ext cx="9144000" cy="507359"/>
          </a:xfrm>
          <a:prstGeom prst="rect">
            <a:avLst/>
          </a:prstGeom>
          <a:noFill/>
          <a:ln>
            <a:noFill/>
          </a:ln>
        </p:spPr>
      </p:pic>
      <p:sp>
        <p:nvSpPr>
          <p:cNvPr id="70" name="Google Shape;70;p15"/>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1" name="Google Shape;71;p15"/>
          <p:cNvSpPr txBox="1"/>
          <p:nvPr/>
        </p:nvSpPr>
        <p:spPr>
          <a:xfrm>
            <a:off x="265350" y="663825"/>
            <a:ext cx="8943000" cy="50292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latin typeface="Google Sans Flex Medium"/>
                <a:ea typeface="Google Sans Flex Medium"/>
                <a:cs typeface="Google Sans Flex Medium"/>
                <a:sym typeface="Google Sans Flex Medium"/>
              </a:rPr>
              <a:t>Brief about the idea</a:t>
            </a:r>
            <a:endParaRPr sz="1600">
              <a:latin typeface="Google Sans Flex Medium"/>
              <a:ea typeface="Google Sans Flex Medium"/>
              <a:cs typeface="Google Sans Flex Medium"/>
              <a:sym typeface="Google Sans Flex Medium"/>
            </a:endParaRPr>
          </a:p>
        </p:txBody>
      </p:sp>
      <p:sp>
        <p:nvSpPr>
          <p:cNvPr id="72" name="TextBox 71"/>
          <p:cNvSpPr txBox="1"/>
          <p:nvPr/>
        </p:nvSpPr>
        <p:spPr>
          <a:xfrm>
            <a:off x="365760" y="1188720"/>
            <a:ext cx="4754880" cy="365760"/>
          </a:xfrm>
          <a:prstGeom prst="rect">
            <a:avLst/>
          </a:prstGeom>
          <a:noFill/>
        </p:spPr>
        <p:txBody>
          <a:bodyPr wrap="square" anchor="t" lIns="0" rIns="0" tIns="0" bIns="0">
            <a:spAutoFit/>
          </a:bodyPr>
          <a:lstStyle/>
          <a:p>
            <a:pPr algn="l">
              <a:spcAft>
                <a:spcPts val="400"/>
              </a:spcAft>
            </a:pPr>
            <a:r>
              <a:rPr sz="1800" b="0">
                <a:solidFill>
                  <a:srgbClr val="202124"/>
                </a:solidFill>
                <a:latin typeface="Google Sans Flex Medium"/>
                <a:ea typeface="Google Sans Flex Medium"/>
                <a:cs typeface="Google Sans Flex Medium"/>
                <a:sym typeface="Google Sans Flex Medium"/>
              </a:rPr>
              <a:t>Know it's in stock before you go</a:t>
            </a:r>
          </a:p>
        </p:txBody>
      </p:sp>
      <p:sp>
        <p:nvSpPr>
          <p:cNvPr id="73" name="Oval 72"/>
          <p:cNvSpPr/>
          <p:nvPr/>
        </p:nvSpPr>
        <p:spPr>
          <a:xfrm>
            <a:off x="365760" y="1719072"/>
            <a:ext cx="146304" cy="146304"/>
          </a:xfrm>
          <a:prstGeom prst="ellipse">
            <a:avLst/>
          </a:prstGeom>
          <a:solidFill>
            <a:srgbClr val="1A73E8"/>
          </a:solidFill>
          <a:ln>
            <a:noFill/>
          </a:ln>
        </p:spPr>
        <p:txBody>
          <a:bodyPr rtlCol="0" anchor="ctr" lIns="0" rIns="0" tIns="0" bIns="0"/>
          <a:lstStyle/>
          <a:p>
            <a:pPr algn="ctr"/>
            <a:r>
              <a:rPr sz="600" b="0">
                <a:solidFill>
                  <a:srgbClr val="FFFFFF"/>
                </a:solidFill>
                <a:latin typeface="Google Sans Flex Medium"/>
                <a:ea typeface="Google Sans Flex Medium"/>
                <a:cs typeface="Google Sans Flex Medium"/>
                <a:sym typeface="Google Sans Flex Medium"/>
              </a:rPr>
              <a:t/>
            </a:r>
          </a:p>
        </p:txBody>
      </p:sp>
      <p:sp>
        <p:nvSpPr>
          <p:cNvPr id="74" name="TextBox 73"/>
          <p:cNvSpPr txBox="1"/>
          <p:nvPr/>
        </p:nvSpPr>
        <p:spPr>
          <a:xfrm>
            <a:off x="594360" y="1673352"/>
            <a:ext cx="4480560" cy="1005840"/>
          </a:xfrm>
          <a:prstGeom prst="rect">
            <a:avLst/>
          </a:prstGeom>
          <a:noFill/>
        </p:spPr>
        <p:txBody>
          <a:bodyPr wrap="square" anchor="t" lIns="0" rIns="0" tIns="0" bIns="0">
            <a:spAutoFit/>
          </a:bodyPr>
          <a:lstStyle/>
          <a:p>
            <a:pPr algn="l">
              <a:spcAft>
                <a:spcPts val="200"/>
              </a:spcAft>
            </a:pPr>
            <a:r>
              <a:rPr sz="1200" b="0">
                <a:solidFill>
                  <a:srgbClr val="202124"/>
                </a:solidFill>
                <a:latin typeface="Google Sans Flex Medium"/>
                <a:ea typeface="Google Sans Flex Medium"/>
                <a:cs typeface="Google Sans Flex Medium"/>
                <a:sym typeface="Google Sans Flex Medium"/>
              </a:rPr>
              <a:t>The problem</a:t>
            </a:r>
          </a:p>
          <a:p>
            <a:pPr algn="l">
              <a:spcAft>
                <a:spcPts val="200"/>
              </a:spcAft>
            </a:pPr>
            <a:r>
              <a:rPr sz="1000" b="0">
                <a:solidFill>
                  <a:srgbClr val="5F6368"/>
                </a:solidFill>
                <a:latin typeface="Google Sans Flex"/>
                <a:ea typeface="Google Sans Flex"/>
                <a:cs typeface="Google Sans Flex"/>
                <a:sym typeface="Google Sans Flex"/>
              </a:rPr>
              <a:t>A shopper needs a specific item today: a 65W charger, a shirt in this design, a mixer grinder. Online listings and maps say what a shop sells, not what is on its shelf now. So people phone around or travel and find it missing, and the shop never learns it lost a sale.</a:t>
            </a:r>
          </a:p>
        </p:txBody>
      </p:sp>
      <p:sp>
        <p:nvSpPr>
          <p:cNvPr id="75" name="Oval 74"/>
          <p:cNvSpPr/>
          <p:nvPr/>
        </p:nvSpPr>
        <p:spPr>
          <a:xfrm>
            <a:off x="365760" y="2633472"/>
            <a:ext cx="146304" cy="146304"/>
          </a:xfrm>
          <a:prstGeom prst="ellipse">
            <a:avLst/>
          </a:prstGeom>
          <a:solidFill>
            <a:srgbClr val="1E8E3E"/>
          </a:solidFill>
          <a:ln>
            <a:noFill/>
          </a:ln>
        </p:spPr>
        <p:txBody>
          <a:bodyPr rtlCol="0" anchor="ctr" lIns="0" rIns="0" tIns="0" bIns="0"/>
          <a:lstStyle/>
          <a:p>
            <a:pPr algn="ctr"/>
            <a:r>
              <a:rPr sz="600" b="0">
                <a:solidFill>
                  <a:srgbClr val="FFFFFF"/>
                </a:solidFill>
                <a:latin typeface="Google Sans Flex Medium"/>
                <a:ea typeface="Google Sans Flex Medium"/>
                <a:cs typeface="Google Sans Flex Medium"/>
                <a:sym typeface="Google Sans Flex Medium"/>
              </a:rPr>
              <a:t/>
            </a:r>
          </a:p>
        </p:txBody>
      </p:sp>
      <p:sp>
        <p:nvSpPr>
          <p:cNvPr id="76" name="TextBox 75"/>
          <p:cNvSpPr txBox="1"/>
          <p:nvPr/>
        </p:nvSpPr>
        <p:spPr>
          <a:xfrm>
            <a:off x="594360" y="2587752"/>
            <a:ext cx="4480560" cy="1005840"/>
          </a:xfrm>
          <a:prstGeom prst="rect">
            <a:avLst/>
          </a:prstGeom>
          <a:noFill/>
        </p:spPr>
        <p:txBody>
          <a:bodyPr wrap="square" anchor="t" lIns="0" rIns="0" tIns="0" bIns="0">
            <a:spAutoFit/>
          </a:bodyPr>
          <a:lstStyle/>
          <a:p>
            <a:pPr algn="l">
              <a:spcAft>
                <a:spcPts val="200"/>
              </a:spcAft>
            </a:pPr>
            <a:r>
              <a:rPr sz="1200" b="0">
                <a:solidFill>
                  <a:srgbClr val="202124"/>
                </a:solidFill>
                <a:latin typeface="Google Sans Flex Medium"/>
                <a:ea typeface="Google Sans Flex Medium"/>
                <a:cs typeface="Google Sans Flex Medium"/>
                <a:sym typeface="Google Sans Flex Medium"/>
              </a:rPr>
              <a:t>What NeedProof does</a:t>
            </a:r>
          </a:p>
          <a:p>
            <a:pPr algn="l">
              <a:spcAft>
                <a:spcPts val="200"/>
              </a:spcAft>
            </a:pPr>
            <a:r>
              <a:rPr sz="1000" b="0">
                <a:solidFill>
                  <a:srgbClr val="5F6368"/>
                </a:solidFill>
                <a:latin typeface="Google Sans Flex"/>
                <a:ea typeface="Google Sans Flex"/>
                <a:cs typeface="Google Sans Flex"/>
                <a:sym typeface="Google Sans Flex"/>
              </a:rPr>
              <a:t>The shopper asks in any language, by text, voice or photo. Gemini works out the item and the kind of shop that sells it, and the request goes to real nearby shops from Google Maps. A shop answers with one photo, without installing anything. Gemini Vision checks the photo against the request, and the shopper goes only where the item is proven, with directions.</a:t>
            </a:r>
          </a:p>
        </p:txBody>
      </p:sp>
      <p:sp>
        <p:nvSpPr>
          <p:cNvPr id="77" name="Oval 76"/>
          <p:cNvSpPr/>
          <p:nvPr/>
        </p:nvSpPr>
        <p:spPr>
          <a:xfrm>
            <a:off x="365760" y="3730752"/>
            <a:ext cx="146304" cy="146304"/>
          </a:xfrm>
          <a:prstGeom prst="ellipse">
            <a:avLst/>
          </a:prstGeom>
          <a:solidFill>
            <a:srgbClr val="F9AB00"/>
          </a:solidFill>
          <a:ln>
            <a:noFill/>
          </a:ln>
        </p:spPr>
        <p:txBody>
          <a:bodyPr rtlCol="0" anchor="ctr" lIns="0" rIns="0" tIns="0" bIns="0"/>
          <a:lstStyle/>
          <a:p>
            <a:pPr algn="ctr"/>
            <a:r>
              <a:rPr sz="600" b="0">
                <a:solidFill>
                  <a:srgbClr val="FFFFFF"/>
                </a:solidFill>
                <a:latin typeface="Google Sans Flex Medium"/>
                <a:ea typeface="Google Sans Flex Medium"/>
                <a:cs typeface="Google Sans Flex Medium"/>
                <a:sym typeface="Google Sans Flex Medium"/>
              </a:rPr>
              <a:t/>
            </a:r>
          </a:p>
        </p:txBody>
      </p:sp>
      <p:sp>
        <p:nvSpPr>
          <p:cNvPr id="78" name="TextBox 77"/>
          <p:cNvSpPr txBox="1"/>
          <p:nvPr/>
        </p:nvSpPr>
        <p:spPr>
          <a:xfrm>
            <a:off x="594360" y="3685032"/>
            <a:ext cx="4480560" cy="1005840"/>
          </a:xfrm>
          <a:prstGeom prst="rect">
            <a:avLst/>
          </a:prstGeom>
          <a:noFill/>
        </p:spPr>
        <p:txBody>
          <a:bodyPr wrap="square" anchor="t" lIns="0" rIns="0" tIns="0" bIns="0">
            <a:spAutoFit/>
          </a:bodyPr>
          <a:lstStyle/>
          <a:p>
            <a:pPr algn="l">
              <a:spcAft>
                <a:spcPts val="200"/>
              </a:spcAft>
            </a:pPr>
            <a:r>
              <a:rPr sz="1200" b="0">
                <a:solidFill>
                  <a:srgbClr val="202124"/>
                </a:solidFill>
                <a:latin typeface="Google Sans Flex Medium"/>
                <a:ea typeface="Google Sans Flex Medium"/>
                <a:cs typeface="Google Sans Flex Medium"/>
                <a:sym typeface="Google Sans Flex Medium"/>
              </a:rPr>
              <a:t>What the business gets</a:t>
            </a:r>
          </a:p>
          <a:p>
            <a:pPr algn="l">
              <a:spcAft>
                <a:spcPts val="200"/>
              </a:spcAft>
            </a:pPr>
            <a:r>
              <a:rPr sz="1000" b="0">
                <a:solidFill>
                  <a:srgbClr val="5F6368"/>
                </a:solidFill>
                <a:latin typeface="Google Sans Flex"/>
                <a:ea typeface="Google Sans Flex"/>
                <a:cs typeface="Google Sans Flex"/>
                <a:sym typeface="Google Sans Flex"/>
              </a:rPr>
              <a:t>Every request becomes demand data: what people asked for, what was missed, which shops answered. Shopkeepers see their own demand, missed sales and stock cover; managers see demand by category with BigQuery ML forecasts.</a:t>
            </a:r>
          </a:p>
        </p:txBody>
      </p:sp>
      <p:pic>
        <p:nvPicPr>
          <p:cNvPr id="79" name="Picture 78" descr="tracker_card.jpg"/>
          <p:cNvPicPr>
            <a:picLocks noChangeAspect="1"/>
          </p:cNvPicPr>
          <p:nvPr/>
        </p:nvPicPr>
        <p:blipFill>
          <a:blip r:embed="rId4"/>
          <a:stretch>
            <a:fillRect/>
          </a:stretch>
        </p:blipFill>
        <p:spPr>
          <a:xfrm>
            <a:off x="5257800" y="1295089"/>
            <a:ext cx="3520440" cy="3124820"/>
          </a:xfrm>
          <a:prstGeom prst="rect">
            <a:avLst/>
          </a:prstGeom>
          <a:ln w="9525">
            <a:solidFill>
              <a:srgbClr val="DADCE0"/>
            </a:solidFill>
          </a:ln>
        </p:spPr>
      </p:pic>
      <p:sp>
        <p:nvSpPr>
          <p:cNvPr id="80" name="TextBox 79"/>
          <p:cNvSpPr txBox="1"/>
          <p:nvPr/>
        </p:nvSpPr>
        <p:spPr>
          <a:xfrm>
            <a:off x="5257800" y="4465630"/>
            <a:ext cx="3520440" cy="274320"/>
          </a:xfrm>
          <a:prstGeom prst="rect">
            <a:avLst/>
          </a:prstGeom>
          <a:noFill/>
        </p:spPr>
        <p:txBody>
          <a:bodyPr wrap="square" anchor="t" lIns="0" rIns="0" tIns="0" bIns="0">
            <a:spAutoFit/>
          </a:bodyPr>
          <a:lstStyle/>
          <a:p>
            <a:pPr algn="l">
              <a:spcAft>
                <a:spcPts val="400"/>
              </a:spcAft>
            </a:pPr>
            <a:r>
              <a:rPr sz="850" b="0">
                <a:solidFill>
                  <a:srgbClr val="5F6368"/>
                </a:solidFill>
                <a:latin typeface="Google Sans Flex"/>
                <a:ea typeface="Google Sans Flex"/>
                <a:cs typeface="Google Sans Flex"/>
                <a:sym typeface="Google Sans Flex"/>
              </a:rPr>
              <a:t>Live app: one shop's photo matches the request, another's conflicts. Both are real shops from Google Places.</a:t>
            </a: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 name="Shape 75"/>
        <p:cNvGrpSpPr/>
        <p:nvPr/>
      </p:nvGrpSpPr>
      <p:grpSpPr>
        <a:xfrm>
          <a:off x="0" y="0"/>
          <a:ext cx="0" cy="0"/>
          <a:chOff x="0" y="0"/>
          <a:chExt cx="0" cy="0"/>
        </a:xfrm>
      </p:grpSpPr>
      <p:pic>
        <p:nvPicPr>
          <p:cNvPr id="76" name="Google Shape;76;p16"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77" name="Google Shape;77;p16"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78" name="Google Shape;78;p16"/>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9" name="Google Shape;79;p16"/>
          <p:cNvSpPr txBox="1"/>
          <p:nvPr/>
        </p:nvSpPr>
        <p:spPr>
          <a:xfrm>
            <a:off x="265350" y="663825"/>
            <a:ext cx="8943000" cy="50292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latin typeface="Google Sans Flex SemiBold"/>
                <a:ea typeface="Google Sans Flex SemiBold"/>
                <a:cs typeface="Google Sans Flex SemiBold"/>
                <a:sym typeface="Google Sans Flex SemiBold"/>
              </a:rPr>
              <a:t>Opportunities, differentiation and USP</a:t>
            </a:r>
            <a:br>
              <a:rPr lang="en-GB" sz="1600">
                <a:latin typeface="Google Sans Flex SemiBold"/>
                <a:ea typeface="Google Sans Flex SemiBold"/>
                <a:cs typeface="Google Sans Flex SemiBold"/>
                <a:sym typeface="Google Sans Flex SemiBold"/>
              </a:rPr>
            </a:br>
            <a:endParaRPr sz="1600">
              <a:latin typeface="Google Sans Flex SemiBold"/>
              <a:ea typeface="Google Sans Flex SemiBold"/>
              <a:cs typeface="Google Sans Flex SemiBold"/>
              <a:sym typeface="Google Sans Flex SemiBold"/>
            </a:endParaRPr>
          </a:p>
        </p:txBody>
      </p:sp>
      <p:sp>
        <p:nvSpPr>
          <p:cNvPr id="80" name="Rounded Rectangle 79"/>
          <p:cNvSpPr/>
          <p:nvPr/>
        </p:nvSpPr>
        <p:spPr>
          <a:xfrm>
            <a:off x="365760" y="1261872"/>
            <a:ext cx="2697480" cy="2542032"/>
          </a:xfrm>
          <a:prstGeom prst="roundRect">
            <a:avLst>
              <a:gd name="adj" fmla="val 6000"/>
            </a:avLst>
          </a:prstGeom>
          <a:solidFill>
            <a:srgbClr val="E8F0FE"/>
          </a:solidFill>
          <a:ln>
            <a:noFill/>
          </a:ln>
        </p:spPr>
        <p:txBody>
          <a:bodyPr rtlCol="0" anchor="ctr"/>
          <a:lstStyle/>
          <a:p>
            <a:pPr algn="ctr"/>
          </a:p>
        </p:txBody>
      </p:sp>
      <p:sp>
        <p:nvSpPr>
          <p:cNvPr id="81" name="TextBox 80"/>
          <p:cNvSpPr txBox="1"/>
          <p:nvPr/>
        </p:nvSpPr>
        <p:spPr>
          <a:xfrm>
            <a:off x="530352" y="1371600"/>
            <a:ext cx="2377440" cy="320040"/>
          </a:xfrm>
          <a:prstGeom prst="rect">
            <a:avLst/>
          </a:prstGeom>
          <a:noFill/>
        </p:spPr>
        <p:txBody>
          <a:bodyPr wrap="square" anchor="t" lIns="0" rIns="0" tIns="0" bIns="0">
            <a:spAutoFit/>
          </a:bodyPr>
          <a:lstStyle/>
          <a:p>
            <a:pPr algn="l">
              <a:spcAft>
                <a:spcPts val="400"/>
              </a:spcAft>
            </a:pPr>
            <a:r>
              <a:rPr sz="1300" b="0">
                <a:solidFill>
                  <a:srgbClr val="202124"/>
                </a:solidFill>
                <a:latin typeface="Google Sans Flex Medium"/>
                <a:ea typeface="Google Sans Flex Medium"/>
                <a:cs typeface="Google Sans Flex Medium"/>
                <a:sym typeface="Google Sans Flex Medium"/>
              </a:rPr>
              <a:t>Opportunity</a:t>
            </a:r>
          </a:p>
        </p:txBody>
      </p:sp>
      <p:sp>
        <p:nvSpPr>
          <p:cNvPr id="82" name="TextBox 81"/>
          <p:cNvSpPr txBox="1"/>
          <p:nvPr/>
        </p:nvSpPr>
        <p:spPr>
          <a:xfrm>
            <a:off x="530352" y="1737360"/>
            <a:ext cx="2395728" cy="2011680"/>
          </a:xfrm>
          <a:prstGeom prst="rect">
            <a:avLst/>
          </a:prstGeom>
          <a:noFill/>
        </p:spPr>
        <p:txBody>
          <a:bodyPr wrap="square" anchor="t" lIns="0" rIns="0" tIns="0" bIns="0">
            <a:spAutoFit/>
          </a:bodyPr>
          <a:lstStyle/>
          <a:p>
            <a:pPr algn="l">
              <a:spcAft>
                <a:spcPts val="700"/>
              </a:spcAft>
            </a:pPr>
            <a:r>
              <a:rPr sz="1050" b="0">
                <a:solidFill>
                  <a:srgbClr val="1A73E8"/>
                </a:solidFill>
                <a:latin typeface="Google Sans Flex"/>
                <a:ea typeface="Google Sans Flex"/>
                <a:cs typeface="Google Sans Flex"/>
                <a:sym typeface="Google Sans Flex"/>
              </a:rPr>
              <a:t>•  </a:t>
            </a:r>
            <a:r>
              <a:rPr sz="1050" b="0">
                <a:solidFill>
                  <a:srgbClr val="202124"/>
                </a:solidFill>
                <a:latin typeface="Google Sans Flex"/>
                <a:ea typeface="Google Sans Flex"/>
                <a:cs typeface="Google Sans Flex"/>
                <a:sym typeface="Google Sans Flex"/>
              </a:rPr>
              <a:t>Most neighbourhood shops have no online catalogue, so shoppers phone around or walk in blind</a:t>
            </a:r>
          </a:p>
          <a:p>
            <a:pPr algn="l">
              <a:spcAft>
                <a:spcPts val="700"/>
              </a:spcAft>
            </a:pPr>
            <a:r>
              <a:rPr sz="1050" b="0">
                <a:solidFill>
                  <a:srgbClr val="1A73E8"/>
                </a:solidFill>
                <a:latin typeface="Google Sans Flex"/>
                <a:ea typeface="Google Sans Flex"/>
                <a:cs typeface="Google Sans Flex"/>
                <a:sym typeface="Google Sans Flex"/>
              </a:rPr>
              <a:t>•  </a:t>
            </a:r>
            <a:r>
              <a:rPr sz="1050" b="0">
                <a:solidFill>
                  <a:srgbClr val="202124"/>
                </a:solidFill>
                <a:latin typeface="Google Sans Flex"/>
                <a:ea typeface="Google Sans Flex"/>
                <a:cs typeface="Google Sans Flex"/>
                <a:sym typeface="Google Sans Flex"/>
              </a:rPr>
              <a:t>Listings and maps say a shop sells something, not that the exact item is there today</a:t>
            </a:r>
          </a:p>
          <a:p>
            <a:pPr algn="l">
              <a:spcAft>
                <a:spcPts val="700"/>
              </a:spcAft>
            </a:pPr>
            <a:r>
              <a:rPr sz="1050" b="0">
                <a:solidFill>
                  <a:srgbClr val="1A73E8"/>
                </a:solidFill>
                <a:latin typeface="Google Sans Flex"/>
                <a:ea typeface="Google Sans Flex"/>
                <a:cs typeface="Google Sans Flex"/>
                <a:sym typeface="Google Sans Flex"/>
              </a:rPr>
              <a:t>•  </a:t>
            </a:r>
            <a:r>
              <a:rPr sz="1050" b="0">
                <a:solidFill>
                  <a:srgbClr val="202124"/>
                </a:solidFill>
                <a:latin typeface="Google Sans Flex"/>
                <a:ea typeface="Google Sans Flex"/>
                <a:cs typeface="Google Sans Flex"/>
                <a:sym typeface="Google Sans Flex"/>
              </a:rPr>
              <a:t>An unanswered ask is a lost sale, and demand data the shop never sees</a:t>
            </a:r>
          </a:p>
        </p:txBody>
      </p:sp>
      <p:sp>
        <p:nvSpPr>
          <p:cNvPr id="83" name="Rounded Rectangle 82"/>
          <p:cNvSpPr/>
          <p:nvPr/>
        </p:nvSpPr>
        <p:spPr>
          <a:xfrm>
            <a:off x="3200400" y="1261872"/>
            <a:ext cx="2697480" cy="2542032"/>
          </a:xfrm>
          <a:prstGeom prst="roundRect">
            <a:avLst>
              <a:gd name="adj" fmla="val 6000"/>
            </a:avLst>
          </a:prstGeom>
          <a:solidFill>
            <a:srgbClr val="E6F4EA"/>
          </a:solidFill>
          <a:ln>
            <a:noFill/>
          </a:ln>
        </p:spPr>
        <p:txBody>
          <a:bodyPr rtlCol="0" anchor="ctr"/>
          <a:lstStyle/>
          <a:p>
            <a:pPr algn="ctr"/>
          </a:p>
        </p:txBody>
      </p:sp>
      <p:sp>
        <p:nvSpPr>
          <p:cNvPr id="84" name="TextBox 83"/>
          <p:cNvSpPr txBox="1"/>
          <p:nvPr/>
        </p:nvSpPr>
        <p:spPr>
          <a:xfrm>
            <a:off x="3364992" y="1371600"/>
            <a:ext cx="2377440" cy="320040"/>
          </a:xfrm>
          <a:prstGeom prst="rect">
            <a:avLst/>
          </a:prstGeom>
          <a:noFill/>
        </p:spPr>
        <p:txBody>
          <a:bodyPr wrap="square" anchor="t" lIns="0" rIns="0" tIns="0" bIns="0">
            <a:spAutoFit/>
          </a:bodyPr>
          <a:lstStyle/>
          <a:p>
            <a:pPr algn="l">
              <a:spcAft>
                <a:spcPts val="400"/>
              </a:spcAft>
            </a:pPr>
            <a:r>
              <a:rPr sz="1300" b="0">
                <a:solidFill>
                  <a:srgbClr val="202124"/>
                </a:solidFill>
                <a:latin typeface="Google Sans Flex Medium"/>
                <a:ea typeface="Google Sans Flex Medium"/>
                <a:cs typeface="Google Sans Flex Medium"/>
                <a:sym typeface="Google Sans Flex Medium"/>
              </a:rPr>
              <a:t>How it is different</a:t>
            </a:r>
          </a:p>
        </p:txBody>
      </p:sp>
      <p:sp>
        <p:nvSpPr>
          <p:cNvPr id="85" name="TextBox 84"/>
          <p:cNvSpPr txBox="1"/>
          <p:nvPr/>
        </p:nvSpPr>
        <p:spPr>
          <a:xfrm>
            <a:off x="3364992" y="1737360"/>
            <a:ext cx="2395728" cy="2011680"/>
          </a:xfrm>
          <a:prstGeom prst="rect">
            <a:avLst/>
          </a:prstGeom>
          <a:noFill/>
        </p:spPr>
        <p:txBody>
          <a:bodyPr wrap="square" anchor="t" lIns="0" rIns="0" tIns="0" bIns="0">
            <a:spAutoFit/>
          </a:bodyPr>
          <a:lstStyle/>
          <a:p>
            <a:pPr algn="l">
              <a:spcAft>
                <a:spcPts val="700"/>
              </a:spcAft>
            </a:pPr>
            <a:r>
              <a:rPr sz="1050" b="0">
                <a:solidFill>
                  <a:srgbClr val="1E8E3E"/>
                </a:solidFill>
                <a:latin typeface="Google Sans Flex"/>
                <a:ea typeface="Google Sans Flex"/>
                <a:cs typeface="Google Sans Flex"/>
                <a:sym typeface="Google Sans Flex"/>
              </a:rPr>
              <a:t>•  </a:t>
            </a:r>
            <a:r>
              <a:rPr sz="1050" b="0">
                <a:solidFill>
                  <a:srgbClr val="202124"/>
                </a:solidFill>
                <a:latin typeface="Google Sans Flex"/>
                <a:ea typeface="Google Sans Flex"/>
                <a:cs typeface="Google Sans Flex"/>
                <a:sym typeface="Google Sans Flex"/>
              </a:rPr>
              <a:t>Marketplaces show listings (claims); maps show shops, not stock; AI chat answers from the web</a:t>
            </a:r>
          </a:p>
          <a:p>
            <a:pPr algn="l">
              <a:spcAft>
                <a:spcPts val="700"/>
              </a:spcAft>
            </a:pPr>
            <a:r>
              <a:rPr sz="1050" b="0">
                <a:solidFill>
                  <a:srgbClr val="1E8E3E"/>
                </a:solidFill>
                <a:latin typeface="Google Sans Flex"/>
                <a:ea typeface="Google Sans Flex"/>
                <a:cs typeface="Google Sans Flex"/>
                <a:sym typeface="Google Sans Flex"/>
              </a:rPr>
              <a:t>•  </a:t>
            </a:r>
            <a:r>
              <a:rPr sz="1050" b="0">
                <a:solidFill>
                  <a:srgbClr val="202124"/>
                </a:solidFill>
                <a:latin typeface="Google Sans Flex"/>
                <a:ea typeface="Google Sans Flex"/>
                <a:cs typeface="Google Sans Flex"/>
                <a:sym typeface="Google Sans Flex"/>
              </a:rPr>
              <a:t>NeedProof asks the actual shop, now, for one photo, and Gemini Vision checks design, size, specs and brand</a:t>
            </a:r>
          </a:p>
          <a:p>
            <a:pPr algn="l">
              <a:spcAft>
                <a:spcPts val="700"/>
              </a:spcAft>
            </a:pPr>
            <a:r>
              <a:rPr sz="1050" b="0">
                <a:solidFill>
                  <a:srgbClr val="1E8E3E"/>
                </a:solidFill>
                <a:latin typeface="Google Sans Flex"/>
                <a:ea typeface="Google Sans Flex"/>
                <a:cs typeface="Google Sans Flex"/>
                <a:sym typeface="Google Sans Flex"/>
              </a:rPr>
              <a:t>•  </a:t>
            </a:r>
            <a:r>
              <a:rPr sz="1050" b="0">
                <a:solidFill>
                  <a:srgbClr val="202124"/>
                </a:solidFill>
                <a:latin typeface="Google Sans Flex"/>
                <a:ea typeface="Google Sans Flex"/>
                <a:cs typeface="Google Sans Flex"/>
                <a:sym typeface="Google Sans Flex"/>
              </a:rPr>
              <a:t>Works for shops with no app, no catalogue and no account: a one-tap WhatsApp link</a:t>
            </a:r>
          </a:p>
        </p:txBody>
      </p:sp>
      <p:sp>
        <p:nvSpPr>
          <p:cNvPr id="86" name="Rounded Rectangle 85"/>
          <p:cNvSpPr/>
          <p:nvPr/>
        </p:nvSpPr>
        <p:spPr>
          <a:xfrm>
            <a:off x="6035040" y="1261872"/>
            <a:ext cx="2697480" cy="2542032"/>
          </a:xfrm>
          <a:prstGeom prst="roundRect">
            <a:avLst>
              <a:gd name="adj" fmla="val 6000"/>
            </a:avLst>
          </a:prstGeom>
          <a:solidFill>
            <a:srgbClr val="FEF7E0"/>
          </a:solidFill>
          <a:ln>
            <a:noFill/>
          </a:ln>
        </p:spPr>
        <p:txBody>
          <a:bodyPr rtlCol="0" anchor="ctr"/>
          <a:lstStyle/>
          <a:p>
            <a:pPr algn="ctr"/>
          </a:p>
        </p:txBody>
      </p:sp>
      <p:sp>
        <p:nvSpPr>
          <p:cNvPr id="87" name="TextBox 86"/>
          <p:cNvSpPr txBox="1"/>
          <p:nvPr/>
        </p:nvSpPr>
        <p:spPr>
          <a:xfrm>
            <a:off x="6199632" y="1371600"/>
            <a:ext cx="2377440" cy="320040"/>
          </a:xfrm>
          <a:prstGeom prst="rect">
            <a:avLst/>
          </a:prstGeom>
          <a:noFill/>
        </p:spPr>
        <p:txBody>
          <a:bodyPr wrap="square" anchor="t" lIns="0" rIns="0" tIns="0" bIns="0">
            <a:spAutoFit/>
          </a:bodyPr>
          <a:lstStyle/>
          <a:p>
            <a:pPr algn="l">
              <a:spcAft>
                <a:spcPts val="400"/>
              </a:spcAft>
            </a:pPr>
            <a:r>
              <a:rPr sz="1300" b="0">
                <a:solidFill>
                  <a:srgbClr val="202124"/>
                </a:solidFill>
                <a:latin typeface="Google Sans Flex Medium"/>
                <a:ea typeface="Google Sans Flex Medium"/>
                <a:cs typeface="Google Sans Flex Medium"/>
                <a:sym typeface="Google Sans Flex Medium"/>
              </a:rPr>
              <a:t>How it solves the problem</a:t>
            </a:r>
          </a:p>
        </p:txBody>
      </p:sp>
      <p:sp>
        <p:nvSpPr>
          <p:cNvPr id="88" name="TextBox 87"/>
          <p:cNvSpPr txBox="1"/>
          <p:nvPr/>
        </p:nvSpPr>
        <p:spPr>
          <a:xfrm>
            <a:off x="6199632" y="1737360"/>
            <a:ext cx="2395728" cy="2011680"/>
          </a:xfrm>
          <a:prstGeom prst="rect">
            <a:avLst/>
          </a:prstGeom>
          <a:noFill/>
        </p:spPr>
        <p:txBody>
          <a:bodyPr wrap="square" anchor="t" lIns="0" rIns="0" tIns="0" bIns="0">
            <a:spAutoFit/>
          </a:bodyPr>
          <a:lstStyle/>
          <a:p>
            <a:pPr algn="l">
              <a:spcAft>
                <a:spcPts val="700"/>
              </a:spcAft>
            </a:pPr>
            <a:r>
              <a:rPr sz="1050" b="0">
                <a:solidFill>
                  <a:srgbClr val="F9AB00"/>
                </a:solidFill>
                <a:latin typeface="Google Sans Flex"/>
                <a:ea typeface="Google Sans Flex"/>
                <a:cs typeface="Google Sans Flex"/>
                <a:sym typeface="Google Sans Flex"/>
              </a:rPr>
              <a:t>•  </a:t>
            </a:r>
            <a:r>
              <a:rPr sz="1050" b="0">
                <a:solidFill>
                  <a:srgbClr val="202124"/>
                </a:solidFill>
                <a:latin typeface="Google Sans Flex"/>
                <a:ea typeface="Google Sans Flex"/>
                <a:cs typeface="Google Sans Flex"/>
                <a:sym typeface="Google Sans Flex"/>
              </a:rPr>
              <a:t>The shopper travels only to a shop that proved it has the item</a:t>
            </a:r>
          </a:p>
          <a:p>
            <a:pPr algn="l">
              <a:spcAft>
                <a:spcPts val="700"/>
              </a:spcAft>
            </a:pPr>
            <a:r>
              <a:rPr sz="1050" b="0">
                <a:solidFill>
                  <a:srgbClr val="F9AB00"/>
                </a:solidFill>
                <a:latin typeface="Google Sans Flex"/>
                <a:ea typeface="Google Sans Flex"/>
                <a:cs typeface="Google Sans Flex"/>
                <a:sym typeface="Google Sans Flex"/>
              </a:rPr>
              <a:t>•  </a:t>
            </a:r>
            <a:r>
              <a:rPr sz="1050" b="0">
                <a:solidFill>
                  <a:srgbClr val="202124"/>
                </a:solidFill>
                <a:latin typeface="Google Sans Flex"/>
                <a:ea typeface="Google Sans Flex"/>
                <a:cs typeface="Google Sans Flex"/>
                <a:sym typeface="Google Sans Flex"/>
              </a:rPr>
              <a:t>The shop gets a ready-to-buy customer and sees demand it was missing</a:t>
            </a:r>
          </a:p>
          <a:p>
            <a:pPr algn="l">
              <a:spcAft>
                <a:spcPts val="700"/>
              </a:spcAft>
            </a:pPr>
            <a:r>
              <a:rPr sz="1050" b="0">
                <a:solidFill>
                  <a:srgbClr val="F9AB00"/>
                </a:solidFill>
                <a:latin typeface="Google Sans Flex"/>
                <a:ea typeface="Google Sans Flex"/>
                <a:cs typeface="Google Sans Flex"/>
                <a:sym typeface="Google Sans Flex"/>
              </a:rPr>
              <a:t>•  </a:t>
            </a:r>
            <a:r>
              <a:rPr sz="1050" b="0">
                <a:solidFill>
                  <a:srgbClr val="202124"/>
                </a:solidFill>
                <a:latin typeface="Google Sans Flex"/>
                <a:ea typeface="Google Sans Flex"/>
                <a:cs typeface="Google Sans Flex"/>
                <a:sym typeface="Google Sans Flex"/>
              </a:rPr>
              <a:t>The business sees demand by category, missed sales and forecasts</a:t>
            </a:r>
          </a:p>
        </p:txBody>
      </p:sp>
      <p:sp>
        <p:nvSpPr>
          <p:cNvPr id="89" name="Rounded Rectangle 88"/>
          <p:cNvSpPr/>
          <p:nvPr/>
        </p:nvSpPr>
        <p:spPr>
          <a:xfrm>
            <a:off x="365760" y="3931920"/>
            <a:ext cx="8366760" cy="658368"/>
          </a:xfrm>
          <a:prstGeom prst="roundRect">
            <a:avLst>
              <a:gd name="adj" fmla="val 12000"/>
            </a:avLst>
          </a:prstGeom>
          <a:solidFill>
            <a:srgbClr val="202124"/>
          </a:solidFill>
          <a:ln>
            <a:noFill/>
          </a:ln>
        </p:spPr>
        <p:txBody>
          <a:bodyPr rtlCol="0" anchor="ctr"/>
          <a:lstStyle/>
          <a:p>
            <a:pPr algn="ctr"/>
          </a:p>
        </p:txBody>
      </p:sp>
      <p:sp>
        <p:nvSpPr>
          <p:cNvPr id="90" name="TextBox 89"/>
          <p:cNvSpPr txBox="1"/>
          <p:nvPr/>
        </p:nvSpPr>
        <p:spPr>
          <a:xfrm>
            <a:off x="566928" y="3959352"/>
            <a:ext cx="8046720" cy="603504"/>
          </a:xfrm>
          <a:prstGeom prst="rect">
            <a:avLst/>
          </a:prstGeom>
          <a:noFill/>
        </p:spPr>
        <p:txBody>
          <a:bodyPr wrap="square" anchor="ctr" lIns="0" rIns="0" tIns="0" bIns="0">
            <a:spAutoFit/>
          </a:bodyPr>
          <a:lstStyle/>
          <a:p>
            <a:pPr algn="l">
              <a:spcAft>
                <a:spcPts val="400"/>
              </a:spcAft>
            </a:pPr>
            <a:r>
              <a:rPr sz="1300" b="0">
                <a:solidFill>
                  <a:srgbClr val="F9AB00"/>
                </a:solidFill>
                <a:latin typeface="Google Sans Flex Medium"/>
                <a:ea typeface="Google Sans Flex Medium"/>
                <a:cs typeface="Google Sans Flex Medium"/>
                <a:sym typeface="Google Sans Flex Medium"/>
              </a:rPr>
              <a:t>USP  </a:t>
            </a:r>
            <a:r>
              <a:rPr sz="1250" b="0">
                <a:solidFill>
                  <a:srgbClr val="FFFFFF"/>
                </a:solidFill>
                <a:latin typeface="Google Sans Flex"/>
                <a:ea typeface="Google Sans Flex"/>
                <a:cs typeface="Google Sans Flex"/>
                <a:sym typeface="Google Sans Flex"/>
              </a:rPr>
              <a:t>Proof, not promises. Before you travel, a real nearby shop shows the exact item with one photo, and Gemini checks it matches what you asked for.</a:t>
            </a: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pic>
        <p:nvPicPr>
          <p:cNvPr id="84" name="Google Shape;84;p17"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85" name="Google Shape;85;p17"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86" name="Google Shape;86;p17"/>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7" name="Google Shape;87;p17"/>
          <p:cNvSpPr txBox="1"/>
          <p:nvPr/>
        </p:nvSpPr>
        <p:spPr>
          <a:xfrm>
            <a:off x="265350" y="663825"/>
            <a:ext cx="8943000" cy="50292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latin typeface="Google Sans Flex Medium"/>
                <a:ea typeface="Google Sans Flex Medium"/>
                <a:cs typeface="Google Sans Flex Medium"/>
                <a:sym typeface="Google Sans Flex Medium"/>
              </a:rPr>
              <a:t>Features offered by the solution</a:t>
            </a:r>
            <a:endParaRPr sz="1600">
              <a:latin typeface="Google Sans Flex Medium"/>
              <a:ea typeface="Google Sans Flex Medium"/>
              <a:cs typeface="Google Sans Flex Medium"/>
              <a:sym typeface="Google Sans Flex Medium"/>
            </a:endParaRPr>
          </a:p>
        </p:txBody>
      </p:sp>
      <p:sp>
        <p:nvSpPr>
          <p:cNvPr id="88" name="Rounded Rectangle 87"/>
          <p:cNvSpPr/>
          <p:nvPr/>
        </p:nvSpPr>
        <p:spPr>
          <a:xfrm>
            <a:off x="365760" y="1261872"/>
            <a:ext cx="1965960" cy="1444752"/>
          </a:xfrm>
          <a:prstGeom prst="roundRect">
            <a:avLst>
              <a:gd name="adj" fmla="val 7000"/>
            </a:avLst>
          </a:prstGeom>
          <a:noFill/>
          <a:ln w="12700">
            <a:solidFill>
              <a:srgbClr val="DADCE0"/>
            </a:solidFill>
          </a:ln>
        </p:spPr>
        <p:txBody>
          <a:bodyPr rtlCol="0" anchor="ctr"/>
          <a:lstStyle/>
          <a:p>
            <a:pPr algn="ctr"/>
          </a:p>
        </p:txBody>
      </p:sp>
      <p:sp>
        <p:nvSpPr>
          <p:cNvPr id="89" name="Oval 88"/>
          <p:cNvSpPr/>
          <p:nvPr/>
        </p:nvSpPr>
        <p:spPr>
          <a:xfrm>
            <a:off x="502920" y="1399031"/>
            <a:ext cx="274320" cy="274320"/>
          </a:xfrm>
          <a:prstGeom prst="ellipse">
            <a:avLst/>
          </a:prstGeom>
          <a:solidFill>
            <a:srgbClr val="1A73E8"/>
          </a:solidFill>
          <a:ln>
            <a:noFill/>
          </a:ln>
        </p:spPr>
        <p:txBody>
          <a:bodyPr rtlCol="0" anchor="ctr" lIns="0" rIns="0" tIns="0" bIns="0"/>
          <a:lstStyle/>
          <a:p>
            <a:pPr algn="ctr"/>
            <a:r>
              <a:rPr sz="1100" b="0">
                <a:solidFill>
                  <a:srgbClr val="FFFFFF"/>
                </a:solidFill>
                <a:latin typeface="Google Sans Flex Medium"/>
                <a:ea typeface="Google Sans Flex Medium"/>
                <a:cs typeface="Google Sans Flex Medium"/>
                <a:sym typeface="Google Sans Flex Medium"/>
              </a:rPr>
              <a:t>1</a:t>
            </a:r>
          </a:p>
        </p:txBody>
      </p:sp>
      <p:sp>
        <p:nvSpPr>
          <p:cNvPr id="90" name="TextBox 89"/>
          <p:cNvSpPr txBox="1"/>
          <p:nvPr/>
        </p:nvSpPr>
        <p:spPr>
          <a:xfrm>
            <a:off x="868680" y="1399031"/>
            <a:ext cx="1371600" cy="292608"/>
          </a:xfrm>
          <a:prstGeom prst="rect">
            <a:avLst/>
          </a:prstGeom>
          <a:noFill/>
        </p:spPr>
        <p:txBody>
          <a:bodyPr wrap="square" anchor="ctr" lIns="0" rIns="0" tIns="0" bIns="0">
            <a:spAutoFit/>
          </a:bodyPr>
          <a:lstStyle/>
          <a:p>
            <a:pPr algn="l">
              <a:spcAft>
                <a:spcPts val="400"/>
              </a:spcAft>
            </a:pPr>
            <a:r>
              <a:rPr sz="1200" b="0">
                <a:solidFill>
                  <a:srgbClr val="202124"/>
                </a:solidFill>
                <a:latin typeface="Google Sans Flex Medium"/>
                <a:ea typeface="Google Sans Flex Medium"/>
                <a:cs typeface="Google Sans Flex Medium"/>
                <a:sym typeface="Google Sans Flex Medium"/>
              </a:rPr>
              <a:t>Ask any way</a:t>
            </a:r>
          </a:p>
        </p:txBody>
      </p:sp>
      <p:sp>
        <p:nvSpPr>
          <p:cNvPr id="91" name="TextBox 90"/>
          <p:cNvSpPr txBox="1"/>
          <p:nvPr/>
        </p:nvSpPr>
        <p:spPr>
          <a:xfrm>
            <a:off x="502920" y="1755648"/>
            <a:ext cx="1719072" cy="685800"/>
          </a:xfrm>
          <a:prstGeom prst="rect">
            <a:avLst/>
          </a:prstGeom>
          <a:noFill/>
        </p:spPr>
        <p:txBody>
          <a:bodyPr wrap="square" anchor="t" lIns="0" rIns="0" tIns="0" bIns="0">
            <a:spAutoFit/>
          </a:bodyPr>
          <a:lstStyle/>
          <a:p>
            <a:pPr algn="l">
              <a:spcAft>
                <a:spcPts val="400"/>
              </a:spcAft>
            </a:pPr>
            <a:r>
              <a:rPr sz="950" b="0">
                <a:solidFill>
                  <a:srgbClr val="5F6368"/>
                </a:solidFill>
                <a:latin typeface="Google Sans Flex"/>
                <a:ea typeface="Google Sans Flex"/>
                <a:cs typeface="Google Sans Flex"/>
                <a:sym typeface="Google Sans Flex"/>
              </a:rPr>
              <a:t>Text, voice or a photo, in any language. Gemini extracts item, size, budget and place.</a:t>
            </a:r>
          </a:p>
        </p:txBody>
      </p:sp>
      <p:sp>
        <p:nvSpPr>
          <p:cNvPr id="92" name="Rounded Rectangle 91"/>
          <p:cNvSpPr/>
          <p:nvPr/>
        </p:nvSpPr>
        <p:spPr>
          <a:xfrm>
            <a:off x="502920" y="2395728"/>
            <a:ext cx="445495" cy="201168"/>
          </a:xfrm>
          <a:prstGeom prst="roundRect">
            <a:avLst>
              <a:gd name="adj" fmla="val 50000"/>
            </a:avLst>
          </a:prstGeom>
          <a:solidFill>
            <a:srgbClr val="E8F0FE"/>
          </a:solidFill>
          <a:ln>
            <a:noFill/>
          </a:ln>
        </p:spPr>
        <p:txBody>
          <a:bodyPr rtlCol="0" anchor="ctr" lIns="0" rIns="0" tIns="0" bIns="0"/>
          <a:lstStyle/>
          <a:p>
            <a:pPr algn="ctr"/>
            <a:r>
              <a:rPr sz="850" b="0">
                <a:solidFill>
                  <a:srgbClr val="1A73E8"/>
                </a:solidFill>
                <a:latin typeface="Google Sans Flex Medium"/>
                <a:ea typeface="Google Sans Flex Medium"/>
                <a:cs typeface="Google Sans Flex Medium"/>
                <a:sym typeface="Google Sans Flex Medium"/>
              </a:rPr>
              <a:t>Gemini</a:t>
            </a:r>
          </a:p>
        </p:txBody>
      </p:sp>
      <p:sp>
        <p:nvSpPr>
          <p:cNvPr id="93" name="Rounded Rectangle 92"/>
          <p:cNvSpPr/>
          <p:nvPr/>
        </p:nvSpPr>
        <p:spPr>
          <a:xfrm>
            <a:off x="2468879" y="1261872"/>
            <a:ext cx="1965960" cy="1444752"/>
          </a:xfrm>
          <a:prstGeom prst="roundRect">
            <a:avLst>
              <a:gd name="adj" fmla="val 7000"/>
            </a:avLst>
          </a:prstGeom>
          <a:noFill/>
          <a:ln w="12700">
            <a:solidFill>
              <a:srgbClr val="DADCE0"/>
            </a:solidFill>
          </a:ln>
        </p:spPr>
        <p:txBody>
          <a:bodyPr rtlCol="0" anchor="ctr"/>
          <a:lstStyle/>
          <a:p>
            <a:pPr algn="ctr"/>
          </a:p>
        </p:txBody>
      </p:sp>
      <p:sp>
        <p:nvSpPr>
          <p:cNvPr id="94" name="Oval 93"/>
          <p:cNvSpPr/>
          <p:nvPr/>
        </p:nvSpPr>
        <p:spPr>
          <a:xfrm>
            <a:off x="2606039" y="1399031"/>
            <a:ext cx="274320" cy="274320"/>
          </a:xfrm>
          <a:prstGeom prst="ellipse">
            <a:avLst/>
          </a:prstGeom>
          <a:solidFill>
            <a:srgbClr val="1A73E8"/>
          </a:solidFill>
          <a:ln>
            <a:noFill/>
          </a:ln>
        </p:spPr>
        <p:txBody>
          <a:bodyPr rtlCol="0" anchor="ctr" lIns="0" rIns="0" tIns="0" bIns="0"/>
          <a:lstStyle/>
          <a:p>
            <a:pPr algn="ctr"/>
            <a:r>
              <a:rPr sz="1100" b="0">
                <a:solidFill>
                  <a:srgbClr val="FFFFFF"/>
                </a:solidFill>
                <a:latin typeface="Google Sans Flex Medium"/>
                <a:ea typeface="Google Sans Flex Medium"/>
                <a:cs typeface="Google Sans Flex Medium"/>
                <a:sym typeface="Google Sans Flex Medium"/>
              </a:rPr>
              <a:t>2</a:t>
            </a:r>
          </a:p>
        </p:txBody>
      </p:sp>
      <p:sp>
        <p:nvSpPr>
          <p:cNvPr id="95" name="TextBox 94"/>
          <p:cNvSpPr txBox="1"/>
          <p:nvPr/>
        </p:nvSpPr>
        <p:spPr>
          <a:xfrm>
            <a:off x="2971800" y="1399031"/>
            <a:ext cx="1371600" cy="292608"/>
          </a:xfrm>
          <a:prstGeom prst="rect">
            <a:avLst/>
          </a:prstGeom>
          <a:noFill/>
        </p:spPr>
        <p:txBody>
          <a:bodyPr wrap="square" anchor="ctr" lIns="0" rIns="0" tIns="0" bIns="0">
            <a:spAutoFit/>
          </a:bodyPr>
          <a:lstStyle/>
          <a:p>
            <a:pPr algn="l">
              <a:spcAft>
                <a:spcPts val="400"/>
              </a:spcAft>
            </a:pPr>
            <a:r>
              <a:rPr sz="1200" b="0">
                <a:solidFill>
                  <a:srgbClr val="202124"/>
                </a:solidFill>
                <a:latin typeface="Google Sans Flex Medium"/>
                <a:ea typeface="Google Sans Flex Medium"/>
                <a:cs typeface="Google Sans Flex Medium"/>
                <a:sym typeface="Google Sans Flex Medium"/>
              </a:rPr>
              <a:t>Search by photo</a:t>
            </a:r>
          </a:p>
        </p:txBody>
      </p:sp>
      <p:sp>
        <p:nvSpPr>
          <p:cNvPr id="96" name="TextBox 95"/>
          <p:cNvSpPr txBox="1"/>
          <p:nvPr/>
        </p:nvSpPr>
        <p:spPr>
          <a:xfrm>
            <a:off x="2606039" y="1755648"/>
            <a:ext cx="1719072" cy="685800"/>
          </a:xfrm>
          <a:prstGeom prst="rect">
            <a:avLst/>
          </a:prstGeom>
          <a:noFill/>
        </p:spPr>
        <p:txBody>
          <a:bodyPr wrap="square" anchor="t" lIns="0" rIns="0" tIns="0" bIns="0">
            <a:spAutoFit/>
          </a:bodyPr>
          <a:lstStyle/>
          <a:p>
            <a:pPr algn="l">
              <a:spcAft>
                <a:spcPts val="400"/>
              </a:spcAft>
            </a:pPr>
            <a:r>
              <a:rPr sz="950" b="0">
                <a:solidFill>
                  <a:srgbClr val="5F6368"/>
                </a:solidFill>
                <a:latin typeface="Google Sans Flex"/>
                <a:ea typeface="Google Sans Flex"/>
                <a:cs typeface="Google Sans Flex"/>
                <a:sym typeface="Google Sans Flex"/>
              </a:rPr>
              <a:t>"Find this design": the shopper's photo travels with the request to shops.</a:t>
            </a:r>
          </a:p>
        </p:txBody>
      </p:sp>
      <p:sp>
        <p:nvSpPr>
          <p:cNvPr id="97" name="Rounded Rectangle 96"/>
          <p:cNvSpPr/>
          <p:nvPr/>
        </p:nvSpPr>
        <p:spPr>
          <a:xfrm>
            <a:off x="2606039" y="2395728"/>
            <a:ext cx="837224" cy="201168"/>
          </a:xfrm>
          <a:prstGeom prst="roundRect">
            <a:avLst>
              <a:gd name="adj" fmla="val 50000"/>
            </a:avLst>
          </a:prstGeom>
          <a:solidFill>
            <a:srgbClr val="E8F0FE"/>
          </a:solidFill>
          <a:ln>
            <a:noFill/>
          </a:ln>
        </p:spPr>
        <p:txBody>
          <a:bodyPr rtlCol="0" anchor="ctr" lIns="0" rIns="0" tIns="0" bIns="0"/>
          <a:lstStyle/>
          <a:p>
            <a:pPr algn="ctr"/>
            <a:r>
              <a:rPr sz="850" b="0">
                <a:solidFill>
                  <a:srgbClr val="1A73E8"/>
                </a:solidFill>
                <a:latin typeface="Google Sans Flex Medium"/>
                <a:ea typeface="Google Sans Flex Medium"/>
                <a:cs typeface="Google Sans Flex Medium"/>
                <a:sym typeface="Google Sans Flex Medium"/>
              </a:rPr>
              <a:t>Gemini Vision</a:t>
            </a:r>
          </a:p>
        </p:txBody>
      </p:sp>
      <p:sp>
        <p:nvSpPr>
          <p:cNvPr id="98" name="Rounded Rectangle 97"/>
          <p:cNvSpPr/>
          <p:nvPr/>
        </p:nvSpPr>
        <p:spPr>
          <a:xfrm>
            <a:off x="4572000" y="1261872"/>
            <a:ext cx="1965960" cy="1444752"/>
          </a:xfrm>
          <a:prstGeom prst="roundRect">
            <a:avLst>
              <a:gd name="adj" fmla="val 7000"/>
            </a:avLst>
          </a:prstGeom>
          <a:noFill/>
          <a:ln w="12700">
            <a:solidFill>
              <a:srgbClr val="DADCE0"/>
            </a:solidFill>
          </a:ln>
        </p:spPr>
        <p:txBody>
          <a:bodyPr rtlCol="0" anchor="ctr"/>
          <a:lstStyle/>
          <a:p>
            <a:pPr algn="ctr"/>
          </a:p>
        </p:txBody>
      </p:sp>
      <p:sp>
        <p:nvSpPr>
          <p:cNvPr id="99" name="Oval 98"/>
          <p:cNvSpPr/>
          <p:nvPr/>
        </p:nvSpPr>
        <p:spPr>
          <a:xfrm>
            <a:off x="4709160" y="1399031"/>
            <a:ext cx="274320" cy="274320"/>
          </a:xfrm>
          <a:prstGeom prst="ellipse">
            <a:avLst/>
          </a:prstGeom>
          <a:solidFill>
            <a:srgbClr val="1A73E8"/>
          </a:solidFill>
          <a:ln>
            <a:noFill/>
          </a:ln>
        </p:spPr>
        <p:txBody>
          <a:bodyPr rtlCol="0" anchor="ctr" lIns="0" rIns="0" tIns="0" bIns="0"/>
          <a:lstStyle/>
          <a:p>
            <a:pPr algn="ctr"/>
            <a:r>
              <a:rPr sz="1100" b="0">
                <a:solidFill>
                  <a:srgbClr val="FFFFFF"/>
                </a:solidFill>
                <a:latin typeface="Google Sans Flex Medium"/>
                <a:ea typeface="Google Sans Flex Medium"/>
                <a:cs typeface="Google Sans Flex Medium"/>
                <a:sym typeface="Google Sans Flex Medium"/>
              </a:rPr>
              <a:t>3</a:t>
            </a:r>
          </a:p>
        </p:txBody>
      </p:sp>
      <p:sp>
        <p:nvSpPr>
          <p:cNvPr id="100" name="TextBox 99"/>
          <p:cNvSpPr txBox="1"/>
          <p:nvPr/>
        </p:nvSpPr>
        <p:spPr>
          <a:xfrm>
            <a:off x="5074920" y="1399031"/>
            <a:ext cx="1371600" cy="292608"/>
          </a:xfrm>
          <a:prstGeom prst="rect">
            <a:avLst/>
          </a:prstGeom>
          <a:noFill/>
        </p:spPr>
        <p:txBody>
          <a:bodyPr wrap="square" anchor="ctr" lIns="0" rIns="0" tIns="0" bIns="0">
            <a:spAutoFit/>
          </a:bodyPr>
          <a:lstStyle/>
          <a:p>
            <a:pPr algn="l">
              <a:spcAft>
                <a:spcPts val="400"/>
              </a:spcAft>
            </a:pPr>
            <a:r>
              <a:rPr sz="1200" b="0">
                <a:solidFill>
                  <a:srgbClr val="202124"/>
                </a:solidFill>
                <a:latin typeface="Google Sans Flex Medium"/>
                <a:ea typeface="Google Sans Flex Medium"/>
                <a:cs typeface="Google Sans Flex Medium"/>
                <a:sym typeface="Google Sans Flex Medium"/>
              </a:rPr>
              <a:t>AI routing</a:t>
            </a:r>
          </a:p>
        </p:txBody>
      </p:sp>
      <p:sp>
        <p:nvSpPr>
          <p:cNvPr id="101" name="TextBox 100"/>
          <p:cNvSpPr txBox="1"/>
          <p:nvPr/>
        </p:nvSpPr>
        <p:spPr>
          <a:xfrm>
            <a:off x="4709160" y="1755648"/>
            <a:ext cx="1719072" cy="685800"/>
          </a:xfrm>
          <a:prstGeom prst="rect">
            <a:avLst/>
          </a:prstGeom>
          <a:noFill/>
        </p:spPr>
        <p:txBody>
          <a:bodyPr wrap="square" anchor="t" lIns="0" rIns="0" tIns="0" bIns="0">
            <a:spAutoFit/>
          </a:bodyPr>
          <a:lstStyle/>
          <a:p>
            <a:pPr algn="l">
              <a:spcAft>
                <a:spcPts val="400"/>
              </a:spcAft>
            </a:pPr>
            <a:r>
              <a:rPr sz="950" b="0">
                <a:solidFill>
                  <a:srgbClr val="5F6368"/>
                </a:solidFill>
                <a:latin typeface="Google Sans Flex"/>
                <a:ea typeface="Google Sans Flex"/>
                <a:cs typeface="Google Sans Flex"/>
                <a:sym typeface="Google Sans Flex"/>
              </a:rPr>
              <a:t>Gemini picks the kind of shop that sells the item (up to two); only those inboxes get it.</a:t>
            </a:r>
          </a:p>
        </p:txBody>
      </p:sp>
      <p:sp>
        <p:nvSpPr>
          <p:cNvPr id="102" name="Rounded Rectangle 101"/>
          <p:cNvSpPr/>
          <p:nvPr/>
        </p:nvSpPr>
        <p:spPr>
          <a:xfrm>
            <a:off x="4709160" y="2395728"/>
            <a:ext cx="445495" cy="201168"/>
          </a:xfrm>
          <a:prstGeom prst="roundRect">
            <a:avLst>
              <a:gd name="adj" fmla="val 50000"/>
            </a:avLst>
          </a:prstGeom>
          <a:solidFill>
            <a:srgbClr val="E8F0FE"/>
          </a:solidFill>
          <a:ln>
            <a:noFill/>
          </a:ln>
        </p:spPr>
        <p:txBody>
          <a:bodyPr rtlCol="0" anchor="ctr" lIns="0" rIns="0" tIns="0" bIns="0"/>
          <a:lstStyle/>
          <a:p>
            <a:pPr algn="ctr"/>
            <a:r>
              <a:rPr sz="850" b="0">
                <a:solidFill>
                  <a:srgbClr val="1A73E8"/>
                </a:solidFill>
                <a:latin typeface="Google Sans Flex Medium"/>
                <a:ea typeface="Google Sans Flex Medium"/>
                <a:cs typeface="Google Sans Flex Medium"/>
                <a:sym typeface="Google Sans Flex Medium"/>
              </a:rPr>
              <a:t>Gemini</a:t>
            </a:r>
          </a:p>
        </p:txBody>
      </p:sp>
      <p:sp>
        <p:nvSpPr>
          <p:cNvPr id="103" name="Rounded Rectangle 102"/>
          <p:cNvSpPr/>
          <p:nvPr/>
        </p:nvSpPr>
        <p:spPr>
          <a:xfrm>
            <a:off x="6675120" y="1261872"/>
            <a:ext cx="1965960" cy="1444752"/>
          </a:xfrm>
          <a:prstGeom prst="roundRect">
            <a:avLst>
              <a:gd name="adj" fmla="val 7000"/>
            </a:avLst>
          </a:prstGeom>
          <a:noFill/>
          <a:ln w="12700">
            <a:solidFill>
              <a:srgbClr val="DADCE0"/>
            </a:solidFill>
          </a:ln>
        </p:spPr>
        <p:txBody>
          <a:bodyPr rtlCol="0" anchor="ctr"/>
          <a:lstStyle/>
          <a:p>
            <a:pPr algn="ctr"/>
          </a:p>
        </p:txBody>
      </p:sp>
      <p:sp>
        <p:nvSpPr>
          <p:cNvPr id="104" name="Oval 103"/>
          <p:cNvSpPr/>
          <p:nvPr/>
        </p:nvSpPr>
        <p:spPr>
          <a:xfrm>
            <a:off x="6812280" y="1399031"/>
            <a:ext cx="274320" cy="274320"/>
          </a:xfrm>
          <a:prstGeom prst="ellipse">
            <a:avLst/>
          </a:prstGeom>
          <a:solidFill>
            <a:srgbClr val="D93025"/>
          </a:solidFill>
          <a:ln>
            <a:noFill/>
          </a:ln>
        </p:spPr>
        <p:txBody>
          <a:bodyPr rtlCol="0" anchor="ctr" lIns="0" rIns="0" tIns="0" bIns="0"/>
          <a:lstStyle/>
          <a:p>
            <a:pPr algn="ctr"/>
            <a:r>
              <a:rPr sz="1100" b="0">
                <a:solidFill>
                  <a:srgbClr val="FFFFFF"/>
                </a:solidFill>
                <a:latin typeface="Google Sans Flex Medium"/>
                <a:ea typeface="Google Sans Flex Medium"/>
                <a:cs typeface="Google Sans Flex Medium"/>
                <a:sym typeface="Google Sans Flex Medium"/>
              </a:rPr>
              <a:t>4</a:t>
            </a:r>
          </a:p>
        </p:txBody>
      </p:sp>
      <p:sp>
        <p:nvSpPr>
          <p:cNvPr id="105" name="TextBox 104"/>
          <p:cNvSpPr txBox="1"/>
          <p:nvPr/>
        </p:nvSpPr>
        <p:spPr>
          <a:xfrm>
            <a:off x="7178040" y="1399031"/>
            <a:ext cx="1371600" cy="292608"/>
          </a:xfrm>
          <a:prstGeom prst="rect">
            <a:avLst/>
          </a:prstGeom>
          <a:noFill/>
        </p:spPr>
        <p:txBody>
          <a:bodyPr wrap="square" anchor="ctr" lIns="0" rIns="0" tIns="0" bIns="0">
            <a:spAutoFit/>
          </a:bodyPr>
          <a:lstStyle/>
          <a:p>
            <a:pPr algn="l">
              <a:spcAft>
                <a:spcPts val="400"/>
              </a:spcAft>
            </a:pPr>
            <a:r>
              <a:rPr sz="1200" b="0">
                <a:solidFill>
                  <a:srgbClr val="202124"/>
                </a:solidFill>
                <a:latin typeface="Google Sans Flex Medium"/>
                <a:ea typeface="Google Sans Flex Medium"/>
                <a:cs typeface="Google Sans Flex Medium"/>
                <a:sym typeface="Google Sans Flex Medium"/>
              </a:rPr>
              <a:t>Real nearby shops</a:t>
            </a:r>
          </a:p>
        </p:txBody>
      </p:sp>
      <p:sp>
        <p:nvSpPr>
          <p:cNvPr id="106" name="TextBox 105"/>
          <p:cNvSpPr txBox="1"/>
          <p:nvPr/>
        </p:nvSpPr>
        <p:spPr>
          <a:xfrm>
            <a:off x="6812280" y="1755648"/>
            <a:ext cx="1719072" cy="685800"/>
          </a:xfrm>
          <a:prstGeom prst="rect">
            <a:avLst/>
          </a:prstGeom>
          <a:noFill/>
        </p:spPr>
        <p:txBody>
          <a:bodyPr wrap="square" anchor="t" lIns="0" rIns="0" tIns="0" bIns="0">
            <a:spAutoFit/>
          </a:bodyPr>
          <a:lstStyle/>
          <a:p>
            <a:pPr algn="l">
              <a:spcAft>
                <a:spcPts val="400"/>
              </a:spcAft>
            </a:pPr>
            <a:r>
              <a:rPr sz="950" b="0">
                <a:solidFill>
                  <a:srgbClr val="5F6368"/>
                </a:solidFill>
                <a:latin typeface="Google Sans Flex"/>
                <a:ea typeface="Google Sans Flex"/>
                <a:cs typeface="Google Sans Flex"/>
                <a:sym typeface="Google Sans Flex"/>
              </a:rPr>
              <a:t>Open shops of that kind from Google Places, with rating, Maps link and directions.</a:t>
            </a:r>
          </a:p>
        </p:txBody>
      </p:sp>
      <p:sp>
        <p:nvSpPr>
          <p:cNvPr id="107" name="Rounded Rectangle 106"/>
          <p:cNvSpPr/>
          <p:nvPr/>
        </p:nvSpPr>
        <p:spPr>
          <a:xfrm>
            <a:off x="6812280" y="2395728"/>
            <a:ext cx="669340" cy="201168"/>
          </a:xfrm>
          <a:prstGeom prst="roundRect">
            <a:avLst>
              <a:gd name="adj" fmla="val 50000"/>
            </a:avLst>
          </a:prstGeom>
          <a:solidFill>
            <a:srgbClr val="FCE8E6"/>
          </a:solidFill>
          <a:ln>
            <a:noFill/>
          </a:ln>
        </p:spPr>
        <p:txBody>
          <a:bodyPr rtlCol="0" anchor="ctr" lIns="0" rIns="0" tIns="0" bIns="0"/>
          <a:lstStyle/>
          <a:p>
            <a:pPr algn="ctr"/>
            <a:r>
              <a:rPr sz="850" b="0">
                <a:solidFill>
                  <a:srgbClr val="D93025"/>
                </a:solidFill>
                <a:latin typeface="Google Sans Flex Medium"/>
                <a:ea typeface="Google Sans Flex Medium"/>
                <a:cs typeface="Google Sans Flex Medium"/>
                <a:sym typeface="Google Sans Flex Medium"/>
              </a:rPr>
              <a:t>Places API</a:t>
            </a:r>
          </a:p>
        </p:txBody>
      </p:sp>
      <p:sp>
        <p:nvSpPr>
          <p:cNvPr id="108" name="Rounded Rectangle 107"/>
          <p:cNvSpPr/>
          <p:nvPr/>
        </p:nvSpPr>
        <p:spPr>
          <a:xfrm>
            <a:off x="365760" y="2834639"/>
            <a:ext cx="1965960" cy="1444752"/>
          </a:xfrm>
          <a:prstGeom prst="roundRect">
            <a:avLst>
              <a:gd name="adj" fmla="val 7000"/>
            </a:avLst>
          </a:prstGeom>
          <a:noFill/>
          <a:ln w="12700">
            <a:solidFill>
              <a:srgbClr val="DADCE0"/>
            </a:solidFill>
          </a:ln>
        </p:spPr>
        <p:txBody>
          <a:bodyPr rtlCol="0" anchor="ctr"/>
          <a:lstStyle/>
          <a:p>
            <a:pPr algn="ctr"/>
          </a:p>
        </p:txBody>
      </p:sp>
      <p:sp>
        <p:nvSpPr>
          <p:cNvPr id="109" name="Oval 108"/>
          <p:cNvSpPr/>
          <p:nvPr/>
        </p:nvSpPr>
        <p:spPr>
          <a:xfrm>
            <a:off x="502920" y="2971799"/>
            <a:ext cx="274320" cy="274320"/>
          </a:xfrm>
          <a:prstGeom prst="ellipse">
            <a:avLst/>
          </a:prstGeom>
          <a:solidFill>
            <a:srgbClr val="1E8E3E"/>
          </a:solidFill>
          <a:ln>
            <a:noFill/>
          </a:ln>
        </p:spPr>
        <p:txBody>
          <a:bodyPr rtlCol="0" anchor="ctr" lIns="0" rIns="0" tIns="0" bIns="0"/>
          <a:lstStyle/>
          <a:p>
            <a:pPr algn="ctr"/>
            <a:r>
              <a:rPr sz="1100" b="0">
                <a:solidFill>
                  <a:srgbClr val="FFFFFF"/>
                </a:solidFill>
                <a:latin typeface="Google Sans Flex Medium"/>
                <a:ea typeface="Google Sans Flex Medium"/>
                <a:cs typeface="Google Sans Flex Medium"/>
                <a:sym typeface="Google Sans Flex Medium"/>
              </a:rPr>
              <a:t>5</a:t>
            </a:r>
          </a:p>
        </p:txBody>
      </p:sp>
      <p:sp>
        <p:nvSpPr>
          <p:cNvPr id="110" name="TextBox 109"/>
          <p:cNvSpPr txBox="1"/>
          <p:nvPr/>
        </p:nvSpPr>
        <p:spPr>
          <a:xfrm>
            <a:off x="868680" y="2971799"/>
            <a:ext cx="1371600" cy="292608"/>
          </a:xfrm>
          <a:prstGeom prst="rect">
            <a:avLst/>
          </a:prstGeom>
          <a:noFill/>
        </p:spPr>
        <p:txBody>
          <a:bodyPr wrap="square" anchor="ctr" lIns="0" rIns="0" tIns="0" bIns="0">
            <a:spAutoFit/>
          </a:bodyPr>
          <a:lstStyle/>
          <a:p>
            <a:pPr algn="l">
              <a:spcAft>
                <a:spcPts val="400"/>
              </a:spcAft>
            </a:pPr>
            <a:r>
              <a:rPr sz="1200" b="0">
                <a:solidFill>
                  <a:srgbClr val="202124"/>
                </a:solidFill>
                <a:latin typeface="Google Sans Flex Medium"/>
                <a:ea typeface="Google Sans Flex Medium"/>
                <a:cs typeface="Google Sans Flex Medium"/>
                <a:sym typeface="Google Sans Flex Medium"/>
              </a:rPr>
              <a:t>One-photo reply</a:t>
            </a:r>
          </a:p>
        </p:txBody>
      </p:sp>
      <p:sp>
        <p:nvSpPr>
          <p:cNvPr id="111" name="TextBox 110"/>
          <p:cNvSpPr txBox="1"/>
          <p:nvPr/>
        </p:nvSpPr>
        <p:spPr>
          <a:xfrm>
            <a:off x="502920" y="3328415"/>
            <a:ext cx="1719072" cy="685800"/>
          </a:xfrm>
          <a:prstGeom prst="rect">
            <a:avLst/>
          </a:prstGeom>
          <a:noFill/>
        </p:spPr>
        <p:txBody>
          <a:bodyPr wrap="square" anchor="t" lIns="0" rIns="0" tIns="0" bIns="0">
            <a:spAutoFit/>
          </a:bodyPr>
          <a:lstStyle/>
          <a:p>
            <a:pPr algn="l">
              <a:spcAft>
                <a:spcPts val="400"/>
              </a:spcAft>
            </a:pPr>
            <a:r>
              <a:rPr sz="950" b="0">
                <a:solidFill>
                  <a:srgbClr val="5F6368"/>
                </a:solidFill>
                <a:latin typeface="Google Sans Flex"/>
                <a:ea typeface="Google Sans Flex"/>
                <a:cs typeface="Google Sans Flex"/>
                <a:sym typeface="Google Sans Flex"/>
              </a:rPr>
              <a:t>From the inbox or a one-tap WhatsApp link, no app or account. AI drafts from stock; a person approves.</a:t>
            </a:r>
          </a:p>
        </p:txBody>
      </p:sp>
      <p:sp>
        <p:nvSpPr>
          <p:cNvPr id="112" name="Rounded Rectangle 111"/>
          <p:cNvSpPr/>
          <p:nvPr/>
        </p:nvSpPr>
        <p:spPr>
          <a:xfrm>
            <a:off x="502920" y="3968496"/>
            <a:ext cx="1005108" cy="201168"/>
          </a:xfrm>
          <a:prstGeom prst="roundRect">
            <a:avLst>
              <a:gd name="adj" fmla="val 50000"/>
            </a:avLst>
          </a:prstGeom>
          <a:solidFill>
            <a:srgbClr val="E6F4EA"/>
          </a:solidFill>
          <a:ln>
            <a:noFill/>
          </a:ln>
        </p:spPr>
        <p:txBody>
          <a:bodyPr rtlCol="0" anchor="ctr" lIns="0" rIns="0" tIns="0" bIns="0"/>
          <a:lstStyle/>
          <a:p>
            <a:pPr algn="ctr"/>
            <a:r>
              <a:rPr sz="850" b="0">
                <a:solidFill>
                  <a:srgbClr val="1E8E3E"/>
                </a:solidFill>
                <a:latin typeface="Google Sans Flex Medium"/>
                <a:ea typeface="Google Sans Flex Medium"/>
                <a:cs typeface="Google Sans Flex Medium"/>
                <a:sym typeface="Google Sans Flex Medium"/>
              </a:rPr>
              <a:t>Vertex AI Search</a:t>
            </a:r>
          </a:p>
        </p:txBody>
      </p:sp>
      <p:sp>
        <p:nvSpPr>
          <p:cNvPr id="113" name="Rounded Rectangle 112"/>
          <p:cNvSpPr/>
          <p:nvPr/>
        </p:nvSpPr>
        <p:spPr>
          <a:xfrm>
            <a:off x="2468879" y="2834639"/>
            <a:ext cx="1965960" cy="1444752"/>
          </a:xfrm>
          <a:prstGeom prst="roundRect">
            <a:avLst>
              <a:gd name="adj" fmla="val 7000"/>
            </a:avLst>
          </a:prstGeom>
          <a:noFill/>
          <a:ln w="12700">
            <a:solidFill>
              <a:srgbClr val="DADCE0"/>
            </a:solidFill>
          </a:ln>
        </p:spPr>
        <p:txBody>
          <a:bodyPr rtlCol="0" anchor="ctr"/>
          <a:lstStyle/>
          <a:p>
            <a:pPr algn="ctr"/>
          </a:p>
        </p:txBody>
      </p:sp>
      <p:sp>
        <p:nvSpPr>
          <p:cNvPr id="114" name="Oval 113"/>
          <p:cNvSpPr/>
          <p:nvPr/>
        </p:nvSpPr>
        <p:spPr>
          <a:xfrm>
            <a:off x="2606039" y="2971799"/>
            <a:ext cx="274320" cy="274320"/>
          </a:xfrm>
          <a:prstGeom prst="ellipse">
            <a:avLst/>
          </a:prstGeom>
          <a:solidFill>
            <a:srgbClr val="1A73E8"/>
          </a:solidFill>
          <a:ln>
            <a:noFill/>
          </a:ln>
        </p:spPr>
        <p:txBody>
          <a:bodyPr rtlCol="0" anchor="ctr" lIns="0" rIns="0" tIns="0" bIns="0"/>
          <a:lstStyle/>
          <a:p>
            <a:pPr algn="ctr"/>
            <a:r>
              <a:rPr sz="1100" b="0">
                <a:solidFill>
                  <a:srgbClr val="FFFFFF"/>
                </a:solidFill>
                <a:latin typeface="Google Sans Flex Medium"/>
                <a:ea typeface="Google Sans Flex Medium"/>
                <a:cs typeface="Google Sans Flex Medium"/>
                <a:sym typeface="Google Sans Flex Medium"/>
              </a:rPr>
              <a:t>6</a:t>
            </a:r>
          </a:p>
        </p:txBody>
      </p:sp>
      <p:sp>
        <p:nvSpPr>
          <p:cNvPr id="115" name="TextBox 114"/>
          <p:cNvSpPr txBox="1"/>
          <p:nvPr/>
        </p:nvSpPr>
        <p:spPr>
          <a:xfrm>
            <a:off x="2971800" y="2971799"/>
            <a:ext cx="1371600" cy="292608"/>
          </a:xfrm>
          <a:prstGeom prst="rect">
            <a:avLst/>
          </a:prstGeom>
          <a:noFill/>
        </p:spPr>
        <p:txBody>
          <a:bodyPr wrap="square" anchor="ctr" lIns="0" rIns="0" tIns="0" bIns="0">
            <a:spAutoFit/>
          </a:bodyPr>
          <a:lstStyle/>
          <a:p>
            <a:pPr algn="l">
              <a:spcAft>
                <a:spcPts val="400"/>
              </a:spcAft>
            </a:pPr>
            <a:r>
              <a:rPr sz="1200" b="0">
                <a:solidFill>
                  <a:srgbClr val="202124"/>
                </a:solidFill>
                <a:latin typeface="Google Sans Flex Medium"/>
                <a:ea typeface="Google Sans Flex Medium"/>
                <a:cs typeface="Google Sans Flex Medium"/>
                <a:sym typeface="Google Sans Flex Medium"/>
              </a:rPr>
              <a:t>Photo proof check</a:t>
            </a:r>
          </a:p>
        </p:txBody>
      </p:sp>
      <p:sp>
        <p:nvSpPr>
          <p:cNvPr id="116" name="TextBox 115"/>
          <p:cNvSpPr txBox="1"/>
          <p:nvPr/>
        </p:nvSpPr>
        <p:spPr>
          <a:xfrm>
            <a:off x="2606039" y="3328415"/>
            <a:ext cx="1719072" cy="685800"/>
          </a:xfrm>
          <a:prstGeom prst="rect">
            <a:avLst/>
          </a:prstGeom>
          <a:noFill/>
        </p:spPr>
        <p:txBody>
          <a:bodyPr wrap="square" anchor="t" lIns="0" rIns="0" tIns="0" bIns="0">
            <a:spAutoFit/>
          </a:bodyPr>
          <a:lstStyle/>
          <a:p>
            <a:pPr algn="l">
              <a:spcAft>
                <a:spcPts val="400"/>
              </a:spcAft>
            </a:pPr>
            <a:r>
              <a:rPr sz="950" b="0">
                <a:solidFill>
                  <a:srgbClr val="5F6368"/>
                </a:solidFill>
                <a:latin typeface="Google Sans Flex"/>
                <a:ea typeface="Google Sans Flex"/>
                <a:cs typeface="Google Sans Flex"/>
                <a:sym typeface="Google Sans Flex"/>
              </a:rPr>
              <a:t>Model reads the photo; code compares design, colour, size, specs and brand: match or conflict.</a:t>
            </a:r>
          </a:p>
        </p:txBody>
      </p:sp>
      <p:sp>
        <p:nvSpPr>
          <p:cNvPr id="117" name="Rounded Rectangle 116"/>
          <p:cNvSpPr/>
          <p:nvPr/>
        </p:nvSpPr>
        <p:spPr>
          <a:xfrm>
            <a:off x="2606039" y="3968496"/>
            <a:ext cx="837224" cy="201168"/>
          </a:xfrm>
          <a:prstGeom prst="roundRect">
            <a:avLst>
              <a:gd name="adj" fmla="val 50000"/>
            </a:avLst>
          </a:prstGeom>
          <a:solidFill>
            <a:srgbClr val="E8F0FE"/>
          </a:solidFill>
          <a:ln>
            <a:noFill/>
          </a:ln>
        </p:spPr>
        <p:txBody>
          <a:bodyPr rtlCol="0" anchor="ctr" lIns="0" rIns="0" tIns="0" bIns="0"/>
          <a:lstStyle/>
          <a:p>
            <a:pPr algn="ctr"/>
            <a:r>
              <a:rPr sz="850" b="0">
                <a:solidFill>
                  <a:srgbClr val="1A73E8"/>
                </a:solidFill>
                <a:latin typeface="Google Sans Flex Medium"/>
                <a:ea typeface="Google Sans Flex Medium"/>
                <a:cs typeface="Google Sans Flex Medium"/>
                <a:sym typeface="Google Sans Flex Medium"/>
              </a:rPr>
              <a:t>Gemini Vision</a:t>
            </a:r>
          </a:p>
        </p:txBody>
      </p:sp>
      <p:sp>
        <p:nvSpPr>
          <p:cNvPr id="118" name="Rounded Rectangle 117"/>
          <p:cNvSpPr/>
          <p:nvPr/>
        </p:nvSpPr>
        <p:spPr>
          <a:xfrm>
            <a:off x="4572000" y="2834639"/>
            <a:ext cx="1965960" cy="1444752"/>
          </a:xfrm>
          <a:prstGeom prst="roundRect">
            <a:avLst>
              <a:gd name="adj" fmla="val 7000"/>
            </a:avLst>
          </a:prstGeom>
          <a:noFill/>
          <a:ln w="12700">
            <a:solidFill>
              <a:srgbClr val="DADCE0"/>
            </a:solidFill>
          </a:ln>
        </p:spPr>
        <p:txBody>
          <a:bodyPr rtlCol="0" anchor="ctr"/>
          <a:lstStyle/>
          <a:p>
            <a:pPr algn="ctr"/>
          </a:p>
        </p:txBody>
      </p:sp>
      <p:sp>
        <p:nvSpPr>
          <p:cNvPr id="119" name="Oval 118"/>
          <p:cNvSpPr/>
          <p:nvPr/>
        </p:nvSpPr>
        <p:spPr>
          <a:xfrm>
            <a:off x="4709160" y="2971799"/>
            <a:ext cx="274320" cy="274320"/>
          </a:xfrm>
          <a:prstGeom prst="ellipse">
            <a:avLst/>
          </a:prstGeom>
          <a:solidFill>
            <a:srgbClr val="F9AB00"/>
          </a:solidFill>
          <a:ln>
            <a:noFill/>
          </a:ln>
        </p:spPr>
        <p:txBody>
          <a:bodyPr rtlCol="0" anchor="ctr" lIns="0" rIns="0" tIns="0" bIns="0"/>
          <a:lstStyle/>
          <a:p>
            <a:pPr algn="ctr"/>
            <a:r>
              <a:rPr sz="1100" b="0">
                <a:solidFill>
                  <a:srgbClr val="FFFFFF"/>
                </a:solidFill>
                <a:latin typeface="Google Sans Flex Medium"/>
                <a:ea typeface="Google Sans Flex Medium"/>
                <a:cs typeface="Google Sans Flex Medium"/>
                <a:sym typeface="Google Sans Flex Medium"/>
              </a:rPr>
              <a:t>7</a:t>
            </a:r>
          </a:p>
        </p:txBody>
      </p:sp>
      <p:sp>
        <p:nvSpPr>
          <p:cNvPr id="120" name="TextBox 119"/>
          <p:cNvSpPr txBox="1"/>
          <p:nvPr/>
        </p:nvSpPr>
        <p:spPr>
          <a:xfrm>
            <a:off x="5074920" y="2971799"/>
            <a:ext cx="1371600" cy="292608"/>
          </a:xfrm>
          <a:prstGeom prst="rect">
            <a:avLst/>
          </a:prstGeom>
          <a:noFill/>
        </p:spPr>
        <p:txBody>
          <a:bodyPr wrap="square" anchor="ctr" lIns="0" rIns="0" tIns="0" bIns="0">
            <a:spAutoFit/>
          </a:bodyPr>
          <a:lstStyle/>
          <a:p>
            <a:pPr algn="l">
              <a:spcAft>
                <a:spcPts val="400"/>
              </a:spcAft>
            </a:pPr>
            <a:r>
              <a:rPr sz="1200" b="0">
                <a:solidFill>
                  <a:srgbClr val="202124"/>
                </a:solidFill>
                <a:latin typeface="Google Sans Flex Medium"/>
                <a:ea typeface="Google Sans Flex Medium"/>
                <a:cs typeface="Google Sans Flex Medium"/>
                <a:sym typeface="Google Sans Flex Medium"/>
              </a:rPr>
              <a:t>Shopkeeper insights</a:t>
            </a:r>
          </a:p>
        </p:txBody>
      </p:sp>
      <p:sp>
        <p:nvSpPr>
          <p:cNvPr id="121" name="TextBox 120"/>
          <p:cNvSpPr txBox="1"/>
          <p:nvPr/>
        </p:nvSpPr>
        <p:spPr>
          <a:xfrm>
            <a:off x="4709160" y="3328415"/>
            <a:ext cx="1719072" cy="685800"/>
          </a:xfrm>
          <a:prstGeom prst="rect">
            <a:avLst/>
          </a:prstGeom>
          <a:noFill/>
        </p:spPr>
        <p:txBody>
          <a:bodyPr wrap="square" anchor="t" lIns="0" rIns="0" tIns="0" bIns="0">
            <a:spAutoFit/>
          </a:bodyPr>
          <a:lstStyle/>
          <a:p>
            <a:pPr algn="l">
              <a:spcAft>
                <a:spcPts val="400"/>
              </a:spcAft>
            </a:pPr>
            <a:r>
              <a:rPr sz="950" b="0">
                <a:solidFill>
                  <a:srgbClr val="5F6368"/>
                </a:solidFill>
                <a:latin typeface="Google Sans Flex"/>
                <a:ea typeface="Google Sans Flex"/>
                <a:cs typeface="Google Sans Flex"/>
                <a:sym typeface="Google Sans Flex"/>
              </a:rPr>
              <a:t>Own demand and missed sales; forecast, customer groups and stock cover from its own sales file.</a:t>
            </a:r>
          </a:p>
        </p:txBody>
      </p:sp>
      <p:sp>
        <p:nvSpPr>
          <p:cNvPr id="122" name="Rounded Rectangle 121"/>
          <p:cNvSpPr/>
          <p:nvPr/>
        </p:nvSpPr>
        <p:spPr>
          <a:xfrm>
            <a:off x="4709160" y="3968496"/>
            <a:ext cx="949147" cy="201168"/>
          </a:xfrm>
          <a:prstGeom prst="roundRect">
            <a:avLst>
              <a:gd name="adj" fmla="val 50000"/>
            </a:avLst>
          </a:prstGeom>
          <a:solidFill>
            <a:srgbClr val="FEF7E0"/>
          </a:solidFill>
          <a:ln>
            <a:noFill/>
          </a:ln>
        </p:spPr>
        <p:txBody>
          <a:bodyPr rtlCol="0" anchor="ctr" lIns="0" rIns="0" tIns="0" bIns="0"/>
          <a:lstStyle/>
          <a:p>
            <a:pPr algn="ctr"/>
            <a:r>
              <a:rPr sz="850" b="0">
                <a:solidFill>
                  <a:srgbClr val="B06000"/>
                </a:solidFill>
                <a:latin typeface="Google Sans Flex Medium"/>
                <a:ea typeface="Google Sans Flex Medium"/>
                <a:cs typeface="Google Sans Flex Medium"/>
                <a:sym typeface="Google Sans Flex Medium"/>
              </a:rPr>
              <a:t>ML on shop data</a:t>
            </a:r>
          </a:p>
        </p:txBody>
      </p:sp>
      <p:sp>
        <p:nvSpPr>
          <p:cNvPr id="123" name="Rounded Rectangle 122"/>
          <p:cNvSpPr/>
          <p:nvPr/>
        </p:nvSpPr>
        <p:spPr>
          <a:xfrm>
            <a:off x="6675120" y="2834639"/>
            <a:ext cx="1965960" cy="1444752"/>
          </a:xfrm>
          <a:prstGeom prst="roundRect">
            <a:avLst>
              <a:gd name="adj" fmla="val 7000"/>
            </a:avLst>
          </a:prstGeom>
          <a:noFill/>
          <a:ln w="12700">
            <a:solidFill>
              <a:srgbClr val="DADCE0"/>
            </a:solidFill>
          </a:ln>
        </p:spPr>
        <p:txBody>
          <a:bodyPr rtlCol="0" anchor="ctr"/>
          <a:lstStyle/>
          <a:p>
            <a:pPr algn="ctr"/>
          </a:p>
        </p:txBody>
      </p:sp>
      <p:sp>
        <p:nvSpPr>
          <p:cNvPr id="124" name="Oval 123"/>
          <p:cNvSpPr/>
          <p:nvPr/>
        </p:nvSpPr>
        <p:spPr>
          <a:xfrm>
            <a:off x="6812280" y="2971799"/>
            <a:ext cx="274320" cy="274320"/>
          </a:xfrm>
          <a:prstGeom prst="ellipse">
            <a:avLst/>
          </a:prstGeom>
          <a:solidFill>
            <a:srgbClr val="F9AB00"/>
          </a:solidFill>
          <a:ln>
            <a:noFill/>
          </a:ln>
        </p:spPr>
        <p:txBody>
          <a:bodyPr rtlCol="0" anchor="ctr" lIns="0" rIns="0" tIns="0" bIns="0"/>
          <a:lstStyle/>
          <a:p>
            <a:pPr algn="ctr"/>
            <a:r>
              <a:rPr sz="1100" b="0">
                <a:solidFill>
                  <a:srgbClr val="FFFFFF"/>
                </a:solidFill>
                <a:latin typeface="Google Sans Flex Medium"/>
                <a:ea typeface="Google Sans Flex Medium"/>
                <a:cs typeface="Google Sans Flex Medium"/>
                <a:sym typeface="Google Sans Flex Medium"/>
              </a:rPr>
              <a:t>8</a:t>
            </a:r>
          </a:p>
        </p:txBody>
      </p:sp>
      <p:sp>
        <p:nvSpPr>
          <p:cNvPr id="125" name="TextBox 124"/>
          <p:cNvSpPr txBox="1"/>
          <p:nvPr/>
        </p:nvSpPr>
        <p:spPr>
          <a:xfrm>
            <a:off x="7178040" y="2971799"/>
            <a:ext cx="1371600" cy="292608"/>
          </a:xfrm>
          <a:prstGeom prst="rect">
            <a:avLst/>
          </a:prstGeom>
          <a:noFill/>
        </p:spPr>
        <p:txBody>
          <a:bodyPr wrap="square" anchor="ctr" lIns="0" rIns="0" tIns="0" bIns="0">
            <a:spAutoFit/>
          </a:bodyPr>
          <a:lstStyle/>
          <a:p>
            <a:pPr algn="l">
              <a:spcAft>
                <a:spcPts val="400"/>
              </a:spcAft>
            </a:pPr>
            <a:r>
              <a:rPr sz="1200" b="0">
                <a:solidFill>
                  <a:srgbClr val="202124"/>
                </a:solidFill>
                <a:latin typeface="Google Sans Flex Medium"/>
                <a:ea typeface="Google Sans Flex Medium"/>
                <a:cs typeface="Google Sans Flex Medium"/>
                <a:sym typeface="Google Sans Flex Medium"/>
              </a:rPr>
              <a:t>Business intelligence</a:t>
            </a:r>
          </a:p>
        </p:txBody>
      </p:sp>
      <p:sp>
        <p:nvSpPr>
          <p:cNvPr id="126" name="TextBox 125"/>
          <p:cNvSpPr txBox="1"/>
          <p:nvPr/>
        </p:nvSpPr>
        <p:spPr>
          <a:xfrm>
            <a:off x="6812280" y="3328415"/>
            <a:ext cx="1719072" cy="685800"/>
          </a:xfrm>
          <a:prstGeom prst="rect">
            <a:avLst/>
          </a:prstGeom>
          <a:noFill/>
        </p:spPr>
        <p:txBody>
          <a:bodyPr wrap="square" anchor="t" lIns="0" rIns="0" tIns="0" bIns="0">
            <a:spAutoFit/>
          </a:bodyPr>
          <a:lstStyle/>
          <a:p>
            <a:pPr algn="l">
              <a:spcAft>
                <a:spcPts val="400"/>
              </a:spcAft>
            </a:pPr>
            <a:r>
              <a:rPr sz="950" b="0">
                <a:solidFill>
                  <a:srgbClr val="5F6368"/>
                </a:solidFill>
                <a:latin typeface="Google Sans Flex"/>
                <a:ea typeface="Google Sans Flex"/>
                <a:cs typeface="Google Sans Flex"/>
                <a:sym typeface="Google Sans Flex"/>
              </a:rPr>
              <a:t>Requests routed by category, city demand, BigQuery ML forecast and a BigQuery AI brief.</a:t>
            </a:r>
          </a:p>
        </p:txBody>
      </p:sp>
      <p:sp>
        <p:nvSpPr>
          <p:cNvPr id="127" name="Rounded Rectangle 126"/>
          <p:cNvSpPr/>
          <p:nvPr/>
        </p:nvSpPr>
        <p:spPr>
          <a:xfrm>
            <a:off x="6812280" y="3968496"/>
            <a:ext cx="1005108" cy="201168"/>
          </a:xfrm>
          <a:prstGeom prst="roundRect">
            <a:avLst>
              <a:gd name="adj" fmla="val 50000"/>
            </a:avLst>
          </a:prstGeom>
          <a:solidFill>
            <a:srgbClr val="FEF7E0"/>
          </a:solidFill>
          <a:ln>
            <a:noFill/>
          </a:ln>
        </p:spPr>
        <p:txBody>
          <a:bodyPr rtlCol="0" anchor="ctr" lIns="0" rIns="0" tIns="0" bIns="0"/>
          <a:lstStyle/>
          <a:p>
            <a:pPr algn="ctr"/>
            <a:r>
              <a:rPr sz="850" b="0">
                <a:solidFill>
                  <a:srgbClr val="B06000"/>
                </a:solidFill>
                <a:latin typeface="Google Sans Flex Medium"/>
                <a:ea typeface="Google Sans Flex Medium"/>
                <a:cs typeface="Google Sans Flex Medium"/>
                <a:sym typeface="Google Sans Flex Medium"/>
              </a:rPr>
              <a:t>BigQuery ML · AI</a:t>
            </a:r>
          </a:p>
        </p:txBody>
      </p:sp>
      <p:sp>
        <p:nvSpPr>
          <p:cNvPr id="128" name="TextBox 127"/>
          <p:cNvSpPr txBox="1"/>
          <p:nvPr/>
        </p:nvSpPr>
        <p:spPr>
          <a:xfrm>
            <a:off x="365760" y="4462272"/>
            <a:ext cx="8412480" cy="274320"/>
          </a:xfrm>
          <a:prstGeom prst="rect">
            <a:avLst/>
          </a:prstGeom>
          <a:noFill/>
        </p:spPr>
        <p:txBody>
          <a:bodyPr wrap="square" anchor="t" lIns="0" rIns="0" tIns="0" bIns="0">
            <a:spAutoFit/>
          </a:bodyPr>
          <a:lstStyle/>
          <a:p>
            <a:pPr algn="l">
              <a:spcAft>
                <a:spcPts val="400"/>
              </a:spcAft>
            </a:pPr>
            <a:r>
              <a:rPr sz="950" b="0">
                <a:solidFill>
                  <a:srgbClr val="202124"/>
                </a:solidFill>
                <a:latin typeface="Google Sans Flex Medium"/>
                <a:ea typeface="Google Sans Flex Medium"/>
                <a:cs typeface="Google Sans Flex Medium"/>
                <a:sym typeface="Google Sans Flex Medium"/>
              </a:rPr>
              <a:t>Also built: </a:t>
            </a:r>
            <a:r>
              <a:rPr sz="950" b="0">
                <a:solidFill>
                  <a:srgbClr val="5F6368"/>
                </a:solidFill>
                <a:latin typeface="Google Sans Flex"/>
                <a:ea typeface="Google Sans Flex"/>
                <a:cs typeface="Google Sans Flex"/>
                <a:sym typeface="Google Sans Flex"/>
              </a:rPr>
              <a:t>multi-item basket optimiser (OR-Tools CP-SAT) · proof planner (EVSI) · remembers shopper preferences with "forget me" · four roles checked by the server · Trust report with live tests</a:t>
            </a: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pic>
        <p:nvPicPr>
          <p:cNvPr id="92" name="Google Shape;92;p18"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93" name="Google Shape;93;p18"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94" name="Google Shape;94;p18"/>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5" name="Google Shape;95;p18"/>
          <p:cNvSpPr txBox="1"/>
          <p:nvPr/>
        </p:nvSpPr>
        <p:spPr>
          <a:xfrm>
            <a:off x="265350" y="663825"/>
            <a:ext cx="8943000" cy="50292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latin typeface="Google Sans Flex Medium"/>
                <a:ea typeface="Google Sans Flex Medium"/>
                <a:cs typeface="Google Sans Flex Medium"/>
                <a:sym typeface="Google Sans Flex Medium"/>
              </a:rPr>
              <a:t>Process flow and use cases</a:t>
            </a:r>
            <a:endParaRPr sz="1600">
              <a:latin typeface="Google Sans Flex Medium"/>
              <a:ea typeface="Google Sans Flex Medium"/>
              <a:cs typeface="Google Sans Flex Medium"/>
              <a:sym typeface="Google Sans Flex Medium"/>
            </a:endParaRPr>
          </a:p>
        </p:txBody>
      </p:sp>
      <p:pic>
        <p:nvPicPr>
          <p:cNvPr id="96" name="Picture 95" descr="process_flow.png"/>
          <p:cNvPicPr>
            <a:picLocks noChangeAspect="1"/>
          </p:cNvPicPr>
          <p:nvPr/>
        </p:nvPicPr>
        <p:blipFill>
          <a:blip r:embed="rId5"/>
          <a:stretch>
            <a:fillRect/>
          </a:stretch>
        </p:blipFill>
        <p:spPr>
          <a:xfrm>
            <a:off x="365760" y="1207008"/>
            <a:ext cx="8412480" cy="1955901"/>
          </a:xfrm>
          <a:prstGeom prst="rect">
            <a:avLst/>
          </a:prstGeom>
        </p:spPr>
      </p:pic>
      <p:sp>
        <p:nvSpPr>
          <p:cNvPr id="97" name="TextBox 96"/>
          <p:cNvSpPr txBox="1"/>
          <p:nvPr/>
        </p:nvSpPr>
        <p:spPr>
          <a:xfrm>
            <a:off x="365760" y="3246120"/>
            <a:ext cx="8412480" cy="274320"/>
          </a:xfrm>
          <a:prstGeom prst="rect">
            <a:avLst/>
          </a:prstGeom>
          <a:noFill/>
        </p:spPr>
        <p:txBody>
          <a:bodyPr wrap="square" anchor="t" lIns="0" rIns="0" tIns="0" bIns="0">
            <a:spAutoFit/>
          </a:bodyPr>
          <a:lstStyle/>
          <a:p>
            <a:pPr algn="l">
              <a:spcAft>
                <a:spcPts val="400"/>
              </a:spcAft>
            </a:pPr>
            <a:r>
              <a:rPr sz="1150" b="0">
                <a:solidFill>
                  <a:srgbClr val="202124"/>
                </a:solidFill>
                <a:latin typeface="Google Sans Flex Medium"/>
                <a:ea typeface="Google Sans Flex Medium"/>
                <a:cs typeface="Google Sans Flex Medium"/>
                <a:sym typeface="Google Sans Flex Medium"/>
              </a:rPr>
              <a:t>Use cases by role</a:t>
            </a:r>
            <a:r>
              <a:rPr sz="950" b="0">
                <a:solidFill>
                  <a:srgbClr val="5F6368"/>
                </a:solidFill>
                <a:latin typeface="Google Sans Flex"/>
                <a:ea typeface="Google Sans Flex"/>
                <a:cs typeface="Google Sans Flex"/>
                <a:sym typeface="Google Sans Flex"/>
              </a:rPr>
              <a:t>  (picked from the role dropdown; the server checks role and shop on every private action)</a:t>
            </a:r>
          </a:p>
        </p:txBody>
      </p:sp>
      <p:sp>
        <p:nvSpPr>
          <p:cNvPr id="98" name="Rounded Rectangle 97"/>
          <p:cNvSpPr/>
          <p:nvPr/>
        </p:nvSpPr>
        <p:spPr>
          <a:xfrm>
            <a:off x="365760" y="3584448"/>
            <a:ext cx="1965960" cy="914400"/>
          </a:xfrm>
          <a:prstGeom prst="roundRect">
            <a:avLst>
              <a:gd name="adj" fmla="val 8000"/>
            </a:avLst>
          </a:prstGeom>
          <a:solidFill>
            <a:srgbClr val="F1F3F4"/>
          </a:solidFill>
          <a:ln>
            <a:noFill/>
          </a:ln>
        </p:spPr>
        <p:txBody>
          <a:bodyPr rtlCol="0" anchor="ctr"/>
          <a:lstStyle/>
          <a:p>
            <a:pPr algn="ctr"/>
          </a:p>
        </p:txBody>
      </p:sp>
      <p:sp>
        <p:nvSpPr>
          <p:cNvPr id="99" name="Oval 98"/>
          <p:cNvSpPr/>
          <p:nvPr/>
        </p:nvSpPr>
        <p:spPr>
          <a:xfrm>
            <a:off x="493776" y="3703320"/>
            <a:ext cx="146304" cy="146304"/>
          </a:xfrm>
          <a:prstGeom prst="ellipse">
            <a:avLst/>
          </a:prstGeom>
          <a:solidFill>
            <a:srgbClr val="1A73E8"/>
          </a:solidFill>
          <a:ln>
            <a:noFill/>
          </a:ln>
        </p:spPr>
        <p:txBody>
          <a:bodyPr rtlCol="0" anchor="ctr" lIns="0" rIns="0" tIns="0" bIns="0"/>
          <a:lstStyle/>
          <a:p>
            <a:pPr algn="ctr"/>
            <a:r>
              <a:rPr sz="600" b="0">
                <a:solidFill>
                  <a:srgbClr val="FFFFFF"/>
                </a:solidFill>
                <a:latin typeface="Google Sans Flex Medium"/>
                <a:ea typeface="Google Sans Flex Medium"/>
                <a:cs typeface="Google Sans Flex Medium"/>
                <a:sym typeface="Google Sans Flex Medium"/>
              </a:rPr>
              <a:t/>
            </a:r>
          </a:p>
        </p:txBody>
      </p:sp>
      <p:sp>
        <p:nvSpPr>
          <p:cNvPr id="100" name="TextBox 99"/>
          <p:cNvSpPr txBox="1"/>
          <p:nvPr/>
        </p:nvSpPr>
        <p:spPr>
          <a:xfrm>
            <a:off x="713232" y="3648456"/>
            <a:ext cx="1554480" cy="274320"/>
          </a:xfrm>
          <a:prstGeom prst="rect">
            <a:avLst/>
          </a:prstGeom>
          <a:noFill/>
        </p:spPr>
        <p:txBody>
          <a:bodyPr wrap="square" anchor="t" lIns="0" rIns="0" tIns="0" bIns="0">
            <a:spAutoFit/>
          </a:bodyPr>
          <a:lstStyle/>
          <a:p>
            <a:pPr algn="l">
              <a:spcAft>
                <a:spcPts val="400"/>
              </a:spcAft>
            </a:pPr>
            <a:r>
              <a:rPr sz="1100" b="0">
                <a:solidFill>
                  <a:srgbClr val="202124"/>
                </a:solidFill>
                <a:latin typeface="Google Sans Flex Medium"/>
                <a:ea typeface="Google Sans Flex Medium"/>
                <a:cs typeface="Google Sans Flex Medium"/>
                <a:sym typeface="Google Sans Flex Medium"/>
              </a:rPr>
              <a:t>Shopper</a:t>
            </a:r>
          </a:p>
        </p:txBody>
      </p:sp>
      <p:sp>
        <p:nvSpPr>
          <p:cNvPr id="101" name="TextBox 100"/>
          <p:cNvSpPr txBox="1"/>
          <p:nvPr/>
        </p:nvSpPr>
        <p:spPr>
          <a:xfrm>
            <a:off x="493776" y="3931920"/>
            <a:ext cx="1737360" cy="548640"/>
          </a:xfrm>
          <a:prstGeom prst="rect">
            <a:avLst/>
          </a:prstGeom>
          <a:noFill/>
        </p:spPr>
        <p:txBody>
          <a:bodyPr wrap="square" anchor="t" lIns="0" rIns="0" tIns="0" bIns="0">
            <a:spAutoFit/>
          </a:bodyPr>
          <a:lstStyle/>
          <a:p>
            <a:pPr algn="l">
              <a:spcAft>
                <a:spcPts val="400"/>
              </a:spcAft>
            </a:pPr>
            <a:r>
              <a:rPr sz="950" b="0">
                <a:solidFill>
                  <a:srgbClr val="5F6368"/>
                </a:solidFill>
                <a:latin typeface="Google Sans Flex"/>
                <a:ea typeface="Google Sans Flex"/>
                <a:cs typeface="Google Sans Flex"/>
                <a:sym typeface="Google Sans Flex"/>
              </a:rPr>
              <a:t>Asks, sends a photo, compares proof, gets directions</a:t>
            </a:r>
          </a:p>
        </p:txBody>
      </p:sp>
      <p:sp>
        <p:nvSpPr>
          <p:cNvPr id="102" name="Rounded Rectangle 101"/>
          <p:cNvSpPr/>
          <p:nvPr/>
        </p:nvSpPr>
        <p:spPr>
          <a:xfrm>
            <a:off x="2468879" y="3584448"/>
            <a:ext cx="1965960" cy="914400"/>
          </a:xfrm>
          <a:prstGeom prst="roundRect">
            <a:avLst>
              <a:gd name="adj" fmla="val 8000"/>
            </a:avLst>
          </a:prstGeom>
          <a:solidFill>
            <a:srgbClr val="F1F3F4"/>
          </a:solidFill>
          <a:ln>
            <a:noFill/>
          </a:ln>
        </p:spPr>
        <p:txBody>
          <a:bodyPr rtlCol="0" anchor="ctr"/>
          <a:lstStyle/>
          <a:p>
            <a:pPr algn="ctr"/>
          </a:p>
        </p:txBody>
      </p:sp>
      <p:sp>
        <p:nvSpPr>
          <p:cNvPr id="103" name="Oval 102"/>
          <p:cNvSpPr/>
          <p:nvPr/>
        </p:nvSpPr>
        <p:spPr>
          <a:xfrm>
            <a:off x="2596896" y="3703320"/>
            <a:ext cx="146304" cy="146304"/>
          </a:xfrm>
          <a:prstGeom prst="ellipse">
            <a:avLst/>
          </a:prstGeom>
          <a:solidFill>
            <a:srgbClr val="1E8E3E"/>
          </a:solidFill>
          <a:ln>
            <a:noFill/>
          </a:ln>
        </p:spPr>
        <p:txBody>
          <a:bodyPr rtlCol="0" anchor="ctr" lIns="0" rIns="0" tIns="0" bIns="0"/>
          <a:lstStyle/>
          <a:p>
            <a:pPr algn="ctr"/>
            <a:r>
              <a:rPr sz="600" b="0">
                <a:solidFill>
                  <a:srgbClr val="FFFFFF"/>
                </a:solidFill>
                <a:latin typeface="Google Sans Flex Medium"/>
                <a:ea typeface="Google Sans Flex Medium"/>
                <a:cs typeface="Google Sans Flex Medium"/>
                <a:sym typeface="Google Sans Flex Medium"/>
              </a:rPr>
              <a:t/>
            </a:r>
          </a:p>
        </p:txBody>
      </p:sp>
      <p:sp>
        <p:nvSpPr>
          <p:cNvPr id="104" name="TextBox 103"/>
          <p:cNvSpPr txBox="1"/>
          <p:nvPr/>
        </p:nvSpPr>
        <p:spPr>
          <a:xfrm>
            <a:off x="2816351" y="3648456"/>
            <a:ext cx="1554480" cy="274320"/>
          </a:xfrm>
          <a:prstGeom prst="rect">
            <a:avLst/>
          </a:prstGeom>
          <a:noFill/>
        </p:spPr>
        <p:txBody>
          <a:bodyPr wrap="square" anchor="t" lIns="0" rIns="0" tIns="0" bIns="0">
            <a:spAutoFit/>
          </a:bodyPr>
          <a:lstStyle/>
          <a:p>
            <a:pPr algn="l">
              <a:spcAft>
                <a:spcPts val="400"/>
              </a:spcAft>
            </a:pPr>
            <a:r>
              <a:rPr sz="1100" b="0">
                <a:solidFill>
                  <a:srgbClr val="202124"/>
                </a:solidFill>
                <a:latin typeface="Google Sans Flex Medium"/>
                <a:ea typeface="Google Sans Flex Medium"/>
                <a:cs typeface="Google Sans Flex Medium"/>
                <a:sym typeface="Google Sans Flex Medium"/>
              </a:rPr>
              <a:t>Shopkeeper</a:t>
            </a:r>
          </a:p>
        </p:txBody>
      </p:sp>
      <p:sp>
        <p:nvSpPr>
          <p:cNvPr id="105" name="TextBox 104"/>
          <p:cNvSpPr txBox="1"/>
          <p:nvPr/>
        </p:nvSpPr>
        <p:spPr>
          <a:xfrm>
            <a:off x="2596896" y="3931920"/>
            <a:ext cx="1737360" cy="548640"/>
          </a:xfrm>
          <a:prstGeom prst="rect">
            <a:avLst/>
          </a:prstGeom>
          <a:noFill/>
        </p:spPr>
        <p:txBody>
          <a:bodyPr wrap="square" anchor="t" lIns="0" rIns="0" tIns="0" bIns="0">
            <a:spAutoFit/>
          </a:bodyPr>
          <a:lstStyle/>
          <a:p>
            <a:pPr algn="l">
              <a:spcAft>
                <a:spcPts val="400"/>
              </a:spcAft>
            </a:pPr>
            <a:r>
              <a:rPr sz="950" b="0">
                <a:solidFill>
                  <a:srgbClr val="5F6368"/>
                </a:solidFill>
                <a:latin typeface="Google Sans Flex"/>
                <a:ea typeface="Google Sans Flex"/>
                <a:cs typeface="Google Sans Flex"/>
                <a:sym typeface="Google Sans Flex"/>
              </a:rPr>
              <a:t>Replies with a photo, uploads stock and sales, sees own demand</a:t>
            </a:r>
          </a:p>
        </p:txBody>
      </p:sp>
      <p:sp>
        <p:nvSpPr>
          <p:cNvPr id="106" name="Rounded Rectangle 105"/>
          <p:cNvSpPr/>
          <p:nvPr/>
        </p:nvSpPr>
        <p:spPr>
          <a:xfrm>
            <a:off x="4572000" y="3584448"/>
            <a:ext cx="1965960" cy="914400"/>
          </a:xfrm>
          <a:prstGeom prst="roundRect">
            <a:avLst>
              <a:gd name="adj" fmla="val 8000"/>
            </a:avLst>
          </a:prstGeom>
          <a:solidFill>
            <a:srgbClr val="F1F3F4"/>
          </a:solidFill>
          <a:ln>
            <a:noFill/>
          </a:ln>
        </p:spPr>
        <p:txBody>
          <a:bodyPr rtlCol="0" anchor="ctr"/>
          <a:lstStyle/>
          <a:p>
            <a:pPr algn="ctr"/>
          </a:p>
        </p:txBody>
      </p:sp>
      <p:sp>
        <p:nvSpPr>
          <p:cNvPr id="107" name="Oval 106"/>
          <p:cNvSpPr/>
          <p:nvPr/>
        </p:nvSpPr>
        <p:spPr>
          <a:xfrm>
            <a:off x="4700016" y="3703320"/>
            <a:ext cx="146304" cy="146304"/>
          </a:xfrm>
          <a:prstGeom prst="ellipse">
            <a:avLst/>
          </a:prstGeom>
          <a:solidFill>
            <a:srgbClr val="F9AB00"/>
          </a:solidFill>
          <a:ln>
            <a:noFill/>
          </a:ln>
        </p:spPr>
        <p:txBody>
          <a:bodyPr rtlCol="0" anchor="ctr" lIns="0" rIns="0" tIns="0" bIns="0"/>
          <a:lstStyle/>
          <a:p>
            <a:pPr algn="ctr"/>
            <a:r>
              <a:rPr sz="600" b="0">
                <a:solidFill>
                  <a:srgbClr val="FFFFFF"/>
                </a:solidFill>
                <a:latin typeface="Google Sans Flex Medium"/>
                <a:ea typeface="Google Sans Flex Medium"/>
                <a:cs typeface="Google Sans Flex Medium"/>
                <a:sym typeface="Google Sans Flex Medium"/>
              </a:rPr>
              <a:t/>
            </a:r>
          </a:p>
        </p:txBody>
      </p:sp>
      <p:sp>
        <p:nvSpPr>
          <p:cNvPr id="108" name="TextBox 107"/>
          <p:cNvSpPr txBox="1"/>
          <p:nvPr/>
        </p:nvSpPr>
        <p:spPr>
          <a:xfrm>
            <a:off x="4919472" y="3648456"/>
            <a:ext cx="1554480" cy="274320"/>
          </a:xfrm>
          <a:prstGeom prst="rect">
            <a:avLst/>
          </a:prstGeom>
          <a:noFill/>
        </p:spPr>
        <p:txBody>
          <a:bodyPr wrap="square" anchor="t" lIns="0" rIns="0" tIns="0" bIns="0">
            <a:spAutoFit/>
          </a:bodyPr>
          <a:lstStyle/>
          <a:p>
            <a:pPr algn="l">
              <a:spcAft>
                <a:spcPts val="400"/>
              </a:spcAft>
            </a:pPr>
            <a:r>
              <a:rPr sz="1100" b="0">
                <a:solidFill>
                  <a:srgbClr val="202124"/>
                </a:solidFill>
                <a:latin typeface="Google Sans Flex Medium"/>
                <a:ea typeface="Google Sans Flex Medium"/>
                <a:cs typeface="Google Sans Flex Medium"/>
                <a:sym typeface="Google Sans Flex Medium"/>
              </a:rPr>
              <a:t>Business manager</a:t>
            </a:r>
          </a:p>
        </p:txBody>
      </p:sp>
      <p:sp>
        <p:nvSpPr>
          <p:cNvPr id="109" name="TextBox 108"/>
          <p:cNvSpPr txBox="1"/>
          <p:nvPr/>
        </p:nvSpPr>
        <p:spPr>
          <a:xfrm>
            <a:off x="4700016" y="3931920"/>
            <a:ext cx="1737360" cy="548640"/>
          </a:xfrm>
          <a:prstGeom prst="rect">
            <a:avLst/>
          </a:prstGeom>
          <a:noFill/>
        </p:spPr>
        <p:txBody>
          <a:bodyPr wrap="square" anchor="t" lIns="0" rIns="0" tIns="0" bIns="0">
            <a:spAutoFit/>
          </a:bodyPr>
          <a:lstStyle/>
          <a:p>
            <a:pPr algn="l">
              <a:spcAft>
                <a:spcPts val="400"/>
              </a:spcAft>
            </a:pPr>
            <a:r>
              <a:rPr sz="950" b="0">
                <a:solidFill>
                  <a:srgbClr val="5F6368"/>
                </a:solidFill>
                <a:latin typeface="Google Sans Flex"/>
                <a:ea typeface="Google Sans Flex"/>
                <a:cs typeface="Google Sans Flex"/>
                <a:sym typeface="Google Sans Flex"/>
              </a:rPr>
              <a:t>Demand by category, forecasts, BigQuery AI brief</a:t>
            </a:r>
          </a:p>
        </p:txBody>
      </p:sp>
      <p:sp>
        <p:nvSpPr>
          <p:cNvPr id="110" name="Rounded Rectangle 109"/>
          <p:cNvSpPr/>
          <p:nvPr/>
        </p:nvSpPr>
        <p:spPr>
          <a:xfrm>
            <a:off x="6675120" y="3584448"/>
            <a:ext cx="1965960" cy="914400"/>
          </a:xfrm>
          <a:prstGeom prst="roundRect">
            <a:avLst>
              <a:gd name="adj" fmla="val 8000"/>
            </a:avLst>
          </a:prstGeom>
          <a:solidFill>
            <a:srgbClr val="F1F3F4"/>
          </a:solidFill>
          <a:ln>
            <a:noFill/>
          </a:ln>
        </p:spPr>
        <p:txBody>
          <a:bodyPr rtlCol="0" anchor="ctr"/>
          <a:lstStyle/>
          <a:p>
            <a:pPr algn="ctr"/>
          </a:p>
        </p:txBody>
      </p:sp>
      <p:sp>
        <p:nvSpPr>
          <p:cNvPr id="111" name="Oval 110"/>
          <p:cNvSpPr/>
          <p:nvPr/>
        </p:nvSpPr>
        <p:spPr>
          <a:xfrm>
            <a:off x="6803136" y="3703320"/>
            <a:ext cx="146304" cy="146304"/>
          </a:xfrm>
          <a:prstGeom prst="ellipse">
            <a:avLst/>
          </a:prstGeom>
          <a:solidFill>
            <a:srgbClr val="5F6368"/>
          </a:solidFill>
          <a:ln>
            <a:noFill/>
          </a:ln>
        </p:spPr>
        <p:txBody>
          <a:bodyPr rtlCol="0" anchor="ctr" lIns="0" rIns="0" tIns="0" bIns="0"/>
          <a:lstStyle/>
          <a:p>
            <a:pPr algn="ctr"/>
            <a:r>
              <a:rPr sz="600" b="0">
                <a:solidFill>
                  <a:srgbClr val="FFFFFF"/>
                </a:solidFill>
                <a:latin typeface="Google Sans Flex Medium"/>
                <a:ea typeface="Google Sans Flex Medium"/>
                <a:cs typeface="Google Sans Flex Medium"/>
                <a:sym typeface="Google Sans Flex Medium"/>
              </a:rPr>
              <a:t/>
            </a:r>
          </a:p>
        </p:txBody>
      </p:sp>
      <p:sp>
        <p:nvSpPr>
          <p:cNvPr id="112" name="TextBox 111"/>
          <p:cNvSpPr txBox="1"/>
          <p:nvPr/>
        </p:nvSpPr>
        <p:spPr>
          <a:xfrm>
            <a:off x="7022592" y="3648456"/>
            <a:ext cx="1554480" cy="274320"/>
          </a:xfrm>
          <a:prstGeom prst="rect">
            <a:avLst/>
          </a:prstGeom>
          <a:noFill/>
        </p:spPr>
        <p:txBody>
          <a:bodyPr wrap="square" anchor="t" lIns="0" rIns="0" tIns="0" bIns="0">
            <a:spAutoFit/>
          </a:bodyPr>
          <a:lstStyle/>
          <a:p>
            <a:pPr algn="l">
              <a:spcAft>
                <a:spcPts val="400"/>
              </a:spcAft>
            </a:pPr>
            <a:r>
              <a:rPr sz="1100" b="0">
                <a:solidFill>
                  <a:srgbClr val="202124"/>
                </a:solidFill>
                <a:latin typeface="Google Sans Flex Medium"/>
                <a:ea typeface="Google Sans Flex Medium"/>
                <a:cs typeface="Google Sans Flex Medium"/>
                <a:sym typeface="Google Sans Flex Medium"/>
              </a:rPr>
              <a:t>Admin / jury</a:t>
            </a:r>
          </a:p>
        </p:txBody>
      </p:sp>
      <p:sp>
        <p:nvSpPr>
          <p:cNvPr id="113" name="TextBox 112"/>
          <p:cNvSpPr txBox="1"/>
          <p:nvPr/>
        </p:nvSpPr>
        <p:spPr>
          <a:xfrm>
            <a:off x="6803136" y="3931920"/>
            <a:ext cx="1737360" cy="548640"/>
          </a:xfrm>
          <a:prstGeom prst="rect">
            <a:avLst/>
          </a:prstGeom>
          <a:noFill/>
        </p:spPr>
        <p:txBody>
          <a:bodyPr wrap="square" anchor="t" lIns="0" rIns="0" tIns="0" bIns="0">
            <a:spAutoFit/>
          </a:bodyPr>
          <a:lstStyle/>
          <a:p>
            <a:pPr algn="l">
              <a:spcAft>
                <a:spcPts val="400"/>
              </a:spcAft>
            </a:pPr>
            <a:r>
              <a:rPr sz="950" b="0">
                <a:solidFill>
                  <a:srgbClr val="5F6368"/>
                </a:solidFill>
                <a:latin typeface="Google Sans Flex"/>
                <a:ea typeface="Google Sans Flex"/>
                <a:cs typeface="Google Sans Flex"/>
                <a:sym typeface="Google Sans Flex"/>
              </a:rPr>
              <a:t>Every screen; Trust report with live tests</a:t>
            </a: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pic>
        <p:nvPicPr>
          <p:cNvPr id="100" name="Google Shape;100;p19"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101" name="Google Shape;101;p19"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102" name="Google Shape;102;p19"/>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3" name="Google Shape;103;p19"/>
          <p:cNvSpPr txBox="1"/>
          <p:nvPr/>
        </p:nvSpPr>
        <p:spPr>
          <a:xfrm>
            <a:off x="265350" y="663825"/>
            <a:ext cx="8943000" cy="50292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latin typeface="Google Sans Flex Medium"/>
                <a:ea typeface="Google Sans Flex Medium"/>
                <a:cs typeface="Google Sans Flex Medium"/>
                <a:sym typeface="Google Sans Flex Medium"/>
              </a:rPr>
              <a:t>UI of the main journey (screens from the live app)</a:t>
            </a:r>
            <a:endParaRPr sz="1600">
              <a:latin typeface="Google Sans Flex Medium"/>
              <a:ea typeface="Google Sans Flex Medium"/>
              <a:cs typeface="Google Sans Flex Medium"/>
              <a:sym typeface="Google Sans Flex Medium"/>
            </a:endParaRPr>
          </a:p>
        </p:txBody>
      </p:sp>
      <p:pic>
        <p:nvPicPr>
          <p:cNvPr id="104" name="Picture 103" descr="w_ask.jpg"/>
          <p:cNvPicPr>
            <a:picLocks noChangeAspect="1"/>
          </p:cNvPicPr>
          <p:nvPr/>
        </p:nvPicPr>
        <p:blipFill>
          <a:blip r:embed="rId5"/>
          <a:stretch>
            <a:fillRect/>
          </a:stretch>
        </p:blipFill>
        <p:spPr>
          <a:xfrm>
            <a:off x="365760" y="1278763"/>
            <a:ext cx="3931920" cy="2938018"/>
          </a:xfrm>
          <a:prstGeom prst="rect">
            <a:avLst/>
          </a:prstGeom>
          <a:ln w="9525">
            <a:solidFill>
              <a:srgbClr val="DADCE0"/>
            </a:solidFill>
          </a:ln>
        </p:spPr>
      </p:pic>
      <p:sp>
        <p:nvSpPr>
          <p:cNvPr id="105" name="TextBox 104"/>
          <p:cNvSpPr txBox="1"/>
          <p:nvPr/>
        </p:nvSpPr>
        <p:spPr>
          <a:xfrm>
            <a:off x="365760" y="4315968"/>
            <a:ext cx="3931920" cy="411480"/>
          </a:xfrm>
          <a:prstGeom prst="rect">
            <a:avLst/>
          </a:prstGeom>
          <a:noFill/>
        </p:spPr>
        <p:txBody>
          <a:bodyPr wrap="square" anchor="t" lIns="0" rIns="0" tIns="0" bIns="0">
            <a:spAutoFit/>
          </a:bodyPr>
          <a:lstStyle/>
          <a:p>
            <a:pPr algn="l">
              <a:spcAft>
                <a:spcPts val="400"/>
              </a:spcAft>
            </a:pPr>
            <a:r>
              <a:rPr sz="900" b="0">
                <a:solidFill>
                  <a:srgbClr val="5F6368"/>
                </a:solidFill>
                <a:latin typeface="Google Sans Flex"/>
                <a:ea typeface="Google Sans Flex"/>
                <a:cs typeface="Google Sans Flex"/>
                <a:sym typeface="Google Sans Flex"/>
              </a:rPr>
              <a:t>1  Shopper asks with a photo. Gemini shows what it understood; real shops of that kind are listed</a:t>
            </a:r>
          </a:p>
        </p:txBody>
      </p:sp>
      <p:pic>
        <p:nvPicPr>
          <p:cNvPr id="106" name="Picture 105" descr="w_req.jpg"/>
          <p:cNvPicPr>
            <a:picLocks noChangeAspect="1"/>
          </p:cNvPicPr>
          <p:nvPr/>
        </p:nvPicPr>
        <p:blipFill>
          <a:blip r:embed="rId6"/>
          <a:stretch>
            <a:fillRect/>
          </a:stretch>
        </p:blipFill>
        <p:spPr>
          <a:xfrm>
            <a:off x="4480560" y="1383498"/>
            <a:ext cx="1600199" cy="2728546"/>
          </a:xfrm>
          <a:prstGeom prst="rect">
            <a:avLst/>
          </a:prstGeom>
          <a:ln w="9525">
            <a:solidFill>
              <a:srgbClr val="DADCE0"/>
            </a:solidFill>
          </a:ln>
        </p:spPr>
      </p:pic>
      <p:sp>
        <p:nvSpPr>
          <p:cNvPr id="107" name="TextBox 106"/>
          <p:cNvSpPr txBox="1"/>
          <p:nvPr/>
        </p:nvSpPr>
        <p:spPr>
          <a:xfrm>
            <a:off x="4480560" y="4315968"/>
            <a:ext cx="1600200" cy="411480"/>
          </a:xfrm>
          <a:prstGeom prst="rect">
            <a:avLst/>
          </a:prstGeom>
          <a:noFill/>
        </p:spPr>
        <p:txBody>
          <a:bodyPr wrap="square" anchor="t" lIns="0" rIns="0" tIns="0" bIns="0">
            <a:spAutoFit/>
          </a:bodyPr>
          <a:lstStyle/>
          <a:p>
            <a:pPr algn="l">
              <a:spcAft>
                <a:spcPts val="400"/>
              </a:spcAft>
            </a:pPr>
            <a:r>
              <a:rPr sz="900" b="0">
                <a:solidFill>
                  <a:srgbClr val="5F6368"/>
                </a:solidFill>
                <a:latin typeface="Google Sans Flex"/>
                <a:ea typeface="Google Sans Flex"/>
                <a:cs typeface="Google Sans Flex"/>
                <a:sym typeface="Google Sans Flex"/>
              </a:rPr>
              <a:t>2  The shop opens the link: request and shopper's photo; replies with one photo</a:t>
            </a:r>
          </a:p>
        </p:txBody>
      </p:sp>
      <p:pic>
        <p:nvPicPr>
          <p:cNvPr id="108" name="Picture 107" descr="w_conf.jpg"/>
          <p:cNvPicPr>
            <a:picLocks noChangeAspect="1"/>
          </p:cNvPicPr>
          <p:nvPr/>
        </p:nvPicPr>
        <p:blipFill>
          <a:blip r:embed="rId7"/>
          <a:stretch>
            <a:fillRect/>
          </a:stretch>
        </p:blipFill>
        <p:spPr>
          <a:xfrm>
            <a:off x="6263640" y="1345398"/>
            <a:ext cx="2514600" cy="2804746"/>
          </a:xfrm>
          <a:prstGeom prst="rect">
            <a:avLst/>
          </a:prstGeom>
          <a:ln w="9525">
            <a:solidFill>
              <a:srgbClr val="DADCE0"/>
            </a:solidFill>
          </a:ln>
        </p:spPr>
      </p:pic>
      <p:sp>
        <p:nvSpPr>
          <p:cNvPr id="109" name="TextBox 108"/>
          <p:cNvSpPr txBox="1"/>
          <p:nvPr/>
        </p:nvSpPr>
        <p:spPr>
          <a:xfrm>
            <a:off x="6263640" y="4315968"/>
            <a:ext cx="2514600" cy="411480"/>
          </a:xfrm>
          <a:prstGeom prst="rect">
            <a:avLst/>
          </a:prstGeom>
          <a:noFill/>
        </p:spPr>
        <p:txBody>
          <a:bodyPr wrap="square" anchor="t" lIns="0" rIns="0" tIns="0" bIns="0">
            <a:spAutoFit/>
          </a:bodyPr>
          <a:lstStyle/>
          <a:p>
            <a:pPr algn="l">
              <a:spcAft>
                <a:spcPts val="400"/>
              </a:spcAft>
            </a:pPr>
            <a:r>
              <a:rPr sz="900" b="0">
                <a:solidFill>
                  <a:srgbClr val="5F6368"/>
                </a:solidFill>
                <a:latin typeface="Google Sans Flex"/>
                <a:ea typeface="Google Sans Flex"/>
                <a:cs typeface="Google Sans Flex"/>
                <a:sym typeface="Google Sans Flex"/>
              </a:rPr>
              <a:t>3  Gemini Vision reads the reply. A red check shirt is flagged as a conflict, with reasons</a:t>
            </a: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pic>
        <p:nvPicPr>
          <p:cNvPr id="108" name="Google Shape;108;p20"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109" name="Google Shape;109;p20"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110" name="Google Shape;110;p20"/>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1" name="Google Shape;111;p20"/>
          <p:cNvSpPr txBox="1"/>
          <p:nvPr/>
        </p:nvSpPr>
        <p:spPr>
          <a:xfrm>
            <a:off x="265350" y="663825"/>
            <a:ext cx="8943000" cy="50292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latin typeface="Google Sans Flex Medium"/>
                <a:ea typeface="Google Sans Flex Medium"/>
                <a:cs typeface="Google Sans Flex Medium"/>
                <a:sym typeface="Google Sans Flex Medium"/>
              </a:rPr>
              <a:t>Architecture</a:t>
            </a:r>
            <a:endParaRPr sz="1600">
              <a:latin typeface="Google Sans Flex Medium"/>
              <a:ea typeface="Google Sans Flex Medium"/>
              <a:cs typeface="Google Sans Flex Medium"/>
              <a:sym typeface="Google Sans Flex Medium"/>
            </a:endParaRPr>
          </a:p>
        </p:txBody>
      </p:sp>
      <p:pic>
        <p:nvPicPr>
          <p:cNvPr id="112" name="Picture 111" descr="architecture.png"/>
          <p:cNvPicPr>
            <a:picLocks noChangeAspect="1"/>
          </p:cNvPicPr>
          <p:nvPr/>
        </p:nvPicPr>
        <p:blipFill>
          <a:blip r:embed="rId5"/>
          <a:stretch>
            <a:fillRect/>
          </a:stretch>
        </p:blipFill>
        <p:spPr>
          <a:xfrm>
            <a:off x="750013" y="1188720"/>
            <a:ext cx="7643973" cy="3401568"/>
          </a:xfrm>
          <a:prstGeom prst="rect">
            <a:avLst/>
          </a:prstGeom>
        </p:spPr>
      </p:pic>
      <p:sp>
        <p:nvSpPr>
          <p:cNvPr id="113" name="TextBox 112"/>
          <p:cNvSpPr txBox="1"/>
          <p:nvPr/>
        </p:nvSpPr>
        <p:spPr>
          <a:xfrm>
            <a:off x="365760" y="4617720"/>
            <a:ext cx="8412480" cy="274320"/>
          </a:xfrm>
          <a:prstGeom prst="rect">
            <a:avLst/>
          </a:prstGeom>
          <a:noFill/>
        </p:spPr>
        <p:txBody>
          <a:bodyPr wrap="square" anchor="t" lIns="0" rIns="0" tIns="0" bIns="0">
            <a:spAutoFit/>
          </a:bodyPr>
          <a:lstStyle/>
          <a:p>
            <a:pPr algn="l">
              <a:spcAft>
                <a:spcPts val="400"/>
              </a:spcAft>
            </a:pPr>
            <a:r>
              <a:rPr sz="850" b="0">
                <a:solidFill>
                  <a:srgbClr val="5F6368"/>
                </a:solidFill>
                <a:latin typeface="Google Sans Flex"/>
                <a:ea typeface="Google Sans Flex"/>
                <a:cs typeface="Google Sans Flex"/>
                <a:sym typeface="Google Sans Flex"/>
              </a:rPr>
              <a:t>One Cloud Run service (max 1 instance) serves the React app and the FastAPI API. Gemini proposes; code and the decision engine decide. Not used: Firebase, Firestore, AlloyDB/Cloud SQL.</a:t>
            </a: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pic>
        <p:nvPicPr>
          <p:cNvPr id="116" name="Google Shape;116;p21"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117" name="Google Shape;117;p21"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118" name="Google Shape;118;p21"/>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9" name="Google Shape;119;p21"/>
          <p:cNvSpPr txBox="1"/>
          <p:nvPr/>
        </p:nvSpPr>
        <p:spPr>
          <a:xfrm>
            <a:off x="265350" y="663825"/>
            <a:ext cx="8943000" cy="50292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latin typeface="Google Sans Flex Medium"/>
                <a:ea typeface="Google Sans Flex Medium"/>
                <a:cs typeface="Google Sans Flex Medium"/>
                <a:sym typeface="Google Sans Flex Medium"/>
              </a:rPr>
              <a:t>Technologies used</a:t>
            </a:r>
            <a:endParaRPr sz="1600">
              <a:latin typeface="Google Sans Flex Medium"/>
              <a:ea typeface="Google Sans Flex Medium"/>
              <a:cs typeface="Google Sans Flex Medium"/>
              <a:sym typeface="Google Sans Flex Medium"/>
            </a:endParaRPr>
          </a:p>
        </p:txBody>
      </p:sp>
      <p:sp>
        <p:nvSpPr>
          <p:cNvPr id="120" name="TextBox 119"/>
          <p:cNvSpPr txBox="1"/>
          <p:nvPr/>
        </p:nvSpPr>
        <p:spPr>
          <a:xfrm>
            <a:off x="365760" y="1216152"/>
            <a:ext cx="4206240" cy="274320"/>
          </a:xfrm>
          <a:prstGeom prst="rect">
            <a:avLst/>
          </a:prstGeom>
          <a:noFill/>
        </p:spPr>
        <p:txBody>
          <a:bodyPr wrap="square" anchor="t" lIns="0" rIns="0" tIns="0" bIns="0">
            <a:spAutoFit/>
          </a:bodyPr>
          <a:lstStyle/>
          <a:p>
            <a:pPr algn="l">
              <a:spcAft>
                <a:spcPts val="400"/>
              </a:spcAft>
            </a:pPr>
            <a:r>
              <a:rPr sz="1250" b="0">
                <a:solidFill>
                  <a:srgbClr val="202124"/>
                </a:solidFill>
                <a:latin typeface="Google Sans Flex Medium"/>
                <a:ea typeface="Google Sans Flex Medium"/>
                <a:cs typeface="Google Sans Flex Medium"/>
                <a:sym typeface="Google Sans Flex Medium"/>
              </a:rPr>
              <a:t>Google Cloud and Maps</a:t>
            </a:r>
          </a:p>
        </p:txBody>
      </p:sp>
      <p:sp>
        <p:nvSpPr>
          <p:cNvPr id="121" name="Oval 120"/>
          <p:cNvSpPr/>
          <p:nvPr/>
        </p:nvSpPr>
        <p:spPr>
          <a:xfrm>
            <a:off x="365760" y="1609344"/>
            <a:ext cx="118872" cy="118872"/>
          </a:xfrm>
          <a:prstGeom prst="ellipse">
            <a:avLst/>
          </a:prstGeom>
          <a:solidFill>
            <a:srgbClr val="1A73E8"/>
          </a:solidFill>
          <a:ln>
            <a:noFill/>
          </a:ln>
        </p:spPr>
        <p:txBody>
          <a:bodyPr rtlCol="0" anchor="ctr" lIns="0" rIns="0" tIns="0" bIns="0"/>
          <a:lstStyle/>
          <a:p>
            <a:pPr algn="ctr"/>
            <a:r>
              <a:rPr sz="500" b="0">
                <a:solidFill>
                  <a:srgbClr val="FFFFFF"/>
                </a:solidFill>
                <a:latin typeface="Google Sans Flex Medium"/>
                <a:ea typeface="Google Sans Flex Medium"/>
                <a:cs typeface="Google Sans Flex Medium"/>
                <a:sym typeface="Google Sans Flex Medium"/>
              </a:rPr>
              <a:t/>
            </a:r>
          </a:p>
        </p:txBody>
      </p:sp>
      <p:sp>
        <p:nvSpPr>
          <p:cNvPr id="122" name="TextBox 121"/>
          <p:cNvSpPr txBox="1"/>
          <p:nvPr/>
        </p:nvSpPr>
        <p:spPr>
          <a:xfrm>
            <a:off x="566928" y="1554480"/>
            <a:ext cx="3931920" cy="420624"/>
          </a:xfrm>
          <a:prstGeom prst="rect">
            <a:avLst/>
          </a:prstGeom>
          <a:noFill/>
        </p:spPr>
        <p:txBody>
          <a:bodyPr wrap="square" anchor="t" lIns="0" rIns="0" tIns="0" bIns="0">
            <a:spAutoFit/>
          </a:bodyPr>
          <a:lstStyle/>
          <a:p>
            <a:pPr algn="l">
              <a:spcAft>
                <a:spcPts val="0"/>
              </a:spcAft>
            </a:pPr>
            <a:r>
              <a:rPr sz="1050" b="0">
                <a:solidFill>
                  <a:srgbClr val="202124"/>
                </a:solidFill>
                <a:latin typeface="Google Sans Flex Medium"/>
                <a:ea typeface="Google Sans Flex Medium"/>
                <a:cs typeface="Google Sans Flex Medium"/>
                <a:sym typeface="Google Sans Flex Medium"/>
              </a:rPr>
              <a:t>Gemini 2.5 Flash-Lite on Vertex AI</a:t>
            </a:r>
          </a:p>
          <a:p>
            <a:pPr algn="l">
              <a:spcAft>
                <a:spcPts val="0"/>
              </a:spcAft>
            </a:pPr>
            <a:r>
              <a:rPr sz="900" b="0">
                <a:solidFill>
                  <a:srgbClr val="5F6368"/>
                </a:solidFill>
                <a:latin typeface="Google Sans Flex"/>
                <a:ea typeface="Google Sans Flex"/>
                <a:cs typeface="Google Sans Flex"/>
                <a:sym typeface="Google Sans Flex"/>
              </a:rPr>
              <a:t>Intent, routing, agent tool calls, photo reading, drafts, advice</a:t>
            </a:r>
          </a:p>
        </p:txBody>
      </p:sp>
      <p:sp>
        <p:nvSpPr>
          <p:cNvPr id="123" name="Oval 122"/>
          <p:cNvSpPr/>
          <p:nvPr/>
        </p:nvSpPr>
        <p:spPr>
          <a:xfrm>
            <a:off x="365760" y="2039112"/>
            <a:ext cx="118872" cy="118872"/>
          </a:xfrm>
          <a:prstGeom prst="ellipse">
            <a:avLst/>
          </a:prstGeom>
          <a:solidFill>
            <a:srgbClr val="1A73E8"/>
          </a:solidFill>
          <a:ln>
            <a:noFill/>
          </a:ln>
        </p:spPr>
        <p:txBody>
          <a:bodyPr rtlCol="0" anchor="ctr" lIns="0" rIns="0" tIns="0" bIns="0"/>
          <a:lstStyle/>
          <a:p>
            <a:pPr algn="ctr"/>
            <a:r>
              <a:rPr sz="500" b="0">
                <a:solidFill>
                  <a:srgbClr val="FFFFFF"/>
                </a:solidFill>
                <a:latin typeface="Google Sans Flex Medium"/>
                <a:ea typeface="Google Sans Flex Medium"/>
                <a:cs typeface="Google Sans Flex Medium"/>
                <a:sym typeface="Google Sans Flex Medium"/>
              </a:rPr>
              <a:t/>
            </a:r>
          </a:p>
        </p:txBody>
      </p:sp>
      <p:sp>
        <p:nvSpPr>
          <p:cNvPr id="124" name="TextBox 123"/>
          <p:cNvSpPr txBox="1"/>
          <p:nvPr/>
        </p:nvSpPr>
        <p:spPr>
          <a:xfrm>
            <a:off x="566928" y="1984248"/>
            <a:ext cx="3931920" cy="420624"/>
          </a:xfrm>
          <a:prstGeom prst="rect">
            <a:avLst/>
          </a:prstGeom>
          <a:noFill/>
        </p:spPr>
        <p:txBody>
          <a:bodyPr wrap="square" anchor="t" lIns="0" rIns="0" tIns="0" bIns="0">
            <a:spAutoFit/>
          </a:bodyPr>
          <a:lstStyle/>
          <a:p>
            <a:pPr algn="l">
              <a:spcAft>
                <a:spcPts val="0"/>
              </a:spcAft>
            </a:pPr>
            <a:r>
              <a:rPr sz="1050" b="0">
                <a:solidFill>
                  <a:srgbClr val="202124"/>
                </a:solidFill>
                <a:latin typeface="Google Sans Flex Medium"/>
                <a:ea typeface="Google Sans Flex Medium"/>
                <a:cs typeface="Google Sans Flex Medium"/>
                <a:sym typeface="Google Sans Flex Medium"/>
              </a:rPr>
              <a:t>Vertex AI Search</a:t>
            </a:r>
          </a:p>
          <a:p>
            <a:pPr algn="l">
              <a:spcAft>
                <a:spcPts val="0"/>
              </a:spcAft>
            </a:pPr>
            <a:r>
              <a:rPr sz="900" b="0">
                <a:solidFill>
                  <a:srgbClr val="5F6368"/>
                </a:solidFill>
                <a:latin typeface="Google Sans Flex"/>
                <a:ea typeface="Google Sans Flex"/>
                <a:cs typeface="Google Sans Flex"/>
                <a:sym typeface="Google Sans Flex"/>
              </a:rPr>
              <a:t>Finds the requested item in a shop's uploaded stock</a:t>
            </a:r>
          </a:p>
        </p:txBody>
      </p:sp>
      <p:sp>
        <p:nvSpPr>
          <p:cNvPr id="125" name="Oval 124"/>
          <p:cNvSpPr/>
          <p:nvPr/>
        </p:nvSpPr>
        <p:spPr>
          <a:xfrm>
            <a:off x="365760" y="2468879"/>
            <a:ext cx="118872" cy="118872"/>
          </a:xfrm>
          <a:prstGeom prst="ellipse">
            <a:avLst/>
          </a:prstGeom>
          <a:solidFill>
            <a:srgbClr val="F9AB00"/>
          </a:solidFill>
          <a:ln>
            <a:noFill/>
          </a:ln>
        </p:spPr>
        <p:txBody>
          <a:bodyPr rtlCol="0" anchor="ctr" lIns="0" rIns="0" tIns="0" bIns="0"/>
          <a:lstStyle/>
          <a:p>
            <a:pPr algn="ctr"/>
            <a:r>
              <a:rPr sz="500" b="0">
                <a:solidFill>
                  <a:srgbClr val="FFFFFF"/>
                </a:solidFill>
                <a:latin typeface="Google Sans Flex Medium"/>
                <a:ea typeface="Google Sans Flex Medium"/>
                <a:cs typeface="Google Sans Flex Medium"/>
                <a:sym typeface="Google Sans Flex Medium"/>
              </a:rPr>
              <a:t/>
            </a:r>
          </a:p>
        </p:txBody>
      </p:sp>
      <p:sp>
        <p:nvSpPr>
          <p:cNvPr id="126" name="TextBox 125"/>
          <p:cNvSpPr txBox="1"/>
          <p:nvPr/>
        </p:nvSpPr>
        <p:spPr>
          <a:xfrm>
            <a:off x="566928" y="2414015"/>
            <a:ext cx="3931920" cy="420624"/>
          </a:xfrm>
          <a:prstGeom prst="rect">
            <a:avLst/>
          </a:prstGeom>
          <a:noFill/>
        </p:spPr>
        <p:txBody>
          <a:bodyPr wrap="square" anchor="t" lIns="0" rIns="0" tIns="0" bIns="0">
            <a:spAutoFit/>
          </a:bodyPr>
          <a:lstStyle/>
          <a:p>
            <a:pPr algn="l">
              <a:spcAft>
                <a:spcPts val="0"/>
              </a:spcAft>
            </a:pPr>
            <a:r>
              <a:rPr sz="1050" b="0">
                <a:solidFill>
                  <a:srgbClr val="202124"/>
                </a:solidFill>
                <a:latin typeface="Google Sans Flex Medium"/>
                <a:ea typeface="Google Sans Flex Medium"/>
                <a:cs typeface="Google Sans Flex Medium"/>
                <a:sym typeface="Google Sans Flex Medium"/>
              </a:rPr>
              <a:t>BigQuery · BigQuery ML · BigQuery AI</a:t>
            </a:r>
          </a:p>
          <a:p>
            <a:pPr algn="l">
              <a:spcAft>
                <a:spcPts val="0"/>
              </a:spcAft>
            </a:pPr>
            <a:r>
              <a:rPr sz="900" b="0">
                <a:solidFill>
                  <a:srgbClr val="5F6368"/>
                </a:solidFill>
                <a:latin typeface="Google Sans Flex"/>
                <a:ea typeface="Google Sans Flex"/>
                <a:cs typeface="Google Sans Flex"/>
                <a:sym typeface="Google Sans Flex"/>
              </a:rPr>
              <a:t>Demand views, ARIMA_PLUS forecast, AI.GENERATE brief</a:t>
            </a:r>
          </a:p>
        </p:txBody>
      </p:sp>
      <p:sp>
        <p:nvSpPr>
          <p:cNvPr id="127" name="Oval 126"/>
          <p:cNvSpPr/>
          <p:nvPr/>
        </p:nvSpPr>
        <p:spPr>
          <a:xfrm>
            <a:off x="365760" y="2898647"/>
            <a:ext cx="118872" cy="118872"/>
          </a:xfrm>
          <a:prstGeom prst="ellipse">
            <a:avLst/>
          </a:prstGeom>
          <a:solidFill>
            <a:srgbClr val="1A73E8"/>
          </a:solidFill>
          <a:ln>
            <a:noFill/>
          </a:ln>
        </p:spPr>
        <p:txBody>
          <a:bodyPr rtlCol="0" anchor="ctr" lIns="0" rIns="0" tIns="0" bIns="0"/>
          <a:lstStyle/>
          <a:p>
            <a:pPr algn="ctr"/>
            <a:r>
              <a:rPr sz="500" b="0">
                <a:solidFill>
                  <a:srgbClr val="FFFFFF"/>
                </a:solidFill>
                <a:latin typeface="Google Sans Flex Medium"/>
                <a:ea typeface="Google Sans Flex Medium"/>
                <a:cs typeface="Google Sans Flex Medium"/>
                <a:sym typeface="Google Sans Flex Medium"/>
              </a:rPr>
              <a:t/>
            </a:r>
          </a:p>
        </p:txBody>
      </p:sp>
      <p:sp>
        <p:nvSpPr>
          <p:cNvPr id="128" name="TextBox 127"/>
          <p:cNvSpPr txBox="1"/>
          <p:nvPr/>
        </p:nvSpPr>
        <p:spPr>
          <a:xfrm>
            <a:off x="566928" y="2843783"/>
            <a:ext cx="3931920" cy="420624"/>
          </a:xfrm>
          <a:prstGeom prst="rect">
            <a:avLst/>
          </a:prstGeom>
          <a:noFill/>
        </p:spPr>
        <p:txBody>
          <a:bodyPr wrap="square" anchor="t" lIns="0" rIns="0" tIns="0" bIns="0">
            <a:spAutoFit/>
          </a:bodyPr>
          <a:lstStyle/>
          <a:p>
            <a:pPr algn="l">
              <a:spcAft>
                <a:spcPts val="0"/>
              </a:spcAft>
            </a:pPr>
            <a:r>
              <a:rPr sz="1050" b="0">
                <a:solidFill>
                  <a:srgbClr val="202124"/>
                </a:solidFill>
                <a:latin typeface="Google Sans Flex Medium"/>
                <a:ea typeface="Google Sans Flex Medium"/>
                <a:cs typeface="Google Sans Flex Medium"/>
                <a:sym typeface="Google Sans Flex Medium"/>
              </a:rPr>
              <a:t>Cloud Run + Cloud Build</a:t>
            </a:r>
          </a:p>
          <a:p>
            <a:pPr algn="l">
              <a:spcAft>
                <a:spcPts val="0"/>
              </a:spcAft>
            </a:pPr>
            <a:r>
              <a:rPr sz="900" b="0">
                <a:solidFill>
                  <a:srgbClr val="5F6368"/>
                </a:solidFill>
                <a:latin typeface="Google Sans Flex"/>
                <a:ea typeface="Google Sans Flex"/>
                <a:cs typeface="Google Sans Flex"/>
                <a:sym typeface="Google Sans Flex"/>
              </a:rPr>
              <a:t>One container: React app and FastAPI API, built from source</a:t>
            </a:r>
          </a:p>
        </p:txBody>
      </p:sp>
      <p:sp>
        <p:nvSpPr>
          <p:cNvPr id="129" name="Oval 128"/>
          <p:cNvSpPr/>
          <p:nvPr/>
        </p:nvSpPr>
        <p:spPr>
          <a:xfrm>
            <a:off x="365760" y="3328415"/>
            <a:ext cx="118872" cy="118872"/>
          </a:xfrm>
          <a:prstGeom prst="ellipse">
            <a:avLst/>
          </a:prstGeom>
          <a:solidFill>
            <a:srgbClr val="1E8E3E"/>
          </a:solidFill>
          <a:ln>
            <a:noFill/>
          </a:ln>
        </p:spPr>
        <p:txBody>
          <a:bodyPr rtlCol="0" anchor="ctr" lIns="0" rIns="0" tIns="0" bIns="0"/>
          <a:lstStyle/>
          <a:p>
            <a:pPr algn="ctr"/>
            <a:r>
              <a:rPr sz="500" b="0">
                <a:solidFill>
                  <a:srgbClr val="FFFFFF"/>
                </a:solidFill>
                <a:latin typeface="Google Sans Flex Medium"/>
                <a:ea typeface="Google Sans Flex Medium"/>
                <a:cs typeface="Google Sans Flex Medium"/>
                <a:sym typeface="Google Sans Flex Medium"/>
              </a:rPr>
              <a:t/>
            </a:r>
          </a:p>
        </p:txBody>
      </p:sp>
      <p:sp>
        <p:nvSpPr>
          <p:cNvPr id="130" name="TextBox 129"/>
          <p:cNvSpPr txBox="1"/>
          <p:nvPr/>
        </p:nvSpPr>
        <p:spPr>
          <a:xfrm>
            <a:off x="566928" y="3273551"/>
            <a:ext cx="3931920" cy="420624"/>
          </a:xfrm>
          <a:prstGeom prst="rect">
            <a:avLst/>
          </a:prstGeom>
          <a:noFill/>
        </p:spPr>
        <p:txBody>
          <a:bodyPr wrap="square" anchor="t" lIns="0" rIns="0" tIns="0" bIns="0">
            <a:spAutoFit/>
          </a:bodyPr>
          <a:lstStyle/>
          <a:p>
            <a:pPr algn="l">
              <a:spcAft>
                <a:spcPts val="0"/>
              </a:spcAft>
            </a:pPr>
            <a:r>
              <a:rPr sz="1050" b="0">
                <a:solidFill>
                  <a:srgbClr val="202124"/>
                </a:solidFill>
                <a:latin typeface="Google Sans Flex Medium"/>
                <a:ea typeface="Google Sans Flex Medium"/>
                <a:cs typeface="Google Sans Flex Medium"/>
                <a:sym typeface="Google Sans Flex Medium"/>
              </a:rPr>
              <a:t>Cloud Storage</a:t>
            </a:r>
          </a:p>
          <a:p>
            <a:pPr algn="l">
              <a:spcAft>
                <a:spcPts val="0"/>
              </a:spcAft>
            </a:pPr>
            <a:r>
              <a:rPr sz="900" b="0">
                <a:solidFill>
                  <a:srgbClr val="5F6368"/>
                </a:solidFill>
                <a:latin typeface="Google Sans Flex"/>
                <a:ea typeface="Google Sans Flex"/>
                <a:cs typeface="Google Sans Flex"/>
                <a:sym typeface="Google Sans Flex"/>
              </a:rPr>
              <a:t>Shopper and shop photos (private) and app-state snapshots</a:t>
            </a:r>
          </a:p>
        </p:txBody>
      </p:sp>
      <p:sp>
        <p:nvSpPr>
          <p:cNvPr id="131" name="Oval 130"/>
          <p:cNvSpPr/>
          <p:nvPr/>
        </p:nvSpPr>
        <p:spPr>
          <a:xfrm>
            <a:off x="365760" y="3758183"/>
            <a:ext cx="118872" cy="118872"/>
          </a:xfrm>
          <a:prstGeom prst="ellipse">
            <a:avLst/>
          </a:prstGeom>
          <a:solidFill>
            <a:srgbClr val="D93025"/>
          </a:solidFill>
          <a:ln>
            <a:noFill/>
          </a:ln>
        </p:spPr>
        <p:txBody>
          <a:bodyPr rtlCol="0" anchor="ctr" lIns="0" rIns="0" tIns="0" bIns="0"/>
          <a:lstStyle/>
          <a:p>
            <a:pPr algn="ctr"/>
            <a:r>
              <a:rPr sz="500" b="0">
                <a:solidFill>
                  <a:srgbClr val="FFFFFF"/>
                </a:solidFill>
                <a:latin typeface="Google Sans Flex Medium"/>
                <a:ea typeface="Google Sans Flex Medium"/>
                <a:cs typeface="Google Sans Flex Medium"/>
                <a:sym typeface="Google Sans Flex Medium"/>
              </a:rPr>
              <a:t/>
            </a:r>
          </a:p>
        </p:txBody>
      </p:sp>
      <p:sp>
        <p:nvSpPr>
          <p:cNvPr id="132" name="TextBox 131"/>
          <p:cNvSpPr txBox="1"/>
          <p:nvPr/>
        </p:nvSpPr>
        <p:spPr>
          <a:xfrm>
            <a:off x="566928" y="3703319"/>
            <a:ext cx="3931920" cy="420624"/>
          </a:xfrm>
          <a:prstGeom prst="rect">
            <a:avLst/>
          </a:prstGeom>
          <a:noFill/>
        </p:spPr>
        <p:txBody>
          <a:bodyPr wrap="square" anchor="t" lIns="0" rIns="0" tIns="0" bIns="0">
            <a:spAutoFit/>
          </a:bodyPr>
          <a:lstStyle/>
          <a:p>
            <a:pPr algn="l">
              <a:spcAft>
                <a:spcPts val="0"/>
              </a:spcAft>
            </a:pPr>
            <a:r>
              <a:rPr sz="1050" b="0">
                <a:solidFill>
                  <a:srgbClr val="202124"/>
                </a:solidFill>
                <a:latin typeface="Google Sans Flex Medium"/>
                <a:ea typeface="Google Sans Flex Medium"/>
                <a:cs typeface="Google Sans Flex Medium"/>
                <a:sym typeface="Google Sans Flex Medium"/>
              </a:rPr>
              <a:t>Maps Platform</a:t>
            </a:r>
          </a:p>
          <a:p>
            <a:pPr algn="l">
              <a:spcAft>
                <a:spcPts val="0"/>
              </a:spcAft>
            </a:pPr>
            <a:r>
              <a:rPr sz="900" b="0">
                <a:solidFill>
                  <a:srgbClr val="5F6368"/>
                </a:solidFill>
                <a:latin typeface="Google Sans Flex"/>
                <a:ea typeface="Google Sans Flex"/>
                <a:cs typeface="Google Sans Flex"/>
                <a:sym typeface="Google Sans Flex"/>
              </a:rPr>
              <a:t>Places API (New) real shops · Geocoding · Maps Static</a:t>
            </a:r>
          </a:p>
        </p:txBody>
      </p:sp>
      <p:sp>
        <p:nvSpPr>
          <p:cNvPr id="133" name="Oval 132"/>
          <p:cNvSpPr/>
          <p:nvPr/>
        </p:nvSpPr>
        <p:spPr>
          <a:xfrm>
            <a:off x="365760" y="4187951"/>
            <a:ext cx="118872" cy="118872"/>
          </a:xfrm>
          <a:prstGeom prst="ellipse">
            <a:avLst/>
          </a:prstGeom>
          <a:solidFill>
            <a:srgbClr val="F9AB00"/>
          </a:solidFill>
          <a:ln>
            <a:noFill/>
          </a:ln>
        </p:spPr>
        <p:txBody>
          <a:bodyPr rtlCol="0" anchor="ctr" lIns="0" rIns="0" tIns="0" bIns="0"/>
          <a:lstStyle/>
          <a:p>
            <a:pPr algn="ctr"/>
            <a:r>
              <a:rPr sz="500" b="0">
                <a:solidFill>
                  <a:srgbClr val="FFFFFF"/>
                </a:solidFill>
                <a:latin typeface="Google Sans Flex Medium"/>
                <a:ea typeface="Google Sans Flex Medium"/>
                <a:cs typeface="Google Sans Flex Medium"/>
                <a:sym typeface="Google Sans Flex Medium"/>
              </a:rPr>
              <a:t/>
            </a:r>
          </a:p>
        </p:txBody>
      </p:sp>
      <p:sp>
        <p:nvSpPr>
          <p:cNvPr id="134" name="TextBox 133"/>
          <p:cNvSpPr txBox="1"/>
          <p:nvPr/>
        </p:nvSpPr>
        <p:spPr>
          <a:xfrm>
            <a:off x="566928" y="4133087"/>
            <a:ext cx="3931920" cy="420624"/>
          </a:xfrm>
          <a:prstGeom prst="rect">
            <a:avLst/>
          </a:prstGeom>
          <a:noFill/>
        </p:spPr>
        <p:txBody>
          <a:bodyPr wrap="square" anchor="t" lIns="0" rIns="0" tIns="0" bIns="0">
            <a:spAutoFit/>
          </a:bodyPr>
          <a:lstStyle/>
          <a:p>
            <a:pPr algn="l">
              <a:spcAft>
                <a:spcPts val="0"/>
              </a:spcAft>
            </a:pPr>
            <a:r>
              <a:rPr sz="1050" b="0">
                <a:solidFill>
                  <a:srgbClr val="202124"/>
                </a:solidFill>
                <a:latin typeface="Google Sans Flex Medium"/>
                <a:ea typeface="Google Sans Flex Medium"/>
                <a:cs typeface="Google Sans Flex Medium"/>
                <a:sym typeface="Google Sans Flex Medium"/>
              </a:rPr>
              <a:t>Looker Studio</a:t>
            </a:r>
          </a:p>
          <a:p>
            <a:pPr algn="l">
              <a:spcAft>
                <a:spcPts val="0"/>
              </a:spcAft>
            </a:pPr>
            <a:r>
              <a:rPr sz="900" b="0">
                <a:solidFill>
                  <a:srgbClr val="5F6368"/>
                </a:solidFill>
                <a:latin typeface="Google Sans Flex"/>
                <a:ea typeface="Google Sans Flex"/>
                <a:cs typeface="Google Sans Flex"/>
                <a:sym typeface="Google Sans Flex"/>
              </a:rPr>
              <a:t>Report on the BigQuery views (link prepared)</a:t>
            </a:r>
          </a:p>
        </p:txBody>
      </p:sp>
      <p:sp>
        <p:nvSpPr>
          <p:cNvPr id="135" name="TextBox 134"/>
          <p:cNvSpPr txBox="1"/>
          <p:nvPr/>
        </p:nvSpPr>
        <p:spPr>
          <a:xfrm>
            <a:off x="4800600" y="1216152"/>
            <a:ext cx="3931920" cy="274320"/>
          </a:xfrm>
          <a:prstGeom prst="rect">
            <a:avLst/>
          </a:prstGeom>
          <a:noFill/>
        </p:spPr>
        <p:txBody>
          <a:bodyPr wrap="square" anchor="t" lIns="0" rIns="0" tIns="0" bIns="0">
            <a:spAutoFit/>
          </a:bodyPr>
          <a:lstStyle/>
          <a:p>
            <a:pPr algn="l">
              <a:spcAft>
                <a:spcPts val="400"/>
              </a:spcAft>
            </a:pPr>
            <a:r>
              <a:rPr sz="1250" b="0">
                <a:solidFill>
                  <a:srgbClr val="202124"/>
                </a:solidFill>
                <a:latin typeface="Google Sans Flex Medium"/>
                <a:ea typeface="Google Sans Flex Medium"/>
                <a:cs typeface="Google Sans Flex Medium"/>
                <a:sym typeface="Google Sans Flex Medium"/>
              </a:rPr>
              <a:t>Engineering</a:t>
            </a:r>
          </a:p>
        </p:txBody>
      </p:sp>
      <p:sp>
        <p:nvSpPr>
          <p:cNvPr id="136" name="TextBox 135"/>
          <p:cNvSpPr txBox="1"/>
          <p:nvPr/>
        </p:nvSpPr>
        <p:spPr>
          <a:xfrm>
            <a:off x="4800600" y="1554480"/>
            <a:ext cx="3977639" cy="475488"/>
          </a:xfrm>
          <a:prstGeom prst="rect">
            <a:avLst/>
          </a:prstGeom>
          <a:noFill/>
        </p:spPr>
        <p:txBody>
          <a:bodyPr wrap="square" anchor="t" lIns="0" rIns="0" tIns="0" bIns="0">
            <a:spAutoFit/>
          </a:bodyPr>
          <a:lstStyle/>
          <a:p>
            <a:pPr algn="l">
              <a:spcAft>
                <a:spcPts val="400"/>
              </a:spcAft>
            </a:pPr>
            <a:r>
              <a:rPr sz="1050" b="0">
                <a:solidFill>
                  <a:srgbClr val="202124"/>
                </a:solidFill>
                <a:latin typeface="Google Sans Flex Medium"/>
                <a:ea typeface="Google Sans Flex Medium"/>
                <a:cs typeface="Google Sans Flex Medium"/>
                <a:sym typeface="Google Sans Flex Medium"/>
              </a:rPr>
              <a:t>Backend  </a:t>
            </a:r>
            <a:r>
              <a:rPr sz="950" b="0">
                <a:solidFill>
                  <a:srgbClr val="5F6368"/>
                </a:solidFill>
                <a:latin typeface="Google Sans Flex"/>
                <a:ea typeface="Google Sans Flex"/>
                <a:cs typeface="Google Sans Flex"/>
                <a:sym typeface="Google Sans Flex"/>
              </a:rPr>
              <a:t>Python, FastAPI, google-genai SDK, Pydantic schemas for every model output</a:t>
            </a:r>
          </a:p>
        </p:txBody>
      </p:sp>
      <p:sp>
        <p:nvSpPr>
          <p:cNvPr id="137" name="TextBox 136"/>
          <p:cNvSpPr txBox="1"/>
          <p:nvPr/>
        </p:nvSpPr>
        <p:spPr>
          <a:xfrm>
            <a:off x="4800600" y="2057400"/>
            <a:ext cx="3977639" cy="475488"/>
          </a:xfrm>
          <a:prstGeom prst="rect">
            <a:avLst/>
          </a:prstGeom>
          <a:noFill/>
        </p:spPr>
        <p:txBody>
          <a:bodyPr wrap="square" anchor="t" lIns="0" rIns="0" tIns="0" bIns="0">
            <a:spAutoFit/>
          </a:bodyPr>
          <a:lstStyle/>
          <a:p>
            <a:pPr algn="l">
              <a:spcAft>
                <a:spcPts val="400"/>
              </a:spcAft>
            </a:pPr>
            <a:r>
              <a:rPr sz="1050" b="0">
                <a:solidFill>
                  <a:srgbClr val="202124"/>
                </a:solidFill>
                <a:latin typeface="Google Sans Flex Medium"/>
                <a:ea typeface="Google Sans Flex Medium"/>
                <a:cs typeface="Google Sans Flex Medium"/>
                <a:sym typeface="Google Sans Flex Medium"/>
              </a:rPr>
              <a:t>Frontend  </a:t>
            </a:r>
            <a:r>
              <a:rPr sz="950" b="0">
                <a:solidFill>
                  <a:srgbClr val="5F6368"/>
                </a:solidFill>
                <a:latin typeface="Google Sans Flex"/>
                <a:ea typeface="Google Sans Flex"/>
                <a:cs typeface="Google Sans Flex"/>
                <a:sym typeface="Google Sans Flex"/>
              </a:rPr>
              <a:t>React 19, Vite, Tailwind; Google Sans; role-based screens</a:t>
            </a:r>
          </a:p>
        </p:txBody>
      </p:sp>
      <p:sp>
        <p:nvSpPr>
          <p:cNvPr id="138" name="TextBox 137"/>
          <p:cNvSpPr txBox="1"/>
          <p:nvPr/>
        </p:nvSpPr>
        <p:spPr>
          <a:xfrm>
            <a:off x="4800600" y="2560320"/>
            <a:ext cx="3977639" cy="475488"/>
          </a:xfrm>
          <a:prstGeom prst="rect">
            <a:avLst/>
          </a:prstGeom>
          <a:noFill/>
        </p:spPr>
        <p:txBody>
          <a:bodyPr wrap="square" anchor="t" lIns="0" rIns="0" tIns="0" bIns="0">
            <a:spAutoFit/>
          </a:bodyPr>
          <a:lstStyle/>
          <a:p>
            <a:pPr algn="l">
              <a:spcAft>
                <a:spcPts val="400"/>
              </a:spcAft>
            </a:pPr>
            <a:r>
              <a:rPr sz="1050" b="0">
                <a:solidFill>
                  <a:srgbClr val="202124"/>
                </a:solidFill>
                <a:latin typeface="Google Sans Flex Medium"/>
                <a:ea typeface="Google Sans Flex Medium"/>
                <a:cs typeface="Google Sans Flex Medium"/>
                <a:sym typeface="Google Sans Flex Medium"/>
              </a:rPr>
              <a:t>Decision engine  </a:t>
            </a:r>
            <a:r>
              <a:rPr sz="950" b="0">
                <a:solidFill>
                  <a:srgbClr val="5F6368"/>
                </a:solidFill>
                <a:latin typeface="Google Sans Flex"/>
                <a:ea typeface="Google Sans Flex"/>
                <a:cs typeface="Google Sans Flex"/>
                <a:sym typeface="Google Sans Flex"/>
              </a:rPr>
              <a:t>Trust states and next-best proof (17C–E), EVSI proof planner, OR-Tools CP-SAT basket solver</a:t>
            </a:r>
          </a:p>
        </p:txBody>
      </p:sp>
      <p:sp>
        <p:nvSpPr>
          <p:cNvPr id="139" name="TextBox 138"/>
          <p:cNvSpPr txBox="1"/>
          <p:nvPr/>
        </p:nvSpPr>
        <p:spPr>
          <a:xfrm>
            <a:off x="4800600" y="3063239"/>
            <a:ext cx="3977639" cy="475488"/>
          </a:xfrm>
          <a:prstGeom prst="rect">
            <a:avLst/>
          </a:prstGeom>
          <a:noFill/>
        </p:spPr>
        <p:txBody>
          <a:bodyPr wrap="square" anchor="t" lIns="0" rIns="0" tIns="0" bIns="0">
            <a:spAutoFit/>
          </a:bodyPr>
          <a:lstStyle/>
          <a:p>
            <a:pPr algn="l">
              <a:spcAft>
                <a:spcPts val="400"/>
              </a:spcAft>
            </a:pPr>
            <a:r>
              <a:rPr sz="1050" b="0">
                <a:solidFill>
                  <a:srgbClr val="202124"/>
                </a:solidFill>
                <a:latin typeface="Google Sans Flex Medium"/>
                <a:ea typeface="Google Sans Flex Medium"/>
                <a:cs typeface="Google Sans Flex Medium"/>
                <a:sym typeface="Google Sans Flex Medium"/>
              </a:rPr>
              <a:t>Analytics  </a:t>
            </a:r>
            <a:r>
              <a:rPr sz="950" b="0">
                <a:solidFill>
                  <a:srgbClr val="5F6368"/>
                </a:solidFill>
                <a:latin typeface="Google Sans Flex"/>
                <a:ea typeface="Google Sans Flex"/>
                <a:cs typeface="Google Sans Flex"/>
                <a:sym typeface="Google Sans Flex"/>
              </a:rPr>
              <a:t>Backtested forecasting (4 baselines), k-means customer groups, association rules, stock cover</a:t>
            </a:r>
          </a:p>
        </p:txBody>
      </p:sp>
      <p:sp>
        <p:nvSpPr>
          <p:cNvPr id="140" name="TextBox 139"/>
          <p:cNvSpPr txBox="1"/>
          <p:nvPr/>
        </p:nvSpPr>
        <p:spPr>
          <a:xfrm>
            <a:off x="4800600" y="3566159"/>
            <a:ext cx="3977639" cy="475488"/>
          </a:xfrm>
          <a:prstGeom prst="rect">
            <a:avLst/>
          </a:prstGeom>
          <a:noFill/>
        </p:spPr>
        <p:txBody>
          <a:bodyPr wrap="square" anchor="t" lIns="0" rIns="0" tIns="0" bIns="0">
            <a:spAutoFit/>
          </a:bodyPr>
          <a:lstStyle/>
          <a:p>
            <a:pPr algn="l">
              <a:spcAft>
                <a:spcPts val="400"/>
              </a:spcAft>
            </a:pPr>
            <a:r>
              <a:rPr sz="1050" b="0">
                <a:solidFill>
                  <a:srgbClr val="202124"/>
                </a:solidFill>
                <a:latin typeface="Google Sans Flex Medium"/>
                <a:ea typeface="Google Sans Flex Medium"/>
                <a:cs typeface="Google Sans Flex Medium"/>
                <a:sym typeface="Google Sans Flex Medium"/>
              </a:rPr>
              <a:t>Data  </a:t>
            </a:r>
            <a:r>
              <a:rPr sz="950" b="0">
                <a:solidFill>
                  <a:srgbClr val="5F6368"/>
                </a:solidFill>
                <a:latin typeface="Google Sans Flex"/>
                <a:ea typeface="Google Sans Flex"/>
                <a:cs typeface="Google Sans Flex"/>
                <a:sym typeface="Google Sans Flex"/>
              </a:rPr>
              <a:t>SQLite on Cloud Run, snapshotted to Cloud Storage; BigQuery for analytics</a:t>
            </a:r>
          </a:p>
        </p:txBody>
      </p:sp>
      <p:sp>
        <p:nvSpPr>
          <p:cNvPr id="141" name="TextBox 140"/>
          <p:cNvSpPr txBox="1"/>
          <p:nvPr/>
        </p:nvSpPr>
        <p:spPr>
          <a:xfrm>
            <a:off x="4800600" y="4069079"/>
            <a:ext cx="3977639" cy="475488"/>
          </a:xfrm>
          <a:prstGeom prst="rect">
            <a:avLst/>
          </a:prstGeom>
          <a:noFill/>
        </p:spPr>
        <p:txBody>
          <a:bodyPr wrap="square" anchor="t" lIns="0" rIns="0" tIns="0" bIns="0">
            <a:spAutoFit/>
          </a:bodyPr>
          <a:lstStyle/>
          <a:p>
            <a:pPr algn="l">
              <a:spcAft>
                <a:spcPts val="400"/>
              </a:spcAft>
            </a:pPr>
            <a:r>
              <a:rPr sz="1050" b="0">
                <a:solidFill>
                  <a:srgbClr val="202124"/>
                </a:solidFill>
                <a:latin typeface="Google Sans Flex Medium"/>
                <a:ea typeface="Google Sans Flex Medium"/>
                <a:cs typeface="Google Sans Flex Medium"/>
                <a:sym typeface="Google Sans Flex Medium"/>
              </a:rPr>
              <a:t>Quality  </a:t>
            </a:r>
            <a:r>
              <a:rPr sz="950" b="0">
                <a:solidFill>
                  <a:srgbClr val="5F6368"/>
                </a:solidFill>
                <a:latin typeface="Google Sans Flex"/>
                <a:ea typeface="Google Sans Flex"/>
                <a:cs typeface="Google Sans Flex"/>
                <a:sym typeface="Google Sans Flex"/>
              </a:rPr>
              <a:t>pytest (546 tests), Playwright end-to-end runs on the live site, GitHub Actions CI</a:t>
            </a: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pic>
        <p:nvPicPr>
          <p:cNvPr id="124" name="Google Shape;124;p22"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125" name="Google Shape;125;p22"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126" name="Google Shape;126;p22"/>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7" name="Google Shape;127;p22"/>
          <p:cNvSpPr txBox="1"/>
          <p:nvPr/>
        </p:nvSpPr>
        <p:spPr>
          <a:xfrm>
            <a:off x="265350" y="663825"/>
            <a:ext cx="8943000" cy="50292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latin typeface="Google Sans Flex Medium"/>
                <a:ea typeface="Google Sans Flex Medium"/>
                <a:cs typeface="Google Sans Flex Medium"/>
                <a:sym typeface="Google Sans Flex Medium"/>
              </a:rPr>
              <a:t>Estimated implementation cost</a:t>
            </a:r>
            <a:endParaRPr sz="1600">
              <a:latin typeface="Google Sans Flex Medium"/>
              <a:ea typeface="Google Sans Flex Medium"/>
              <a:cs typeface="Google Sans Flex Medium"/>
              <a:sym typeface="Google Sans Flex Medium"/>
            </a:endParaRPr>
          </a:p>
        </p:txBody>
      </p:sp>
      <p:sp>
        <p:nvSpPr>
          <p:cNvPr id="128" name="TextBox 127"/>
          <p:cNvSpPr txBox="1"/>
          <p:nvPr/>
        </p:nvSpPr>
        <p:spPr>
          <a:xfrm>
            <a:off x="365760" y="1216152"/>
            <a:ext cx="4297680" cy="274320"/>
          </a:xfrm>
          <a:prstGeom prst="rect">
            <a:avLst/>
          </a:prstGeom>
          <a:noFill/>
        </p:spPr>
        <p:txBody>
          <a:bodyPr wrap="square" anchor="t" lIns="0" rIns="0" tIns="0" bIns="0">
            <a:spAutoFit/>
          </a:bodyPr>
          <a:lstStyle/>
          <a:p>
            <a:pPr algn="l">
              <a:spcAft>
                <a:spcPts val="400"/>
              </a:spcAft>
            </a:pPr>
            <a:r>
              <a:rPr sz="1200" b="0">
                <a:solidFill>
                  <a:srgbClr val="202124"/>
                </a:solidFill>
                <a:latin typeface="Google Sans Flex Medium"/>
                <a:ea typeface="Google Sans Flex Medium"/>
                <a:cs typeface="Google Sans Flex Medium"/>
                <a:sym typeface="Google Sans Flex Medium"/>
              </a:rPr>
              <a:t>Cost per shopper request (list prices, Oct 2026)</a:t>
            </a:r>
          </a:p>
        </p:txBody>
      </p:sp>
      <p:sp>
        <p:nvSpPr>
          <p:cNvPr id="129" name="TextBox 128"/>
          <p:cNvSpPr txBox="1"/>
          <p:nvPr/>
        </p:nvSpPr>
        <p:spPr>
          <a:xfrm>
            <a:off x="365760" y="1572768"/>
            <a:ext cx="1600200" cy="411480"/>
          </a:xfrm>
          <a:prstGeom prst="rect">
            <a:avLst/>
          </a:prstGeom>
          <a:noFill/>
        </p:spPr>
        <p:txBody>
          <a:bodyPr wrap="square" anchor="t" lIns="0" rIns="0" tIns="0" bIns="0">
            <a:spAutoFit/>
          </a:bodyPr>
          <a:lstStyle/>
          <a:p>
            <a:pPr algn="l">
              <a:spcAft>
                <a:spcPts val="400"/>
              </a:spcAft>
            </a:pPr>
            <a:r>
              <a:rPr sz="1000" b="0">
                <a:solidFill>
                  <a:srgbClr val="202124"/>
                </a:solidFill>
                <a:latin typeface="Google Sans Flex Medium"/>
                <a:ea typeface="Google Sans Flex Medium"/>
                <a:cs typeface="Google Sans Flex Medium"/>
                <a:sym typeface="Google Sans Flex Medium"/>
              </a:rPr>
              <a:t>Gemini 2.5 Flash-Lite</a:t>
            </a:r>
          </a:p>
        </p:txBody>
      </p:sp>
      <p:sp>
        <p:nvSpPr>
          <p:cNvPr id="130" name="TextBox 129"/>
          <p:cNvSpPr txBox="1"/>
          <p:nvPr/>
        </p:nvSpPr>
        <p:spPr>
          <a:xfrm>
            <a:off x="1965960" y="1572768"/>
            <a:ext cx="1097280" cy="411480"/>
          </a:xfrm>
          <a:prstGeom prst="rect">
            <a:avLst/>
          </a:prstGeom>
          <a:noFill/>
        </p:spPr>
        <p:txBody>
          <a:bodyPr wrap="square" anchor="t" lIns="0" rIns="0" tIns="0" bIns="0">
            <a:spAutoFit/>
          </a:bodyPr>
          <a:lstStyle/>
          <a:p>
            <a:pPr algn="l">
              <a:spcAft>
                <a:spcPts val="400"/>
              </a:spcAft>
            </a:pPr>
            <a:r>
              <a:rPr sz="1000" b="0">
                <a:solidFill>
                  <a:srgbClr val="1A73E8"/>
                </a:solidFill>
                <a:latin typeface="Google Sans Flex Medium"/>
                <a:ea typeface="Google Sans Flex Medium"/>
                <a:cs typeface="Google Sans Flex Medium"/>
                <a:sym typeface="Google Sans Flex Medium"/>
              </a:rPr>
              <a:t>≈ US$0.0013</a:t>
            </a:r>
          </a:p>
        </p:txBody>
      </p:sp>
      <p:sp>
        <p:nvSpPr>
          <p:cNvPr id="131" name="TextBox 130"/>
          <p:cNvSpPr txBox="1"/>
          <p:nvPr/>
        </p:nvSpPr>
        <p:spPr>
          <a:xfrm>
            <a:off x="3017520" y="1572768"/>
            <a:ext cx="1828800" cy="457200"/>
          </a:xfrm>
          <a:prstGeom prst="rect">
            <a:avLst/>
          </a:prstGeom>
          <a:noFill/>
        </p:spPr>
        <p:txBody>
          <a:bodyPr wrap="square" anchor="t" lIns="0" rIns="0" tIns="0" bIns="0">
            <a:spAutoFit/>
          </a:bodyPr>
          <a:lstStyle/>
          <a:p>
            <a:pPr algn="l">
              <a:spcAft>
                <a:spcPts val="400"/>
              </a:spcAft>
            </a:pPr>
            <a:r>
              <a:rPr sz="800" b="0">
                <a:solidFill>
                  <a:srgbClr val="5F6368"/>
                </a:solidFill>
                <a:latin typeface="Google Sans Flex"/>
                <a:ea typeface="Google Sans Flex"/>
                <a:cs typeface="Google Sans Flex"/>
                <a:sym typeface="Google Sans Flex"/>
              </a:rPr>
              <a:t>~5k input + 0.7k output tokens for the ask (measured), plus one photo check; $0.10 / $0.40 per 1M tokens</a:t>
            </a:r>
          </a:p>
        </p:txBody>
      </p:sp>
      <p:sp>
        <p:nvSpPr>
          <p:cNvPr id="132" name="TextBox 131"/>
          <p:cNvSpPr txBox="1"/>
          <p:nvPr/>
        </p:nvSpPr>
        <p:spPr>
          <a:xfrm>
            <a:off x="365760" y="2048256"/>
            <a:ext cx="1600200" cy="411480"/>
          </a:xfrm>
          <a:prstGeom prst="rect">
            <a:avLst/>
          </a:prstGeom>
          <a:noFill/>
        </p:spPr>
        <p:txBody>
          <a:bodyPr wrap="square" anchor="t" lIns="0" rIns="0" tIns="0" bIns="0">
            <a:spAutoFit/>
          </a:bodyPr>
          <a:lstStyle/>
          <a:p>
            <a:pPr algn="l">
              <a:spcAft>
                <a:spcPts val="400"/>
              </a:spcAft>
            </a:pPr>
            <a:r>
              <a:rPr sz="1000" b="0">
                <a:solidFill>
                  <a:srgbClr val="202124"/>
                </a:solidFill>
                <a:latin typeface="Google Sans Flex Medium"/>
                <a:ea typeface="Google Sans Flex Medium"/>
                <a:cs typeface="Google Sans Flex Medium"/>
                <a:sym typeface="Google Sans Flex Medium"/>
              </a:rPr>
              <a:t>Places Nearby Search</a:t>
            </a:r>
          </a:p>
        </p:txBody>
      </p:sp>
      <p:sp>
        <p:nvSpPr>
          <p:cNvPr id="133" name="TextBox 132"/>
          <p:cNvSpPr txBox="1"/>
          <p:nvPr/>
        </p:nvSpPr>
        <p:spPr>
          <a:xfrm>
            <a:off x="1965960" y="2048256"/>
            <a:ext cx="1097280" cy="411480"/>
          </a:xfrm>
          <a:prstGeom prst="rect">
            <a:avLst/>
          </a:prstGeom>
          <a:noFill/>
        </p:spPr>
        <p:txBody>
          <a:bodyPr wrap="square" anchor="t" lIns="0" rIns="0" tIns="0" bIns="0">
            <a:spAutoFit/>
          </a:bodyPr>
          <a:lstStyle/>
          <a:p>
            <a:pPr algn="l">
              <a:spcAft>
                <a:spcPts val="400"/>
              </a:spcAft>
            </a:pPr>
            <a:r>
              <a:rPr sz="1000" b="0">
                <a:solidFill>
                  <a:srgbClr val="1A73E8"/>
                </a:solidFill>
                <a:latin typeface="Google Sans Flex Medium"/>
                <a:ea typeface="Google Sans Flex Medium"/>
                <a:cs typeface="Google Sans Flex Medium"/>
                <a:sym typeface="Google Sans Flex Medium"/>
              </a:rPr>
              <a:t>US$0.035</a:t>
            </a:r>
          </a:p>
        </p:txBody>
      </p:sp>
      <p:sp>
        <p:nvSpPr>
          <p:cNvPr id="134" name="TextBox 133"/>
          <p:cNvSpPr txBox="1"/>
          <p:nvPr/>
        </p:nvSpPr>
        <p:spPr>
          <a:xfrm>
            <a:off x="3017520" y="2048256"/>
            <a:ext cx="1828800" cy="457200"/>
          </a:xfrm>
          <a:prstGeom prst="rect">
            <a:avLst/>
          </a:prstGeom>
          <a:noFill/>
        </p:spPr>
        <p:txBody>
          <a:bodyPr wrap="square" anchor="t" lIns="0" rIns="0" tIns="0" bIns="0">
            <a:spAutoFit/>
          </a:bodyPr>
          <a:lstStyle/>
          <a:p>
            <a:pPr algn="l">
              <a:spcAft>
                <a:spcPts val="400"/>
              </a:spcAft>
            </a:pPr>
            <a:r>
              <a:rPr sz="800" b="0">
                <a:solidFill>
                  <a:srgbClr val="5F6368"/>
                </a:solidFill>
                <a:latin typeface="Google Sans Flex"/>
                <a:ea typeface="Google Sans Flex"/>
                <a:cs typeface="Google Sans Flex"/>
                <a:sym typeface="Google Sans Flex"/>
              </a:rPr>
              <a:t>Per uncached area + category search (Enterprise fields: phone, rating); shops are stored and reused</a:t>
            </a:r>
          </a:p>
        </p:txBody>
      </p:sp>
      <p:sp>
        <p:nvSpPr>
          <p:cNvPr id="135" name="TextBox 134"/>
          <p:cNvSpPr txBox="1"/>
          <p:nvPr/>
        </p:nvSpPr>
        <p:spPr>
          <a:xfrm>
            <a:off x="365760" y="2523744"/>
            <a:ext cx="1600200" cy="411480"/>
          </a:xfrm>
          <a:prstGeom prst="rect">
            <a:avLst/>
          </a:prstGeom>
          <a:noFill/>
        </p:spPr>
        <p:txBody>
          <a:bodyPr wrap="square" anchor="t" lIns="0" rIns="0" tIns="0" bIns="0">
            <a:spAutoFit/>
          </a:bodyPr>
          <a:lstStyle/>
          <a:p>
            <a:pPr algn="l">
              <a:spcAft>
                <a:spcPts val="400"/>
              </a:spcAft>
            </a:pPr>
            <a:r>
              <a:rPr sz="1000" b="0">
                <a:solidFill>
                  <a:srgbClr val="202124"/>
                </a:solidFill>
                <a:latin typeface="Google Sans Flex Medium"/>
                <a:ea typeface="Google Sans Flex Medium"/>
                <a:cs typeface="Google Sans Flex Medium"/>
                <a:sym typeface="Google Sans Flex Medium"/>
              </a:rPr>
              <a:t>Geocoding</a:t>
            </a:r>
          </a:p>
        </p:txBody>
      </p:sp>
      <p:sp>
        <p:nvSpPr>
          <p:cNvPr id="136" name="TextBox 135"/>
          <p:cNvSpPr txBox="1"/>
          <p:nvPr/>
        </p:nvSpPr>
        <p:spPr>
          <a:xfrm>
            <a:off x="1965960" y="2523744"/>
            <a:ext cx="1097280" cy="411480"/>
          </a:xfrm>
          <a:prstGeom prst="rect">
            <a:avLst/>
          </a:prstGeom>
          <a:noFill/>
        </p:spPr>
        <p:txBody>
          <a:bodyPr wrap="square" anchor="t" lIns="0" rIns="0" tIns="0" bIns="0">
            <a:spAutoFit/>
          </a:bodyPr>
          <a:lstStyle/>
          <a:p>
            <a:pPr algn="l">
              <a:spcAft>
                <a:spcPts val="400"/>
              </a:spcAft>
            </a:pPr>
            <a:r>
              <a:rPr sz="1000" b="0">
                <a:solidFill>
                  <a:srgbClr val="1A73E8"/>
                </a:solidFill>
                <a:latin typeface="Google Sans Flex Medium"/>
                <a:ea typeface="Google Sans Flex Medium"/>
                <a:cs typeface="Google Sans Flex Medium"/>
                <a:sym typeface="Google Sans Flex Medium"/>
              </a:rPr>
              <a:t>US$0.005</a:t>
            </a:r>
          </a:p>
        </p:txBody>
      </p:sp>
      <p:sp>
        <p:nvSpPr>
          <p:cNvPr id="137" name="TextBox 136"/>
          <p:cNvSpPr txBox="1"/>
          <p:nvPr/>
        </p:nvSpPr>
        <p:spPr>
          <a:xfrm>
            <a:off x="3017520" y="2523744"/>
            <a:ext cx="1828800" cy="457200"/>
          </a:xfrm>
          <a:prstGeom prst="rect">
            <a:avLst/>
          </a:prstGeom>
          <a:noFill/>
        </p:spPr>
        <p:txBody>
          <a:bodyPr wrap="square" anchor="t" lIns="0" rIns="0" tIns="0" bIns="0">
            <a:spAutoFit/>
          </a:bodyPr>
          <a:lstStyle/>
          <a:p>
            <a:pPr algn="l">
              <a:spcAft>
                <a:spcPts val="400"/>
              </a:spcAft>
            </a:pPr>
            <a:r>
              <a:rPr sz="800" b="0">
                <a:solidFill>
                  <a:srgbClr val="5F6368"/>
                </a:solidFill>
                <a:latin typeface="Google Sans Flex"/>
                <a:ea typeface="Google Sans Flex"/>
                <a:cs typeface="Google Sans Flex"/>
                <a:sym typeface="Google Sans Flex"/>
              </a:rPr>
              <a:t>Only when the shopper types a place</a:t>
            </a:r>
          </a:p>
        </p:txBody>
      </p:sp>
      <p:sp>
        <p:nvSpPr>
          <p:cNvPr id="138" name="TextBox 137"/>
          <p:cNvSpPr txBox="1"/>
          <p:nvPr/>
        </p:nvSpPr>
        <p:spPr>
          <a:xfrm>
            <a:off x="365760" y="2999232"/>
            <a:ext cx="1600200" cy="411480"/>
          </a:xfrm>
          <a:prstGeom prst="rect">
            <a:avLst/>
          </a:prstGeom>
          <a:noFill/>
        </p:spPr>
        <p:txBody>
          <a:bodyPr wrap="square" anchor="t" lIns="0" rIns="0" tIns="0" bIns="0">
            <a:spAutoFit/>
          </a:bodyPr>
          <a:lstStyle/>
          <a:p>
            <a:pPr algn="l">
              <a:spcAft>
                <a:spcPts val="400"/>
              </a:spcAft>
            </a:pPr>
            <a:r>
              <a:rPr sz="1000" b="0">
                <a:solidFill>
                  <a:srgbClr val="202124"/>
                </a:solidFill>
                <a:latin typeface="Google Sans Flex Medium"/>
                <a:ea typeface="Google Sans Flex Medium"/>
                <a:cs typeface="Google Sans Flex Medium"/>
                <a:sym typeface="Google Sans Flex Medium"/>
              </a:rPr>
              <a:t>Vertex AI Search</a:t>
            </a:r>
          </a:p>
        </p:txBody>
      </p:sp>
      <p:sp>
        <p:nvSpPr>
          <p:cNvPr id="139" name="TextBox 138"/>
          <p:cNvSpPr txBox="1"/>
          <p:nvPr/>
        </p:nvSpPr>
        <p:spPr>
          <a:xfrm>
            <a:off x="1965960" y="2999232"/>
            <a:ext cx="1097280" cy="411480"/>
          </a:xfrm>
          <a:prstGeom prst="rect">
            <a:avLst/>
          </a:prstGeom>
          <a:noFill/>
        </p:spPr>
        <p:txBody>
          <a:bodyPr wrap="square" anchor="t" lIns="0" rIns="0" tIns="0" bIns="0">
            <a:spAutoFit/>
          </a:bodyPr>
          <a:lstStyle/>
          <a:p>
            <a:pPr algn="l">
              <a:spcAft>
                <a:spcPts val="400"/>
              </a:spcAft>
            </a:pPr>
            <a:r>
              <a:rPr sz="1000" b="0">
                <a:solidFill>
                  <a:srgbClr val="1A73E8"/>
                </a:solidFill>
                <a:latin typeface="Google Sans Flex Medium"/>
                <a:ea typeface="Google Sans Flex Medium"/>
                <a:cs typeface="Google Sans Flex Medium"/>
                <a:sym typeface="Google Sans Flex Medium"/>
              </a:rPr>
              <a:t>US$0.0015</a:t>
            </a:r>
          </a:p>
        </p:txBody>
      </p:sp>
      <p:sp>
        <p:nvSpPr>
          <p:cNvPr id="140" name="TextBox 139"/>
          <p:cNvSpPr txBox="1"/>
          <p:nvPr/>
        </p:nvSpPr>
        <p:spPr>
          <a:xfrm>
            <a:off x="3017520" y="2999232"/>
            <a:ext cx="1828800" cy="457200"/>
          </a:xfrm>
          <a:prstGeom prst="rect">
            <a:avLst/>
          </a:prstGeom>
          <a:noFill/>
        </p:spPr>
        <p:txBody>
          <a:bodyPr wrap="square" anchor="t" lIns="0" rIns="0" tIns="0" bIns="0">
            <a:spAutoFit/>
          </a:bodyPr>
          <a:lstStyle/>
          <a:p>
            <a:pPr algn="l">
              <a:spcAft>
                <a:spcPts val="400"/>
              </a:spcAft>
            </a:pPr>
            <a:r>
              <a:rPr sz="800" b="0">
                <a:solidFill>
                  <a:srgbClr val="5F6368"/>
                </a:solidFill>
                <a:latin typeface="Google Sans Flex"/>
                <a:ea typeface="Google Sans Flex"/>
                <a:cs typeface="Google Sans Flex"/>
                <a:sym typeface="Google Sans Flex"/>
              </a:rPr>
              <a:t>Per stock search when a shop drafts a reply; 10,000 free queries a month</a:t>
            </a:r>
          </a:p>
        </p:txBody>
      </p:sp>
      <p:sp>
        <p:nvSpPr>
          <p:cNvPr id="141" name="TextBox 140"/>
          <p:cNvSpPr txBox="1"/>
          <p:nvPr/>
        </p:nvSpPr>
        <p:spPr>
          <a:xfrm>
            <a:off x="365760" y="3474720"/>
            <a:ext cx="1600200" cy="411480"/>
          </a:xfrm>
          <a:prstGeom prst="rect">
            <a:avLst/>
          </a:prstGeom>
          <a:noFill/>
        </p:spPr>
        <p:txBody>
          <a:bodyPr wrap="square" anchor="t" lIns="0" rIns="0" tIns="0" bIns="0">
            <a:spAutoFit/>
          </a:bodyPr>
          <a:lstStyle/>
          <a:p>
            <a:pPr algn="l">
              <a:spcAft>
                <a:spcPts val="400"/>
              </a:spcAft>
            </a:pPr>
            <a:r>
              <a:rPr sz="1000" b="0">
                <a:solidFill>
                  <a:srgbClr val="202124"/>
                </a:solidFill>
                <a:latin typeface="Google Sans Flex Medium"/>
                <a:ea typeface="Google Sans Flex Medium"/>
                <a:cs typeface="Google Sans Flex Medium"/>
                <a:sym typeface="Google Sans Flex Medium"/>
              </a:rPr>
              <a:t>Cloud Run</a:t>
            </a:r>
          </a:p>
        </p:txBody>
      </p:sp>
      <p:sp>
        <p:nvSpPr>
          <p:cNvPr id="142" name="TextBox 141"/>
          <p:cNvSpPr txBox="1"/>
          <p:nvPr/>
        </p:nvSpPr>
        <p:spPr>
          <a:xfrm>
            <a:off x="1965960" y="3474720"/>
            <a:ext cx="1097280" cy="411480"/>
          </a:xfrm>
          <a:prstGeom prst="rect">
            <a:avLst/>
          </a:prstGeom>
          <a:noFill/>
        </p:spPr>
        <p:txBody>
          <a:bodyPr wrap="square" anchor="t" lIns="0" rIns="0" tIns="0" bIns="0">
            <a:spAutoFit/>
          </a:bodyPr>
          <a:lstStyle/>
          <a:p>
            <a:pPr algn="l">
              <a:spcAft>
                <a:spcPts val="400"/>
              </a:spcAft>
            </a:pPr>
            <a:r>
              <a:rPr sz="1000" b="0">
                <a:solidFill>
                  <a:srgbClr val="1A73E8"/>
                </a:solidFill>
                <a:latin typeface="Google Sans Flex Medium"/>
                <a:ea typeface="Google Sans Flex Medium"/>
                <a:cs typeface="Google Sans Flex Medium"/>
                <a:sym typeface="Google Sans Flex Medium"/>
              </a:rPr>
              <a:t>≈ US$13 / month</a:t>
            </a:r>
          </a:p>
        </p:txBody>
      </p:sp>
      <p:sp>
        <p:nvSpPr>
          <p:cNvPr id="143" name="TextBox 142"/>
          <p:cNvSpPr txBox="1"/>
          <p:nvPr/>
        </p:nvSpPr>
        <p:spPr>
          <a:xfrm>
            <a:off x="3017520" y="3474720"/>
            <a:ext cx="1828800" cy="457200"/>
          </a:xfrm>
          <a:prstGeom prst="rect">
            <a:avLst/>
          </a:prstGeom>
          <a:noFill/>
        </p:spPr>
        <p:txBody>
          <a:bodyPr wrap="square" anchor="t" lIns="0" rIns="0" tIns="0" bIns="0">
            <a:spAutoFit/>
          </a:bodyPr>
          <a:lstStyle/>
          <a:p>
            <a:pPr algn="l">
              <a:spcAft>
                <a:spcPts val="400"/>
              </a:spcAft>
            </a:pPr>
            <a:r>
              <a:rPr sz="800" b="0">
                <a:solidFill>
                  <a:srgbClr val="5F6368"/>
                </a:solidFill>
                <a:latin typeface="Google Sans Flex"/>
                <a:ea typeface="Google Sans Flex"/>
                <a:cs typeface="Google Sans Flex"/>
                <a:sym typeface="Google Sans Flex"/>
              </a:rPr>
              <a:t>One always-on instance at idle rates, plus active time per request</a:t>
            </a:r>
          </a:p>
        </p:txBody>
      </p:sp>
      <p:sp>
        <p:nvSpPr>
          <p:cNvPr id="144" name="TextBox 143"/>
          <p:cNvSpPr txBox="1"/>
          <p:nvPr/>
        </p:nvSpPr>
        <p:spPr>
          <a:xfrm>
            <a:off x="365760" y="3950208"/>
            <a:ext cx="1600200" cy="411480"/>
          </a:xfrm>
          <a:prstGeom prst="rect">
            <a:avLst/>
          </a:prstGeom>
          <a:noFill/>
        </p:spPr>
        <p:txBody>
          <a:bodyPr wrap="square" anchor="t" lIns="0" rIns="0" tIns="0" bIns="0">
            <a:spAutoFit/>
          </a:bodyPr>
          <a:lstStyle/>
          <a:p>
            <a:pPr algn="l">
              <a:spcAft>
                <a:spcPts val="400"/>
              </a:spcAft>
            </a:pPr>
            <a:r>
              <a:rPr sz="1000" b="0">
                <a:solidFill>
                  <a:srgbClr val="202124"/>
                </a:solidFill>
                <a:latin typeface="Google Sans Flex Medium"/>
                <a:ea typeface="Google Sans Flex Medium"/>
                <a:cs typeface="Google Sans Flex Medium"/>
                <a:sym typeface="Google Sans Flex Medium"/>
              </a:rPr>
              <a:t>BigQuery, Cloud Storage</a:t>
            </a:r>
          </a:p>
        </p:txBody>
      </p:sp>
      <p:sp>
        <p:nvSpPr>
          <p:cNvPr id="145" name="TextBox 144"/>
          <p:cNvSpPr txBox="1"/>
          <p:nvPr/>
        </p:nvSpPr>
        <p:spPr>
          <a:xfrm>
            <a:off x="1965960" y="3950208"/>
            <a:ext cx="1097280" cy="411480"/>
          </a:xfrm>
          <a:prstGeom prst="rect">
            <a:avLst/>
          </a:prstGeom>
          <a:noFill/>
        </p:spPr>
        <p:txBody>
          <a:bodyPr wrap="square" anchor="t" lIns="0" rIns="0" tIns="0" bIns="0">
            <a:spAutoFit/>
          </a:bodyPr>
          <a:lstStyle/>
          <a:p>
            <a:pPr algn="l">
              <a:spcAft>
                <a:spcPts val="400"/>
              </a:spcAft>
            </a:pPr>
            <a:r>
              <a:rPr sz="1000" b="0">
                <a:solidFill>
                  <a:srgbClr val="1A73E8"/>
                </a:solidFill>
                <a:latin typeface="Google Sans Flex Medium"/>
                <a:ea typeface="Google Sans Flex Medium"/>
                <a:cs typeface="Google Sans Flex Medium"/>
                <a:sym typeface="Google Sans Flex Medium"/>
              </a:rPr>
              <a:t>≈ US$0</a:t>
            </a:r>
          </a:p>
        </p:txBody>
      </p:sp>
      <p:sp>
        <p:nvSpPr>
          <p:cNvPr id="146" name="TextBox 145"/>
          <p:cNvSpPr txBox="1"/>
          <p:nvPr/>
        </p:nvSpPr>
        <p:spPr>
          <a:xfrm>
            <a:off x="3017520" y="3950208"/>
            <a:ext cx="1828800" cy="457200"/>
          </a:xfrm>
          <a:prstGeom prst="rect">
            <a:avLst/>
          </a:prstGeom>
          <a:noFill/>
        </p:spPr>
        <p:txBody>
          <a:bodyPr wrap="square" anchor="t" lIns="0" rIns="0" tIns="0" bIns="0">
            <a:spAutoFit/>
          </a:bodyPr>
          <a:lstStyle/>
          <a:p>
            <a:pPr algn="l">
              <a:spcAft>
                <a:spcPts val="400"/>
              </a:spcAft>
            </a:pPr>
            <a:r>
              <a:rPr sz="800" b="0">
                <a:solidFill>
                  <a:srgbClr val="5F6368"/>
                </a:solidFill>
                <a:latin typeface="Google Sans Flex"/>
                <a:ea typeface="Google Sans Flex"/>
                <a:cs typeface="Google Sans Flex"/>
                <a:sym typeface="Google Sans Flex"/>
              </a:rPr>
              <a:t>Within free tiers at pilot volume</a:t>
            </a:r>
          </a:p>
        </p:txBody>
      </p:sp>
      <p:sp>
        <p:nvSpPr>
          <p:cNvPr id="147" name="Rounded Rectangle 146"/>
          <p:cNvSpPr/>
          <p:nvPr/>
        </p:nvSpPr>
        <p:spPr>
          <a:xfrm>
            <a:off x="5166360" y="1261872"/>
            <a:ext cx="3611880" cy="2971800"/>
          </a:xfrm>
          <a:prstGeom prst="roundRect">
            <a:avLst>
              <a:gd name="adj" fmla="val 6000"/>
            </a:avLst>
          </a:prstGeom>
          <a:solidFill>
            <a:srgbClr val="F1F3F4"/>
          </a:solidFill>
          <a:ln>
            <a:noFill/>
          </a:ln>
        </p:spPr>
        <p:txBody>
          <a:bodyPr rtlCol="0" anchor="ctr"/>
          <a:lstStyle/>
          <a:p>
            <a:pPr algn="ctr"/>
          </a:p>
        </p:txBody>
      </p:sp>
      <p:sp>
        <p:nvSpPr>
          <p:cNvPr id="148" name="TextBox 147"/>
          <p:cNvSpPr txBox="1"/>
          <p:nvPr/>
        </p:nvSpPr>
        <p:spPr>
          <a:xfrm>
            <a:off x="5349240" y="1371600"/>
            <a:ext cx="3291840" cy="274320"/>
          </a:xfrm>
          <a:prstGeom prst="rect">
            <a:avLst/>
          </a:prstGeom>
          <a:noFill/>
        </p:spPr>
        <p:txBody>
          <a:bodyPr wrap="square" anchor="t" lIns="0" rIns="0" tIns="0" bIns="0">
            <a:spAutoFit/>
          </a:bodyPr>
          <a:lstStyle/>
          <a:p>
            <a:pPr algn="l">
              <a:spcAft>
                <a:spcPts val="400"/>
              </a:spcAft>
            </a:pPr>
            <a:r>
              <a:rPr sz="1150" b="0">
                <a:solidFill>
                  <a:srgbClr val="202124"/>
                </a:solidFill>
                <a:latin typeface="Google Sans Flex Medium"/>
                <a:ea typeface="Google Sans Flex Medium"/>
                <a:cs typeface="Google Sans Flex Medium"/>
                <a:sym typeface="Google Sans Flex Medium"/>
              </a:rPr>
              <a:t>Pilot example: one city area, 10,000 requests a month</a:t>
            </a:r>
          </a:p>
        </p:txBody>
      </p:sp>
      <p:sp>
        <p:nvSpPr>
          <p:cNvPr id="149" name="TextBox 148"/>
          <p:cNvSpPr txBox="1"/>
          <p:nvPr/>
        </p:nvSpPr>
        <p:spPr>
          <a:xfrm>
            <a:off x="5349240" y="1810512"/>
            <a:ext cx="2103120" cy="274320"/>
          </a:xfrm>
          <a:prstGeom prst="rect">
            <a:avLst/>
          </a:prstGeom>
          <a:noFill/>
        </p:spPr>
        <p:txBody>
          <a:bodyPr wrap="square" anchor="t" lIns="0" rIns="0" tIns="0" bIns="0">
            <a:spAutoFit/>
          </a:bodyPr>
          <a:lstStyle/>
          <a:p>
            <a:pPr algn="l">
              <a:spcAft>
                <a:spcPts val="400"/>
              </a:spcAft>
            </a:pPr>
            <a:r>
              <a:rPr sz="1050" b="0">
                <a:solidFill>
                  <a:srgbClr val="202124"/>
                </a:solidFill>
                <a:latin typeface="Google Sans Flex"/>
                <a:ea typeface="Google Sans Flex"/>
                <a:cs typeface="Google Sans Flex"/>
                <a:sym typeface="Google Sans Flex"/>
              </a:rPr>
              <a:t>Gemini</a:t>
            </a:r>
          </a:p>
        </p:txBody>
      </p:sp>
      <p:sp>
        <p:nvSpPr>
          <p:cNvPr id="150" name="TextBox 149"/>
          <p:cNvSpPr txBox="1"/>
          <p:nvPr/>
        </p:nvSpPr>
        <p:spPr>
          <a:xfrm>
            <a:off x="7315200" y="1810512"/>
            <a:ext cx="1325880" cy="274320"/>
          </a:xfrm>
          <a:prstGeom prst="rect">
            <a:avLst/>
          </a:prstGeom>
          <a:noFill/>
        </p:spPr>
        <p:txBody>
          <a:bodyPr wrap="square" anchor="t" lIns="0" rIns="0" tIns="0" bIns="0">
            <a:spAutoFit/>
          </a:bodyPr>
          <a:lstStyle/>
          <a:p>
            <a:pPr algn="r">
              <a:spcAft>
                <a:spcPts val="400"/>
              </a:spcAft>
            </a:pPr>
            <a:r>
              <a:rPr sz="1050" b="0">
                <a:solidFill>
                  <a:srgbClr val="202124"/>
                </a:solidFill>
                <a:latin typeface="Google Sans Flex Medium"/>
                <a:ea typeface="Google Sans Flex Medium"/>
                <a:cs typeface="Google Sans Flex Medium"/>
                <a:sym typeface="Google Sans Flex Medium"/>
              </a:rPr>
              <a:t>≈ US$13</a:t>
            </a:r>
          </a:p>
        </p:txBody>
      </p:sp>
      <p:sp>
        <p:nvSpPr>
          <p:cNvPr id="151" name="TextBox 150"/>
          <p:cNvSpPr txBox="1"/>
          <p:nvPr/>
        </p:nvSpPr>
        <p:spPr>
          <a:xfrm>
            <a:off x="5349240" y="2139696"/>
            <a:ext cx="2103120" cy="274320"/>
          </a:xfrm>
          <a:prstGeom prst="rect">
            <a:avLst/>
          </a:prstGeom>
          <a:noFill/>
        </p:spPr>
        <p:txBody>
          <a:bodyPr wrap="square" anchor="t" lIns="0" rIns="0" tIns="0" bIns="0">
            <a:spAutoFit/>
          </a:bodyPr>
          <a:lstStyle/>
          <a:p>
            <a:pPr algn="l">
              <a:spcAft>
                <a:spcPts val="400"/>
              </a:spcAft>
            </a:pPr>
            <a:r>
              <a:rPr sz="1050" b="0">
                <a:solidFill>
                  <a:srgbClr val="202124"/>
                </a:solidFill>
                <a:latin typeface="Google Sans Flex"/>
                <a:ea typeface="Google Sans Flex"/>
                <a:cs typeface="Google Sans Flex"/>
                <a:sym typeface="Google Sans Flex"/>
              </a:rPr>
              <a:t>Places (30% uncached, 1,000 free)</a:t>
            </a:r>
          </a:p>
        </p:txBody>
      </p:sp>
      <p:sp>
        <p:nvSpPr>
          <p:cNvPr id="152" name="TextBox 151"/>
          <p:cNvSpPr txBox="1"/>
          <p:nvPr/>
        </p:nvSpPr>
        <p:spPr>
          <a:xfrm>
            <a:off x="7315200" y="2139696"/>
            <a:ext cx="1325880" cy="274320"/>
          </a:xfrm>
          <a:prstGeom prst="rect">
            <a:avLst/>
          </a:prstGeom>
          <a:noFill/>
        </p:spPr>
        <p:txBody>
          <a:bodyPr wrap="square" anchor="t" lIns="0" rIns="0" tIns="0" bIns="0">
            <a:spAutoFit/>
          </a:bodyPr>
          <a:lstStyle/>
          <a:p>
            <a:pPr algn="r">
              <a:spcAft>
                <a:spcPts val="400"/>
              </a:spcAft>
            </a:pPr>
            <a:r>
              <a:rPr sz="1050" b="0">
                <a:solidFill>
                  <a:srgbClr val="202124"/>
                </a:solidFill>
                <a:latin typeface="Google Sans Flex Medium"/>
                <a:ea typeface="Google Sans Flex Medium"/>
                <a:cs typeface="Google Sans Flex Medium"/>
                <a:sym typeface="Google Sans Flex Medium"/>
              </a:rPr>
              <a:t>≈ US$70</a:t>
            </a:r>
          </a:p>
        </p:txBody>
      </p:sp>
      <p:sp>
        <p:nvSpPr>
          <p:cNvPr id="153" name="TextBox 152"/>
          <p:cNvSpPr txBox="1"/>
          <p:nvPr/>
        </p:nvSpPr>
        <p:spPr>
          <a:xfrm>
            <a:off x="5349240" y="2468879"/>
            <a:ext cx="2103120" cy="274320"/>
          </a:xfrm>
          <a:prstGeom prst="rect">
            <a:avLst/>
          </a:prstGeom>
          <a:noFill/>
        </p:spPr>
        <p:txBody>
          <a:bodyPr wrap="square" anchor="t" lIns="0" rIns="0" tIns="0" bIns="0">
            <a:spAutoFit/>
          </a:bodyPr>
          <a:lstStyle/>
          <a:p>
            <a:pPr algn="l">
              <a:spcAft>
                <a:spcPts val="400"/>
              </a:spcAft>
            </a:pPr>
            <a:r>
              <a:rPr sz="1050" b="0">
                <a:solidFill>
                  <a:srgbClr val="202124"/>
                </a:solidFill>
                <a:latin typeface="Google Sans Flex"/>
                <a:ea typeface="Google Sans Flex"/>
                <a:cs typeface="Google Sans Flex"/>
                <a:sym typeface="Google Sans Flex"/>
              </a:rPr>
              <a:t>Cloud Run (always on)</a:t>
            </a:r>
          </a:p>
        </p:txBody>
      </p:sp>
      <p:sp>
        <p:nvSpPr>
          <p:cNvPr id="154" name="TextBox 153"/>
          <p:cNvSpPr txBox="1"/>
          <p:nvPr/>
        </p:nvSpPr>
        <p:spPr>
          <a:xfrm>
            <a:off x="7315200" y="2468879"/>
            <a:ext cx="1325880" cy="274320"/>
          </a:xfrm>
          <a:prstGeom prst="rect">
            <a:avLst/>
          </a:prstGeom>
          <a:noFill/>
        </p:spPr>
        <p:txBody>
          <a:bodyPr wrap="square" anchor="t" lIns="0" rIns="0" tIns="0" bIns="0">
            <a:spAutoFit/>
          </a:bodyPr>
          <a:lstStyle/>
          <a:p>
            <a:pPr algn="r">
              <a:spcAft>
                <a:spcPts val="400"/>
              </a:spcAft>
            </a:pPr>
            <a:r>
              <a:rPr sz="1050" b="0">
                <a:solidFill>
                  <a:srgbClr val="202124"/>
                </a:solidFill>
                <a:latin typeface="Google Sans Flex Medium"/>
                <a:ea typeface="Google Sans Flex Medium"/>
                <a:cs typeface="Google Sans Flex Medium"/>
                <a:sym typeface="Google Sans Flex Medium"/>
              </a:rPr>
              <a:t>≈ US$15–20</a:t>
            </a:r>
          </a:p>
        </p:txBody>
      </p:sp>
      <p:sp>
        <p:nvSpPr>
          <p:cNvPr id="155" name="TextBox 154"/>
          <p:cNvSpPr txBox="1"/>
          <p:nvPr/>
        </p:nvSpPr>
        <p:spPr>
          <a:xfrm>
            <a:off x="5349240" y="2798063"/>
            <a:ext cx="2103120" cy="274320"/>
          </a:xfrm>
          <a:prstGeom prst="rect">
            <a:avLst/>
          </a:prstGeom>
          <a:noFill/>
        </p:spPr>
        <p:txBody>
          <a:bodyPr wrap="square" anchor="t" lIns="0" rIns="0" tIns="0" bIns="0">
            <a:spAutoFit/>
          </a:bodyPr>
          <a:lstStyle/>
          <a:p>
            <a:pPr algn="l">
              <a:spcAft>
                <a:spcPts val="400"/>
              </a:spcAft>
            </a:pPr>
            <a:r>
              <a:rPr sz="1050" b="0">
                <a:solidFill>
                  <a:srgbClr val="202124"/>
                </a:solidFill>
                <a:latin typeface="Google Sans Flex"/>
                <a:ea typeface="Google Sans Flex"/>
                <a:cs typeface="Google Sans Flex"/>
                <a:sym typeface="Google Sans Flex"/>
              </a:rPr>
              <a:t>Search, BigQuery, Storage</a:t>
            </a:r>
          </a:p>
        </p:txBody>
      </p:sp>
      <p:sp>
        <p:nvSpPr>
          <p:cNvPr id="156" name="TextBox 155"/>
          <p:cNvSpPr txBox="1"/>
          <p:nvPr/>
        </p:nvSpPr>
        <p:spPr>
          <a:xfrm>
            <a:off x="7315200" y="2798063"/>
            <a:ext cx="1325880" cy="274320"/>
          </a:xfrm>
          <a:prstGeom prst="rect">
            <a:avLst/>
          </a:prstGeom>
          <a:noFill/>
        </p:spPr>
        <p:txBody>
          <a:bodyPr wrap="square" anchor="t" lIns="0" rIns="0" tIns="0" bIns="0">
            <a:spAutoFit/>
          </a:bodyPr>
          <a:lstStyle/>
          <a:p>
            <a:pPr algn="r">
              <a:spcAft>
                <a:spcPts val="400"/>
              </a:spcAft>
            </a:pPr>
            <a:r>
              <a:rPr sz="1050" b="0">
                <a:solidFill>
                  <a:srgbClr val="202124"/>
                </a:solidFill>
                <a:latin typeface="Google Sans Flex Medium"/>
                <a:ea typeface="Google Sans Flex Medium"/>
                <a:cs typeface="Google Sans Flex Medium"/>
                <a:sym typeface="Google Sans Flex Medium"/>
              </a:rPr>
              <a:t>≈ US$0–5</a:t>
            </a:r>
          </a:p>
        </p:txBody>
      </p:sp>
      <p:sp>
        <p:nvSpPr>
          <p:cNvPr id="157" name="TextBox 156"/>
          <p:cNvSpPr txBox="1"/>
          <p:nvPr/>
        </p:nvSpPr>
        <p:spPr>
          <a:xfrm>
            <a:off x="5349240" y="3127247"/>
            <a:ext cx="2103120" cy="274320"/>
          </a:xfrm>
          <a:prstGeom prst="rect">
            <a:avLst/>
          </a:prstGeom>
          <a:noFill/>
        </p:spPr>
        <p:txBody>
          <a:bodyPr wrap="square" anchor="t" lIns="0" rIns="0" tIns="0" bIns="0">
            <a:spAutoFit/>
          </a:bodyPr>
          <a:lstStyle/>
          <a:p>
            <a:pPr algn="l">
              <a:spcAft>
                <a:spcPts val="400"/>
              </a:spcAft>
            </a:pPr>
            <a:r>
              <a:rPr sz="1050" b="0">
                <a:solidFill>
                  <a:srgbClr val="202124"/>
                </a:solidFill>
                <a:latin typeface="Google Sans Flex Medium"/>
                <a:ea typeface="Google Sans Flex Medium"/>
                <a:cs typeface="Google Sans Flex Medium"/>
                <a:sym typeface="Google Sans Flex Medium"/>
              </a:rPr>
              <a:t>Total per month</a:t>
            </a:r>
          </a:p>
        </p:txBody>
      </p:sp>
      <p:sp>
        <p:nvSpPr>
          <p:cNvPr id="158" name="TextBox 157"/>
          <p:cNvSpPr txBox="1"/>
          <p:nvPr/>
        </p:nvSpPr>
        <p:spPr>
          <a:xfrm>
            <a:off x="7315200" y="3127247"/>
            <a:ext cx="1325880" cy="274320"/>
          </a:xfrm>
          <a:prstGeom prst="rect">
            <a:avLst/>
          </a:prstGeom>
          <a:noFill/>
        </p:spPr>
        <p:txBody>
          <a:bodyPr wrap="square" anchor="t" lIns="0" rIns="0" tIns="0" bIns="0">
            <a:spAutoFit/>
          </a:bodyPr>
          <a:lstStyle/>
          <a:p>
            <a:pPr algn="r">
              <a:spcAft>
                <a:spcPts val="400"/>
              </a:spcAft>
            </a:pPr>
            <a:r>
              <a:rPr sz="1050" b="0">
                <a:solidFill>
                  <a:srgbClr val="1A73E8"/>
                </a:solidFill>
                <a:latin typeface="Google Sans Flex Medium"/>
                <a:ea typeface="Google Sans Flex Medium"/>
                <a:cs typeface="Google Sans Flex Medium"/>
                <a:sym typeface="Google Sans Flex Medium"/>
              </a:rPr>
              <a:t>≈ US$100–110</a:t>
            </a:r>
          </a:p>
        </p:txBody>
      </p:sp>
      <p:sp>
        <p:nvSpPr>
          <p:cNvPr id="159" name="TextBox 158"/>
          <p:cNvSpPr txBox="1"/>
          <p:nvPr/>
        </p:nvSpPr>
        <p:spPr>
          <a:xfrm>
            <a:off x="5349240" y="3520440"/>
            <a:ext cx="3291840" cy="640080"/>
          </a:xfrm>
          <a:prstGeom prst="rect">
            <a:avLst/>
          </a:prstGeom>
          <a:noFill/>
        </p:spPr>
        <p:txBody>
          <a:bodyPr wrap="square" anchor="t" lIns="0" rIns="0" tIns="0" bIns="0">
            <a:spAutoFit/>
          </a:bodyPr>
          <a:lstStyle/>
          <a:p>
            <a:pPr algn="l">
              <a:spcAft>
                <a:spcPts val="400"/>
              </a:spcAft>
            </a:pPr>
            <a:r>
              <a:rPr sz="950" b="0">
                <a:solidFill>
                  <a:srgbClr val="5F6368"/>
                </a:solidFill>
                <a:latin typeface="Google Sans Flex"/>
                <a:ea typeface="Google Sans Flex"/>
                <a:cs typeface="Google Sans Flex"/>
                <a:sym typeface="Google Sans Flex"/>
              </a:rPr>
              <a:t>≈ US$0.01 per request. Maps search is most of it, and falls further when shops are refreshed per neighbourhood rather than per request.</a:t>
            </a:r>
          </a:p>
        </p:txBody>
      </p:sp>
      <p:sp>
        <p:nvSpPr>
          <p:cNvPr id="160" name="TextBox 159"/>
          <p:cNvSpPr txBox="1"/>
          <p:nvPr/>
        </p:nvSpPr>
        <p:spPr>
          <a:xfrm>
            <a:off x="365760" y="4434840"/>
            <a:ext cx="8412480" cy="274320"/>
          </a:xfrm>
          <a:prstGeom prst="rect">
            <a:avLst/>
          </a:prstGeom>
          <a:noFill/>
        </p:spPr>
        <p:txBody>
          <a:bodyPr wrap="square" anchor="t" lIns="0" rIns="0" tIns="0" bIns="0">
            <a:spAutoFit/>
          </a:bodyPr>
          <a:lstStyle/>
          <a:p>
            <a:pPr algn="l">
              <a:spcAft>
                <a:spcPts val="400"/>
              </a:spcAft>
            </a:pPr>
            <a:r>
              <a:rPr sz="850" b="0">
                <a:solidFill>
                  <a:srgbClr val="5F6368"/>
                </a:solidFill>
                <a:latin typeface="Google Sans Flex"/>
                <a:ea typeface="Google Sans Flex"/>
                <a:cs typeface="Google Sans Flex"/>
                <a:sym typeface="Google Sans Flex"/>
              </a:rPr>
              <a:t>Estimates from published list prices (Gemini, Places, Vertex AI Search, Cloud Run) and token counts measured on the live app; not a quote. Hackathon spend is capped by a ₹900 budget alert.</a:t>
            </a: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 name="Shape 131"/>
        <p:cNvGrpSpPr/>
        <p:nvPr/>
      </p:nvGrpSpPr>
      <p:grpSpPr>
        <a:xfrm>
          <a:off x="0" y="0"/>
          <a:ext cx="0" cy="0"/>
          <a:chOff x="0" y="0"/>
          <a:chExt cx="0" cy="0"/>
        </a:xfrm>
      </p:grpSpPr>
      <p:pic>
        <p:nvPicPr>
          <p:cNvPr id="132" name="Google Shape;132;p23"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133" name="Google Shape;133;p23"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134" name="Google Shape;134;p23"/>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35" name="Google Shape;135;p23"/>
          <p:cNvSpPr txBox="1"/>
          <p:nvPr/>
        </p:nvSpPr>
        <p:spPr>
          <a:xfrm>
            <a:off x="265350" y="663825"/>
            <a:ext cx="8943000" cy="50292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latin typeface="Google Sans Flex Medium"/>
                <a:ea typeface="Google Sans Flex Medium"/>
                <a:cs typeface="Google Sans Flex Medium"/>
                <a:sym typeface="Google Sans Flex Medium"/>
              </a:rPr>
              <a:t>Snapshots of the prototype</a:t>
            </a:r>
            <a:endParaRPr sz="1600">
              <a:latin typeface="Google Sans Flex Medium"/>
              <a:ea typeface="Google Sans Flex Medium"/>
              <a:cs typeface="Google Sans Flex Medium"/>
              <a:sym typeface="Google Sans Flex Medium"/>
            </a:endParaRPr>
          </a:p>
        </p:txBody>
      </p:sp>
      <p:pic>
        <p:nvPicPr>
          <p:cNvPr id="136" name="Picture 135" descr="inbox_crop.jpg"/>
          <p:cNvPicPr>
            <a:picLocks noChangeAspect="1"/>
          </p:cNvPicPr>
          <p:nvPr/>
        </p:nvPicPr>
        <p:blipFill>
          <a:blip r:embed="rId5"/>
          <a:stretch>
            <a:fillRect/>
          </a:stretch>
        </p:blipFill>
        <p:spPr>
          <a:xfrm>
            <a:off x="1171280" y="1207008"/>
            <a:ext cx="2503759" cy="1463040"/>
          </a:xfrm>
          <a:prstGeom prst="rect">
            <a:avLst/>
          </a:prstGeom>
          <a:ln w="9525">
            <a:solidFill>
              <a:srgbClr val="DADCE0"/>
            </a:solidFill>
          </a:ln>
        </p:spPr>
      </p:pic>
      <p:sp>
        <p:nvSpPr>
          <p:cNvPr id="137" name="TextBox 136"/>
          <p:cNvSpPr txBox="1"/>
          <p:nvPr/>
        </p:nvSpPr>
        <p:spPr>
          <a:xfrm>
            <a:off x="365760" y="2688336"/>
            <a:ext cx="4114800" cy="228600"/>
          </a:xfrm>
          <a:prstGeom prst="rect">
            <a:avLst/>
          </a:prstGeom>
          <a:noFill/>
        </p:spPr>
        <p:txBody>
          <a:bodyPr wrap="square" anchor="t" lIns="0" rIns="0" tIns="0" bIns="0">
            <a:spAutoFit/>
          </a:bodyPr>
          <a:lstStyle/>
          <a:p>
            <a:pPr algn="ctr">
              <a:spcAft>
                <a:spcPts val="400"/>
              </a:spcAft>
            </a:pPr>
            <a:r>
              <a:rPr sz="850" b="0">
                <a:solidFill>
                  <a:srgbClr val="5F6368"/>
                </a:solidFill>
                <a:latin typeface="Google Sans Flex"/>
                <a:ea typeface="Google Sans Flex"/>
                <a:cs typeface="Google Sans Flex"/>
                <a:sym typeface="Google Sans Flex"/>
              </a:rPr>
              <a:t>Shopkeeper inbox: the shopper's photo, the shop's photo and Gemini's check</a:t>
            </a:r>
          </a:p>
        </p:txBody>
      </p:sp>
      <p:pic>
        <p:nvPicPr>
          <p:cNvPr id="138" name="Picture 137" descr="myshop_screen.jpg"/>
          <p:cNvPicPr>
            <a:picLocks noChangeAspect="1"/>
          </p:cNvPicPr>
          <p:nvPr/>
        </p:nvPicPr>
        <p:blipFill>
          <a:blip r:embed="rId6"/>
          <a:stretch>
            <a:fillRect/>
          </a:stretch>
        </p:blipFill>
        <p:spPr>
          <a:xfrm>
            <a:off x="5415085" y="1207008"/>
            <a:ext cx="2520068" cy="1463040"/>
          </a:xfrm>
          <a:prstGeom prst="rect">
            <a:avLst/>
          </a:prstGeom>
          <a:ln w="9525">
            <a:solidFill>
              <a:srgbClr val="DADCE0"/>
            </a:solidFill>
          </a:ln>
        </p:spPr>
      </p:pic>
      <p:sp>
        <p:nvSpPr>
          <p:cNvPr id="139" name="TextBox 138"/>
          <p:cNvSpPr txBox="1"/>
          <p:nvPr/>
        </p:nvSpPr>
        <p:spPr>
          <a:xfrm>
            <a:off x="4617720" y="2688336"/>
            <a:ext cx="4114800" cy="228600"/>
          </a:xfrm>
          <a:prstGeom prst="rect">
            <a:avLst/>
          </a:prstGeom>
          <a:noFill/>
        </p:spPr>
        <p:txBody>
          <a:bodyPr wrap="square" anchor="t" lIns="0" rIns="0" tIns="0" bIns="0">
            <a:spAutoFit/>
          </a:bodyPr>
          <a:lstStyle/>
          <a:p>
            <a:pPr algn="ctr">
              <a:spcAft>
                <a:spcPts val="400"/>
              </a:spcAft>
            </a:pPr>
            <a:r>
              <a:rPr sz="850" b="0">
                <a:solidFill>
                  <a:srgbClr val="5F6368"/>
                </a:solidFill>
                <a:latin typeface="Google Sans Flex"/>
                <a:ea typeface="Google Sans Flex"/>
                <a:cs typeface="Google Sans Flex"/>
                <a:sym typeface="Google Sans Flex"/>
              </a:rPr>
              <a:t>My shop: requests for its kind of shop, answered, missed sales</a:t>
            </a:r>
          </a:p>
        </p:txBody>
      </p:sp>
      <p:pic>
        <p:nvPicPr>
          <p:cNvPr id="140" name="Picture 139" descr="analytics_top.jpg"/>
          <p:cNvPicPr>
            <a:picLocks noChangeAspect="1"/>
          </p:cNvPicPr>
          <p:nvPr/>
        </p:nvPicPr>
        <p:blipFill>
          <a:blip r:embed="rId7"/>
          <a:stretch>
            <a:fillRect/>
          </a:stretch>
        </p:blipFill>
        <p:spPr>
          <a:xfrm>
            <a:off x="946510" y="2926080"/>
            <a:ext cx="2953299" cy="1463040"/>
          </a:xfrm>
          <a:prstGeom prst="rect">
            <a:avLst/>
          </a:prstGeom>
          <a:ln w="9525">
            <a:solidFill>
              <a:srgbClr val="DADCE0"/>
            </a:solidFill>
          </a:ln>
        </p:spPr>
      </p:pic>
      <p:sp>
        <p:nvSpPr>
          <p:cNvPr id="141" name="TextBox 140"/>
          <p:cNvSpPr txBox="1"/>
          <p:nvPr/>
        </p:nvSpPr>
        <p:spPr>
          <a:xfrm>
            <a:off x="365760" y="4407408"/>
            <a:ext cx="4114800" cy="228600"/>
          </a:xfrm>
          <a:prstGeom prst="rect">
            <a:avLst/>
          </a:prstGeom>
          <a:noFill/>
        </p:spPr>
        <p:txBody>
          <a:bodyPr wrap="square" anchor="t" lIns="0" rIns="0" tIns="0" bIns="0">
            <a:spAutoFit/>
          </a:bodyPr>
          <a:lstStyle/>
          <a:p>
            <a:pPr algn="ctr">
              <a:spcAft>
                <a:spcPts val="400"/>
              </a:spcAft>
            </a:pPr>
            <a:r>
              <a:rPr sz="850" b="0">
                <a:solidFill>
                  <a:srgbClr val="5F6368"/>
                </a:solidFill>
                <a:latin typeface="Google Sans Flex"/>
                <a:ea typeface="Google Sans Flex"/>
                <a:cs typeface="Google Sans Flex"/>
                <a:sym typeface="Google Sans Flex"/>
              </a:rPr>
              <a:t>Shop analytics: backtested sales forecast and stock risk (sample shop, labelled as such)</a:t>
            </a:r>
          </a:p>
        </p:txBody>
      </p:sp>
      <p:pic>
        <p:nvPicPr>
          <p:cNvPr id="142" name="Picture 141" descr="routing_top.jpg"/>
          <p:cNvPicPr>
            <a:picLocks noChangeAspect="1"/>
          </p:cNvPicPr>
          <p:nvPr/>
        </p:nvPicPr>
        <p:blipFill>
          <a:blip r:embed="rId8"/>
          <a:stretch>
            <a:fillRect/>
          </a:stretch>
        </p:blipFill>
        <p:spPr>
          <a:xfrm>
            <a:off x="4617720" y="3193025"/>
            <a:ext cx="4114800" cy="929148"/>
          </a:xfrm>
          <a:prstGeom prst="rect">
            <a:avLst/>
          </a:prstGeom>
          <a:ln w="9525">
            <a:solidFill>
              <a:srgbClr val="DADCE0"/>
            </a:solidFill>
          </a:ln>
        </p:spPr>
      </p:pic>
      <p:sp>
        <p:nvSpPr>
          <p:cNvPr id="143" name="TextBox 142"/>
          <p:cNvSpPr txBox="1"/>
          <p:nvPr/>
        </p:nvSpPr>
        <p:spPr>
          <a:xfrm>
            <a:off x="4617720" y="4407408"/>
            <a:ext cx="4114800" cy="228600"/>
          </a:xfrm>
          <a:prstGeom prst="rect">
            <a:avLst/>
          </a:prstGeom>
          <a:noFill/>
        </p:spPr>
        <p:txBody>
          <a:bodyPr wrap="square" anchor="t" lIns="0" rIns="0" tIns="0" bIns="0">
            <a:spAutoFit/>
          </a:bodyPr>
          <a:lstStyle/>
          <a:p>
            <a:pPr algn="ctr">
              <a:spcAft>
                <a:spcPts val="400"/>
              </a:spcAft>
            </a:pPr>
            <a:r>
              <a:rPr sz="850" b="0">
                <a:solidFill>
                  <a:srgbClr val="5F6368"/>
                </a:solidFill>
                <a:latin typeface="Google Sans Flex"/>
                <a:ea typeface="Google Sans Flex"/>
                <a:cs typeface="Google Sans Flex"/>
                <a:sym typeface="Google Sans Flex"/>
              </a:rPr>
              <a:t>Business: requests routed by shop category</a:t>
            </a: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pic>
        <p:nvPicPr>
          <p:cNvPr id="140" name="Google Shape;140;p24"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141" name="Google Shape;141;p24"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142" name="Google Shape;142;p24"/>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3" name="Google Shape;143;p24"/>
          <p:cNvSpPr txBox="1"/>
          <p:nvPr/>
        </p:nvSpPr>
        <p:spPr>
          <a:xfrm>
            <a:off x="265350" y="663825"/>
            <a:ext cx="8943000" cy="50292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latin typeface="Google Sans Flex Medium"/>
                <a:ea typeface="Google Sans Flex Medium"/>
                <a:cs typeface="Google Sans Flex Medium"/>
                <a:sym typeface="Google Sans Flex Medium"/>
              </a:rPr>
              <a:t>Prototype performance and benchmarking</a:t>
            </a:r>
            <a:endParaRPr sz="1600">
              <a:latin typeface="Google Sans Flex Medium"/>
              <a:ea typeface="Google Sans Flex Medium"/>
              <a:cs typeface="Google Sans Flex Medium"/>
              <a:sym typeface="Google Sans Flex Medium"/>
            </a:endParaRPr>
          </a:p>
        </p:txBody>
      </p:sp>
      <p:sp>
        <p:nvSpPr>
          <p:cNvPr id="144" name="TextBox 143"/>
          <p:cNvSpPr txBox="1"/>
          <p:nvPr/>
        </p:nvSpPr>
        <p:spPr>
          <a:xfrm>
            <a:off x="365760" y="1234440"/>
            <a:ext cx="1600200" cy="457200"/>
          </a:xfrm>
          <a:prstGeom prst="rect">
            <a:avLst/>
          </a:prstGeom>
          <a:noFill/>
        </p:spPr>
        <p:txBody>
          <a:bodyPr wrap="square" anchor="ctr" lIns="0" rIns="0" tIns="0" bIns="0">
            <a:spAutoFit/>
          </a:bodyPr>
          <a:lstStyle/>
          <a:p>
            <a:pPr algn="l">
              <a:spcAft>
                <a:spcPts val="400"/>
              </a:spcAft>
            </a:pPr>
            <a:r>
              <a:rPr sz="1900" b="0">
                <a:solidFill>
                  <a:srgbClr val="1A73E8"/>
                </a:solidFill>
                <a:latin typeface="Google Sans Flex Medium"/>
                <a:ea typeface="Google Sans Flex Medium"/>
                <a:cs typeface="Google Sans Flex Medium"/>
                <a:sym typeface="Google Sans Flex Medium"/>
              </a:rPr>
              <a:t>19/19</a:t>
            </a:r>
          </a:p>
        </p:txBody>
      </p:sp>
      <p:sp>
        <p:nvSpPr>
          <p:cNvPr id="145" name="TextBox 144"/>
          <p:cNvSpPr txBox="1"/>
          <p:nvPr/>
        </p:nvSpPr>
        <p:spPr>
          <a:xfrm>
            <a:off x="2011680" y="1234440"/>
            <a:ext cx="2697480" cy="731520"/>
          </a:xfrm>
          <a:prstGeom prst="rect">
            <a:avLst/>
          </a:prstGeom>
          <a:noFill/>
        </p:spPr>
        <p:txBody>
          <a:bodyPr wrap="square" anchor="t" lIns="0" rIns="0" tIns="0" bIns="0">
            <a:spAutoFit/>
          </a:bodyPr>
          <a:lstStyle/>
          <a:p>
            <a:pPr algn="l">
              <a:spcAft>
                <a:spcPts val="100"/>
              </a:spcAft>
            </a:pPr>
            <a:r>
              <a:rPr sz="1050" b="0">
                <a:solidFill>
                  <a:srgbClr val="202124"/>
                </a:solidFill>
                <a:latin typeface="Google Sans Flex Medium"/>
                <a:ea typeface="Google Sans Flex Medium"/>
                <a:cs typeface="Google Sans Flex Medium"/>
                <a:sym typeface="Google Sans Flex Medium"/>
              </a:rPr>
              <a:t>live model tests pass on Vertex AI</a:t>
            </a:r>
          </a:p>
          <a:p>
            <a:pPr algn="l">
              <a:spcAft>
                <a:spcPts val="100"/>
              </a:spcAft>
            </a:pPr>
            <a:r>
              <a:rPr sz="850" b="0">
                <a:solidFill>
                  <a:srgbClr val="5F6368"/>
                </a:solidFill>
                <a:latin typeface="Google Sans Flex"/>
                <a:ea typeface="Google Sans Flex"/>
                <a:cs typeface="Google Sans Flex"/>
                <a:sym typeface="Google Sans Flex"/>
              </a:rPr>
              <a:t>10 requests in 5 languages incl. a prompt injection, 5 shop photos, 4 drafts (also 19/19 on AI Studio)</a:t>
            </a:r>
          </a:p>
        </p:txBody>
      </p:sp>
      <p:sp>
        <p:nvSpPr>
          <p:cNvPr id="146" name="TextBox 145"/>
          <p:cNvSpPr txBox="1"/>
          <p:nvPr/>
        </p:nvSpPr>
        <p:spPr>
          <a:xfrm>
            <a:off x="365760" y="2020824"/>
            <a:ext cx="1600200" cy="457200"/>
          </a:xfrm>
          <a:prstGeom prst="rect">
            <a:avLst/>
          </a:prstGeom>
          <a:noFill/>
        </p:spPr>
        <p:txBody>
          <a:bodyPr wrap="square" anchor="ctr" lIns="0" rIns="0" tIns="0" bIns="0">
            <a:spAutoFit/>
          </a:bodyPr>
          <a:lstStyle/>
          <a:p>
            <a:pPr algn="l">
              <a:spcAft>
                <a:spcPts val="400"/>
              </a:spcAft>
            </a:pPr>
            <a:r>
              <a:rPr sz="1900" b="0">
                <a:solidFill>
                  <a:srgbClr val="1A73E8"/>
                </a:solidFill>
                <a:latin typeface="Google Sans Flex Medium"/>
                <a:ea typeface="Google Sans Flex Medium"/>
                <a:cs typeface="Google Sans Flex Medium"/>
                <a:sym typeface="Google Sans Flex Medium"/>
              </a:rPr>
              <a:t>2.7 s · 3.4 s</a:t>
            </a:r>
          </a:p>
        </p:txBody>
      </p:sp>
      <p:sp>
        <p:nvSpPr>
          <p:cNvPr id="147" name="TextBox 146"/>
          <p:cNvSpPr txBox="1"/>
          <p:nvPr/>
        </p:nvSpPr>
        <p:spPr>
          <a:xfrm>
            <a:off x="2011680" y="2020824"/>
            <a:ext cx="2697480" cy="731520"/>
          </a:xfrm>
          <a:prstGeom prst="rect">
            <a:avLst/>
          </a:prstGeom>
          <a:noFill/>
        </p:spPr>
        <p:txBody>
          <a:bodyPr wrap="square" anchor="t" lIns="0" rIns="0" tIns="0" bIns="0">
            <a:spAutoFit/>
          </a:bodyPr>
          <a:lstStyle/>
          <a:p>
            <a:pPr algn="l">
              <a:spcAft>
                <a:spcPts val="100"/>
              </a:spcAft>
            </a:pPr>
            <a:r>
              <a:rPr sz="1050" b="0">
                <a:solidFill>
                  <a:srgbClr val="202124"/>
                </a:solidFill>
                <a:latin typeface="Google Sans Flex Medium"/>
                <a:ea typeface="Google Sans Flex Medium"/>
                <a:cs typeface="Google Sans Flex Medium"/>
                <a:sym typeface="Google Sans Flex Medium"/>
              </a:rPr>
              <a:t>median model time on Vertex AI</a:t>
            </a:r>
          </a:p>
          <a:p>
            <a:pPr algn="l">
              <a:spcAft>
                <a:spcPts val="100"/>
              </a:spcAft>
            </a:pPr>
            <a:r>
              <a:rPr sz="850" b="0">
                <a:solidFill>
                  <a:srgbClr val="5F6368"/>
                </a:solidFill>
                <a:latin typeface="Google Sans Flex"/>
                <a:ea typeface="Google Sans Flex"/>
                <a:cs typeface="Google Sans Flex"/>
                <a:sym typeface="Google Sans Flex"/>
              </a:rPr>
              <a:t>understanding a request · checking a shop photo (2.5 Flash-Lite)</a:t>
            </a:r>
          </a:p>
        </p:txBody>
      </p:sp>
      <p:sp>
        <p:nvSpPr>
          <p:cNvPr id="148" name="TextBox 147"/>
          <p:cNvSpPr txBox="1"/>
          <p:nvPr/>
        </p:nvSpPr>
        <p:spPr>
          <a:xfrm>
            <a:off x="365760" y="2807208"/>
            <a:ext cx="1600200" cy="457200"/>
          </a:xfrm>
          <a:prstGeom prst="rect">
            <a:avLst/>
          </a:prstGeom>
          <a:noFill/>
        </p:spPr>
        <p:txBody>
          <a:bodyPr wrap="square" anchor="ctr" lIns="0" rIns="0" tIns="0" bIns="0">
            <a:spAutoFit/>
          </a:bodyPr>
          <a:lstStyle/>
          <a:p>
            <a:pPr algn="l">
              <a:spcAft>
                <a:spcPts val="400"/>
              </a:spcAft>
            </a:pPr>
            <a:r>
              <a:rPr sz="1900" b="0">
                <a:solidFill>
                  <a:srgbClr val="1A73E8"/>
                </a:solidFill>
                <a:latin typeface="Google Sans Flex Medium"/>
                <a:ea typeface="Google Sans Flex Medium"/>
                <a:cs typeface="Google Sans Flex Medium"/>
                <a:sym typeface="Google Sans Flex Medium"/>
              </a:rPr>
              <a:t>7–9 s</a:t>
            </a:r>
          </a:p>
        </p:txBody>
      </p:sp>
      <p:sp>
        <p:nvSpPr>
          <p:cNvPr id="149" name="TextBox 148"/>
          <p:cNvSpPr txBox="1"/>
          <p:nvPr/>
        </p:nvSpPr>
        <p:spPr>
          <a:xfrm>
            <a:off x="2011680" y="2807208"/>
            <a:ext cx="2697480" cy="731520"/>
          </a:xfrm>
          <a:prstGeom prst="rect">
            <a:avLst/>
          </a:prstGeom>
          <a:noFill/>
        </p:spPr>
        <p:txBody>
          <a:bodyPr wrap="square" anchor="t" lIns="0" rIns="0" tIns="0" bIns="0">
            <a:spAutoFit/>
          </a:bodyPr>
          <a:lstStyle/>
          <a:p>
            <a:pPr algn="l">
              <a:spcAft>
                <a:spcPts val="100"/>
              </a:spcAft>
            </a:pPr>
            <a:r>
              <a:rPr sz="1050" b="0">
                <a:solidFill>
                  <a:srgbClr val="202124"/>
                </a:solidFill>
                <a:latin typeface="Google Sans Flex Medium"/>
                <a:ea typeface="Google Sans Flex Medium"/>
                <a:cs typeface="Google Sans Flex Medium"/>
                <a:sym typeface="Google Sans Flex Medium"/>
              </a:rPr>
              <a:t>photo search, end to end on Cloud Run</a:t>
            </a:r>
          </a:p>
          <a:p>
            <a:pPr algn="l">
              <a:spcAft>
                <a:spcPts val="100"/>
              </a:spcAft>
            </a:pPr>
            <a:r>
              <a:rPr sz="850" b="0">
                <a:solidFill>
                  <a:srgbClr val="5F6368"/>
                </a:solidFill>
                <a:latin typeface="Google Sans Flex"/>
                <a:ea typeface="Google Sans Flex"/>
                <a:cs typeface="Google Sans Flex"/>
                <a:sym typeface="Google Sans Flex"/>
              </a:rPr>
              <a:t>photo read, intent, routing, Places search, agent answer (our runs; Vertex can be slower, with timeout and retry)</a:t>
            </a:r>
          </a:p>
        </p:txBody>
      </p:sp>
      <p:sp>
        <p:nvSpPr>
          <p:cNvPr id="150" name="TextBox 149"/>
          <p:cNvSpPr txBox="1"/>
          <p:nvPr/>
        </p:nvSpPr>
        <p:spPr>
          <a:xfrm>
            <a:off x="365760" y="3593591"/>
            <a:ext cx="1600200" cy="457200"/>
          </a:xfrm>
          <a:prstGeom prst="rect">
            <a:avLst/>
          </a:prstGeom>
          <a:noFill/>
        </p:spPr>
        <p:txBody>
          <a:bodyPr wrap="square" anchor="ctr" lIns="0" rIns="0" tIns="0" bIns="0">
            <a:spAutoFit/>
          </a:bodyPr>
          <a:lstStyle/>
          <a:p>
            <a:pPr algn="l">
              <a:spcAft>
                <a:spcPts val="400"/>
              </a:spcAft>
            </a:pPr>
            <a:r>
              <a:rPr sz="1900" b="0">
                <a:solidFill>
                  <a:srgbClr val="1A73E8"/>
                </a:solidFill>
                <a:latin typeface="Google Sans Flex Medium"/>
                <a:ea typeface="Google Sans Flex Medium"/>
                <a:cs typeface="Google Sans Flex Medium"/>
                <a:sym typeface="Google Sans Flex Medium"/>
              </a:rPr>
              <a:t>546</a:t>
            </a:r>
          </a:p>
        </p:txBody>
      </p:sp>
      <p:sp>
        <p:nvSpPr>
          <p:cNvPr id="151" name="TextBox 150"/>
          <p:cNvSpPr txBox="1"/>
          <p:nvPr/>
        </p:nvSpPr>
        <p:spPr>
          <a:xfrm>
            <a:off x="2011680" y="3593591"/>
            <a:ext cx="2697480" cy="731520"/>
          </a:xfrm>
          <a:prstGeom prst="rect">
            <a:avLst/>
          </a:prstGeom>
          <a:noFill/>
        </p:spPr>
        <p:txBody>
          <a:bodyPr wrap="square" anchor="t" lIns="0" rIns="0" tIns="0" bIns="0">
            <a:spAutoFit/>
          </a:bodyPr>
          <a:lstStyle/>
          <a:p>
            <a:pPr algn="l">
              <a:spcAft>
                <a:spcPts val="100"/>
              </a:spcAft>
            </a:pPr>
            <a:r>
              <a:rPr sz="1050" b="0">
                <a:solidFill>
                  <a:srgbClr val="202124"/>
                </a:solidFill>
                <a:latin typeface="Google Sans Flex Medium"/>
                <a:ea typeface="Google Sans Flex Medium"/>
                <a:cs typeface="Google Sans Flex Medium"/>
                <a:sym typeface="Google Sans Flex Medium"/>
              </a:rPr>
              <a:t>automated backend tests pass</a:t>
            </a:r>
          </a:p>
          <a:p>
            <a:pPr algn="l">
              <a:spcAft>
                <a:spcPts val="100"/>
              </a:spcAft>
            </a:pPr>
            <a:r>
              <a:rPr sz="850" b="0">
                <a:solidFill>
                  <a:srgbClr val="5F6368"/>
                </a:solidFill>
                <a:latin typeface="Google Sans Flex"/>
                <a:ea typeface="Google Sans Flex"/>
                <a:cs typeface="Google Sans Flex"/>
                <a:sym typeface="Google Sans Flex"/>
              </a:rPr>
              <a:t>plus lint, build and Playwright runs against the live site</a:t>
            </a:r>
          </a:p>
        </p:txBody>
      </p:sp>
      <p:graphicFrame>
        <p:nvGraphicFramePr>
          <p:cNvPr id="152" name="Chart 151"/>
          <p:cNvGraphicFramePr>
            <a:graphicFrameLocks noGrp="1"/>
          </p:cNvGraphicFramePr>
          <p:nvPr/>
        </p:nvGraphicFramePr>
        <p:xfrm>
          <a:off x="4892040" y="1463040"/>
          <a:ext cx="3886200" cy="1600200"/>
        </p:xfrm>
        <a:graphic>
          <a:graphicData uri="http://schemas.openxmlformats.org/drawingml/2006/chart">
            <c:chart r:id="rId5"/>
          </a:graphicData>
        </a:graphic>
      </p:graphicFrame>
      <p:sp>
        <p:nvSpPr>
          <p:cNvPr id="153" name="TextBox 152"/>
          <p:cNvSpPr txBox="1"/>
          <p:nvPr/>
        </p:nvSpPr>
        <p:spPr>
          <a:xfrm>
            <a:off x="4892040" y="1216152"/>
            <a:ext cx="3886200" cy="274320"/>
          </a:xfrm>
          <a:prstGeom prst="rect">
            <a:avLst/>
          </a:prstGeom>
          <a:noFill/>
        </p:spPr>
        <p:txBody>
          <a:bodyPr wrap="square" anchor="t" lIns="0" rIns="0" tIns="0" bIns="0">
            <a:spAutoFit/>
          </a:bodyPr>
          <a:lstStyle/>
          <a:p>
            <a:pPr algn="l">
              <a:spcAft>
                <a:spcPts val="400"/>
              </a:spcAft>
            </a:pPr>
            <a:r>
              <a:rPr sz="1050" b="0">
                <a:solidFill>
                  <a:srgbClr val="202124"/>
                </a:solidFill>
                <a:latin typeface="Google Sans Flex Medium"/>
                <a:ea typeface="Google Sans Flex Medium"/>
                <a:cs typeface="Google Sans Flex Medium"/>
                <a:sym typeface="Google Sans Flex Medium"/>
              </a:rPr>
              <a:t>When to ask a shop for proof (500 seeded trials)</a:t>
            </a:r>
          </a:p>
        </p:txBody>
      </p:sp>
      <p:sp>
        <p:nvSpPr>
          <p:cNvPr id="154" name="TextBox 153"/>
          <p:cNvSpPr txBox="1"/>
          <p:nvPr/>
        </p:nvSpPr>
        <p:spPr>
          <a:xfrm>
            <a:off x="4892040" y="3063240"/>
            <a:ext cx="3886200" cy="411480"/>
          </a:xfrm>
          <a:prstGeom prst="rect">
            <a:avLst/>
          </a:prstGeom>
          <a:noFill/>
        </p:spPr>
        <p:txBody>
          <a:bodyPr wrap="square" anchor="t" lIns="0" rIns="0" tIns="0" bIns="0">
            <a:spAutoFit/>
          </a:bodyPr>
          <a:lstStyle/>
          <a:p>
            <a:pPr algn="l">
              <a:spcAft>
                <a:spcPts val="400"/>
              </a:spcAft>
            </a:pPr>
            <a:r>
              <a:rPr sz="850" b="0">
                <a:solidFill>
                  <a:srgbClr val="5F6368"/>
                </a:solidFill>
                <a:latin typeface="Google Sans Flex"/>
                <a:ea typeface="Google Sans Flex"/>
                <a:cs typeface="Google Sans Flex"/>
                <a:sym typeface="Google Sans Flex"/>
              </a:rPr>
              <a:t>Wrong picks: 4% with EVSI, 0% verifying all (2 checks each), 20% never verifying. EVSI averaged 0.93 checks.</a:t>
            </a:r>
          </a:p>
        </p:txBody>
      </p:sp>
      <p:sp>
        <p:nvSpPr>
          <p:cNvPr id="155" name="TextBox 154"/>
          <p:cNvSpPr txBox="1"/>
          <p:nvPr/>
        </p:nvSpPr>
        <p:spPr>
          <a:xfrm>
            <a:off x="4892040" y="3520440"/>
            <a:ext cx="3886200" cy="274320"/>
          </a:xfrm>
          <a:prstGeom prst="rect">
            <a:avLst/>
          </a:prstGeom>
          <a:noFill/>
        </p:spPr>
        <p:txBody>
          <a:bodyPr wrap="square" anchor="t" lIns="0" rIns="0" tIns="0" bIns="0">
            <a:spAutoFit/>
          </a:bodyPr>
          <a:lstStyle/>
          <a:p>
            <a:pPr algn="l">
              <a:spcAft>
                <a:spcPts val="400"/>
              </a:spcAft>
            </a:pPr>
            <a:r>
              <a:rPr sz="1050" b="0">
                <a:solidFill>
                  <a:srgbClr val="202124"/>
                </a:solidFill>
                <a:latin typeface="Google Sans Flex Medium"/>
                <a:ea typeface="Google Sans Flex Medium"/>
                <a:cs typeface="Google Sans Flex Medium"/>
                <a:sym typeface="Google Sans Flex Medium"/>
              </a:rPr>
              <a:t>Multi-item baskets (30 seeded scenarios)</a:t>
            </a:r>
          </a:p>
        </p:txBody>
      </p:sp>
      <p:sp>
        <p:nvSpPr>
          <p:cNvPr id="156" name="TextBox 155"/>
          <p:cNvSpPr txBox="1"/>
          <p:nvPr/>
        </p:nvSpPr>
        <p:spPr>
          <a:xfrm>
            <a:off x="4892040" y="3794760"/>
            <a:ext cx="3886200" cy="640080"/>
          </a:xfrm>
          <a:prstGeom prst="rect">
            <a:avLst/>
          </a:prstGeom>
          <a:noFill/>
        </p:spPr>
        <p:txBody>
          <a:bodyPr wrap="square" anchor="t" lIns="0" rIns="0" tIns="0" bIns="0">
            <a:spAutoFit/>
          </a:bodyPr>
          <a:lstStyle/>
          <a:p>
            <a:pPr algn="l">
              <a:spcAft>
                <a:spcPts val="400"/>
              </a:spcAft>
            </a:pPr>
            <a:r>
              <a:rPr sz="900" b="0">
                <a:solidFill>
                  <a:srgbClr val="202124"/>
                </a:solidFill>
                <a:latin typeface="Google Sans Flex"/>
                <a:ea typeface="Google Sans Flex"/>
                <a:cs typeface="Google Sans Flex"/>
                <a:sym typeface="Google Sans Flex"/>
              </a:rPr>
              <a:t>OR-Tools found all 14 feasible baskets. Cheapest-item-first missed 3 and cost ₹4 more; a single shop missed 5 and cost ₹43 more.</a:t>
            </a:r>
          </a:p>
        </p:txBody>
      </p:sp>
      <p:sp>
        <p:nvSpPr>
          <p:cNvPr id="157" name="TextBox 156"/>
          <p:cNvSpPr txBox="1"/>
          <p:nvPr/>
        </p:nvSpPr>
        <p:spPr>
          <a:xfrm>
            <a:off x="365760" y="4480560"/>
            <a:ext cx="8412480" cy="274320"/>
          </a:xfrm>
          <a:prstGeom prst="rect">
            <a:avLst/>
          </a:prstGeom>
          <a:noFill/>
        </p:spPr>
        <p:txBody>
          <a:bodyPr wrap="square" anchor="t" lIns="0" rIns="0" tIns="0" bIns="0">
            <a:spAutoFit/>
          </a:bodyPr>
          <a:lstStyle/>
          <a:p>
            <a:pPr algn="l">
              <a:spcAft>
                <a:spcPts val="400"/>
              </a:spcAft>
            </a:pPr>
            <a:r>
              <a:rPr sz="800" b="0">
                <a:solidFill>
                  <a:srgbClr val="5F6368"/>
                </a:solidFill>
                <a:latin typeface="Google Sans Flex"/>
                <a:ea typeface="Google Sans Flex"/>
                <a:cs typeface="Google Sans Flex"/>
                <a:sym typeface="Google Sans Flex"/>
              </a:rPr>
              <a:t>Benchmarks are seeded simulations of the decision policy, not field results. Model tests use hand-written cases and synthetic label photos. All figures are reproducible from the repo and shown live in the Trust report.</a:t>
            </a: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pic>
        <p:nvPicPr>
          <p:cNvPr id="148" name="Google Shape;148;p25"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149" name="Google Shape;149;p25"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150" name="Google Shape;150;p25"/>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1" name="Google Shape;151;p25"/>
          <p:cNvSpPr txBox="1"/>
          <p:nvPr/>
        </p:nvSpPr>
        <p:spPr>
          <a:xfrm>
            <a:off x="265350" y="663825"/>
            <a:ext cx="8943000" cy="50292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latin typeface="Google Sans Flex Medium"/>
                <a:ea typeface="Google Sans Flex Medium"/>
                <a:cs typeface="Google Sans Flex Medium"/>
                <a:sym typeface="Google Sans Flex Medium"/>
              </a:rPr>
              <a:t>Future development</a:t>
            </a:r>
            <a:endParaRPr sz="1600">
              <a:latin typeface="Google Sans Flex Medium"/>
              <a:ea typeface="Google Sans Flex Medium"/>
              <a:cs typeface="Google Sans Flex Medium"/>
              <a:sym typeface="Google Sans Flex Medium"/>
            </a:endParaRPr>
          </a:p>
        </p:txBody>
      </p:sp>
      <p:sp>
        <p:nvSpPr>
          <p:cNvPr id="152" name="Rounded Rectangle 151"/>
          <p:cNvSpPr/>
          <p:nvPr/>
        </p:nvSpPr>
        <p:spPr>
          <a:xfrm>
            <a:off x="365760" y="1261872"/>
            <a:ext cx="2697480" cy="2286000"/>
          </a:xfrm>
          <a:prstGeom prst="roundRect">
            <a:avLst>
              <a:gd name="adj" fmla="val 6000"/>
            </a:avLst>
          </a:prstGeom>
          <a:solidFill>
            <a:srgbClr val="E6F4EA"/>
          </a:solidFill>
          <a:ln>
            <a:noFill/>
          </a:ln>
        </p:spPr>
        <p:txBody>
          <a:bodyPr rtlCol="0" anchor="ctr"/>
          <a:lstStyle/>
          <a:p>
            <a:pPr algn="ctr"/>
          </a:p>
        </p:txBody>
      </p:sp>
      <p:sp>
        <p:nvSpPr>
          <p:cNvPr id="153" name="TextBox 152"/>
          <p:cNvSpPr txBox="1"/>
          <p:nvPr/>
        </p:nvSpPr>
        <p:spPr>
          <a:xfrm>
            <a:off x="530352" y="1371600"/>
            <a:ext cx="2377440" cy="320040"/>
          </a:xfrm>
          <a:prstGeom prst="rect">
            <a:avLst/>
          </a:prstGeom>
          <a:noFill/>
        </p:spPr>
        <p:txBody>
          <a:bodyPr wrap="square" anchor="t" lIns="0" rIns="0" tIns="0" bIns="0">
            <a:spAutoFit/>
          </a:bodyPr>
          <a:lstStyle/>
          <a:p>
            <a:pPr algn="l">
              <a:spcAft>
                <a:spcPts val="400"/>
              </a:spcAft>
            </a:pPr>
            <a:r>
              <a:rPr sz="1300" b="0">
                <a:solidFill>
                  <a:srgbClr val="202124"/>
                </a:solidFill>
                <a:latin typeface="Google Sans Flex Medium"/>
                <a:ea typeface="Google Sans Flex Medium"/>
                <a:cs typeface="Google Sans Flex Medium"/>
                <a:sym typeface="Google Sans Flex Medium"/>
              </a:rPr>
              <a:t>Pilot</a:t>
            </a:r>
          </a:p>
        </p:txBody>
      </p:sp>
      <p:sp>
        <p:nvSpPr>
          <p:cNvPr id="154" name="TextBox 153"/>
          <p:cNvSpPr txBox="1"/>
          <p:nvPr/>
        </p:nvSpPr>
        <p:spPr>
          <a:xfrm>
            <a:off x="530352" y="1737360"/>
            <a:ext cx="2395728" cy="1737360"/>
          </a:xfrm>
          <a:prstGeom prst="rect">
            <a:avLst/>
          </a:prstGeom>
          <a:noFill/>
        </p:spPr>
        <p:txBody>
          <a:bodyPr wrap="square" anchor="t" lIns="0" rIns="0" tIns="0" bIns="0">
            <a:spAutoFit/>
          </a:bodyPr>
          <a:lstStyle/>
          <a:p>
            <a:pPr algn="l">
              <a:spcAft>
                <a:spcPts val="700"/>
              </a:spcAft>
            </a:pPr>
            <a:r>
              <a:rPr sz="1050" b="0">
                <a:solidFill>
                  <a:srgbClr val="1E8E3E"/>
                </a:solidFill>
                <a:latin typeface="Google Sans Flex"/>
                <a:ea typeface="Google Sans Flex"/>
                <a:cs typeface="Google Sans Flex"/>
                <a:sym typeface="Google Sans Flex"/>
              </a:rPr>
              <a:t>•  </a:t>
            </a:r>
            <a:r>
              <a:rPr sz="1050" b="0">
                <a:solidFill>
                  <a:srgbClr val="202124"/>
                </a:solidFill>
                <a:latin typeface="Google Sans Flex"/>
                <a:ea typeface="Google Sans Flex"/>
                <a:cs typeface="Google Sans Flex"/>
                <a:sym typeface="Google Sans Flex"/>
              </a:rPr>
              <a:t>20–30 real shops in one Mumbai neighbourhood</a:t>
            </a:r>
          </a:p>
          <a:p>
            <a:pPr algn="l">
              <a:spcAft>
                <a:spcPts val="700"/>
              </a:spcAft>
            </a:pPr>
            <a:r>
              <a:rPr sz="1050" b="0">
                <a:solidFill>
                  <a:srgbClr val="1E8E3E"/>
                </a:solidFill>
                <a:latin typeface="Google Sans Flex"/>
                <a:ea typeface="Google Sans Flex"/>
                <a:cs typeface="Google Sans Flex"/>
                <a:sym typeface="Google Sans Flex"/>
              </a:rPr>
              <a:t>•  </a:t>
            </a:r>
            <a:r>
              <a:rPr sz="1050" b="0">
                <a:solidFill>
                  <a:srgbClr val="202124"/>
                </a:solidFill>
                <a:latin typeface="Google Sans Flex"/>
                <a:ea typeface="Google Sans Flex"/>
                <a:cs typeface="Google Sans Flex"/>
                <a:sym typeface="Google Sans Flex"/>
              </a:rPr>
              <a:t>Measure reply rate, time to proof, trips saved, visits that became sales</a:t>
            </a:r>
          </a:p>
          <a:p>
            <a:pPr algn="l">
              <a:spcAft>
                <a:spcPts val="700"/>
              </a:spcAft>
            </a:pPr>
            <a:r>
              <a:rPr sz="1050" b="0">
                <a:solidFill>
                  <a:srgbClr val="1E8E3E"/>
                </a:solidFill>
                <a:latin typeface="Google Sans Flex"/>
                <a:ea typeface="Google Sans Flex"/>
                <a:cs typeface="Google Sans Flex"/>
                <a:sym typeface="Google Sans Flex"/>
              </a:rPr>
              <a:t>•  </a:t>
            </a:r>
            <a:r>
              <a:rPr sz="1050" b="0">
                <a:solidFill>
                  <a:srgbClr val="202124"/>
                </a:solidFill>
                <a:latin typeface="Google Sans Flex"/>
                <a:ea typeface="Google Sans Flex"/>
                <a:cs typeface="Google Sans Flex"/>
                <a:sym typeface="Google Sans Flex"/>
              </a:rPr>
              <a:t>Shop trust score from proof history; repeated conflicts flagged</a:t>
            </a:r>
          </a:p>
        </p:txBody>
      </p:sp>
      <p:sp>
        <p:nvSpPr>
          <p:cNvPr id="155" name="Rounded Rectangle 154"/>
          <p:cNvSpPr/>
          <p:nvPr/>
        </p:nvSpPr>
        <p:spPr>
          <a:xfrm>
            <a:off x="3200400" y="1261872"/>
            <a:ext cx="2697480" cy="2286000"/>
          </a:xfrm>
          <a:prstGeom prst="roundRect">
            <a:avLst>
              <a:gd name="adj" fmla="val 6000"/>
            </a:avLst>
          </a:prstGeom>
          <a:solidFill>
            <a:srgbClr val="E8F0FE"/>
          </a:solidFill>
          <a:ln>
            <a:noFill/>
          </a:ln>
        </p:spPr>
        <p:txBody>
          <a:bodyPr rtlCol="0" anchor="ctr"/>
          <a:lstStyle/>
          <a:p>
            <a:pPr algn="ctr"/>
          </a:p>
        </p:txBody>
      </p:sp>
      <p:sp>
        <p:nvSpPr>
          <p:cNvPr id="156" name="TextBox 155"/>
          <p:cNvSpPr txBox="1"/>
          <p:nvPr/>
        </p:nvSpPr>
        <p:spPr>
          <a:xfrm>
            <a:off x="3364992" y="1371600"/>
            <a:ext cx="2377440" cy="320040"/>
          </a:xfrm>
          <a:prstGeom prst="rect">
            <a:avLst/>
          </a:prstGeom>
          <a:noFill/>
        </p:spPr>
        <p:txBody>
          <a:bodyPr wrap="square" anchor="t" lIns="0" rIns="0" tIns="0" bIns="0">
            <a:spAutoFit/>
          </a:bodyPr>
          <a:lstStyle/>
          <a:p>
            <a:pPr algn="l">
              <a:spcAft>
                <a:spcPts val="400"/>
              </a:spcAft>
            </a:pPr>
            <a:r>
              <a:rPr sz="1300" b="0">
                <a:solidFill>
                  <a:srgbClr val="202124"/>
                </a:solidFill>
                <a:latin typeface="Google Sans Flex Medium"/>
                <a:ea typeface="Google Sans Flex Medium"/>
                <a:cs typeface="Google Sans Flex Medium"/>
                <a:sym typeface="Google Sans Flex Medium"/>
              </a:rPr>
              <a:t>Product</a:t>
            </a:r>
          </a:p>
        </p:txBody>
      </p:sp>
      <p:sp>
        <p:nvSpPr>
          <p:cNvPr id="157" name="TextBox 156"/>
          <p:cNvSpPr txBox="1"/>
          <p:nvPr/>
        </p:nvSpPr>
        <p:spPr>
          <a:xfrm>
            <a:off x="3364992" y="1737360"/>
            <a:ext cx="2395728" cy="1737360"/>
          </a:xfrm>
          <a:prstGeom prst="rect">
            <a:avLst/>
          </a:prstGeom>
          <a:noFill/>
        </p:spPr>
        <p:txBody>
          <a:bodyPr wrap="square" anchor="t" lIns="0" rIns="0" tIns="0" bIns="0">
            <a:spAutoFit/>
          </a:bodyPr>
          <a:lstStyle/>
          <a:p>
            <a:pPr algn="l">
              <a:spcAft>
                <a:spcPts val="700"/>
              </a:spcAft>
            </a:pPr>
            <a:r>
              <a:rPr sz="1050" b="0">
                <a:solidFill>
                  <a:srgbClr val="1A73E8"/>
                </a:solidFill>
                <a:latin typeface="Google Sans Flex"/>
                <a:ea typeface="Google Sans Flex"/>
                <a:cs typeface="Google Sans Flex"/>
                <a:sym typeface="Google Sans Flex"/>
              </a:rPr>
              <a:t>•  </a:t>
            </a:r>
            <a:r>
              <a:rPr sz="1050" b="0">
                <a:solidFill>
                  <a:srgbClr val="202124"/>
                </a:solidFill>
                <a:latin typeface="Google Sans Flex"/>
                <a:ea typeface="Google Sans Flex"/>
                <a:cs typeface="Google Sans Flex"/>
                <a:sym typeface="Google Sans Flex"/>
              </a:rPr>
              <a:t>Shops reply inside WhatsApp (WhatsApp Business API)</a:t>
            </a:r>
          </a:p>
          <a:p>
            <a:pPr algn="l">
              <a:spcAft>
                <a:spcPts val="700"/>
              </a:spcAft>
            </a:pPr>
            <a:r>
              <a:rPr sz="1050" b="0">
                <a:solidFill>
                  <a:srgbClr val="1A73E8"/>
                </a:solidFill>
                <a:latin typeface="Google Sans Flex"/>
                <a:ea typeface="Google Sans Flex"/>
                <a:cs typeface="Google Sans Flex"/>
                <a:sym typeface="Google Sans Flex"/>
              </a:rPr>
              <a:t>•  </a:t>
            </a:r>
            <a:r>
              <a:rPr sz="1050" b="0">
                <a:solidFill>
                  <a:srgbClr val="202124"/>
                </a:solidFill>
                <a:latin typeface="Google Sans Flex"/>
                <a:ea typeface="Google Sans Flex"/>
                <a:cs typeface="Google Sans Flex"/>
                <a:sym typeface="Google Sans Flex"/>
              </a:rPr>
              <a:t>Notify a shopper when a shop restocks what they asked for</a:t>
            </a:r>
          </a:p>
          <a:p>
            <a:pPr algn="l">
              <a:spcAft>
                <a:spcPts val="700"/>
              </a:spcAft>
            </a:pPr>
            <a:r>
              <a:rPr sz="1050" b="0">
                <a:solidFill>
                  <a:srgbClr val="1A73E8"/>
                </a:solidFill>
                <a:latin typeface="Google Sans Flex"/>
                <a:ea typeface="Google Sans Flex"/>
                <a:cs typeface="Google Sans Flex"/>
                <a:sym typeface="Google Sans Flex"/>
              </a:rPr>
              <a:t>•  </a:t>
            </a:r>
            <a:r>
              <a:rPr sz="1050" b="0">
                <a:solidFill>
                  <a:srgbClr val="202124"/>
                </a:solidFill>
                <a:latin typeface="Google Sans Flex"/>
                <a:ea typeface="Google Sans Flex"/>
                <a:cs typeface="Google Sans Flex"/>
                <a:sym typeface="Google Sans Flex"/>
              </a:rPr>
              <a:t>Recommendations from a shopper's past needs and budgets</a:t>
            </a:r>
          </a:p>
        </p:txBody>
      </p:sp>
      <p:sp>
        <p:nvSpPr>
          <p:cNvPr id="158" name="Rounded Rectangle 157"/>
          <p:cNvSpPr/>
          <p:nvPr/>
        </p:nvSpPr>
        <p:spPr>
          <a:xfrm>
            <a:off x="6035040" y="1261872"/>
            <a:ext cx="2697480" cy="2286000"/>
          </a:xfrm>
          <a:prstGeom prst="roundRect">
            <a:avLst>
              <a:gd name="adj" fmla="val 6000"/>
            </a:avLst>
          </a:prstGeom>
          <a:solidFill>
            <a:srgbClr val="FEF7E0"/>
          </a:solidFill>
          <a:ln>
            <a:noFill/>
          </a:ln>
        </p:spPr>
        <p:txBody>
          <a:bodyPr rtlCol="0" anchor="ctr"/>
          <a:lstStyle/>
          <a:p>
            <a:pPr algn="ctr"/>
          </a:p>
        </p:txBody>
      </p:sp>
      <p:sp>
        <p:nvSpPr>
          <p:cNvPr id="159" name="TextBox 158"/>
          <p:cNvSpPr txBox="1"/>
          <p:nvPr/>
        </p:nvSpPr>
        <p:spPr>
          <a:xfrm>
            <a:off x="6199632" y="1371600"/>
            <a:ext cx="2377440" cy="320040"/>
          </a:xfrm>
          <a:prstGeom prst="rect">
            <a:avLst/>
          </a:prstGeom>
          <a:noFill/>
        </p:spPr>
        <p:txBody>
          <a:bodyPr wrap="square" anchor="t" lIns="0" rIns="0" tIns="0" bIns="0">
            <a:spAutoFit/>
          </a:bodyPr>
          <a:lstStyle/>
          <a:p>
            <a:pPr algn="l">
              <a:spcAft>
                <a:spcPts val="400"/>
              </a:spcAft>
            </a:pPr>
            <a:r>
              <a:rPr sz="1300" b="0">
                <a:solidFill>
                  <a:srgbClr val="202124"/>
                </a:solidFill>
                <a:latin typeface="Google Sans Flex Medium"/>
                <a:ea typeface="Google Sans Flex Medium"/>
                <a:cs typeface="Google Sans Flex Medium"/>
                <a:sym typeface="Google Sans Flex Medium"/>
              </a:rPr>
              <a:t>Platform</a:t>
            </a:r>
          </a:p>
        </p:txBody>
      </p:sp>
      <p:sp>
        <p:nvSpPr>
          <p:cNvPr id="160" name="TextBox 159"/>
          <p:cNvSpPr txBox="1"/>
          <p:nvPr/>
        </p:nvSpPr>
        <p:spPr>
          <a:xfrm>
            <a:off x="6199632" y="1737360"/>
            <a:ext cx="2395728" cy="1737360"/>
          </a:xfrm>
          <a:prstGeom prst="rect">
            <a:avLst/>
          </a:prstGeom>
          <a:noFill/>
        </p:spPr>
        <p:txBody>
          <a:bodyPr wrap="square" anchor="t" lIns="0" rIns="0" tIns="0" bIns="0">
            <a:spAutoFit/>
          </a:bodyPr>
          <a:lstStyle/>
          <a:p>
            <a:pPr algn="l">
              <a:spcAft>
                <a:spcPts val="700"/>
              </a:spcAft>
            </a:pPr>
            <a:r>
              <a:rPr sz="1050" b="0">
                <a:solidFill>
                  <a:srgbClr val="F9AB00"/>
                </a:solidFill>
                <a:latin typeface="Google Sans Flex"/>
                <a:ea typeface="Google Sans Flex"/>
                <a:cs typeface="Google Sans Flex"/>
                <a:sym typeface="Google Sans Flex"/>
              </a:rPr>
              <a:t>•  </a:t>
            </a:r>
            <a:r>
              <a:rPr sz="1050" b="0">
                <a:solidFill>
                  <a:srgbClr val="202124"/>
                </a:solidFill>
                <a:latin typeface="Google Sans Flex"/>
                <a:ea typeface="Google Sans Flex"/>
                <a:cs typeface="Google Sans Flex"/>
                <a:sym typeface="Google Sans Flex"/>
              </a:rPr>
              <a:t>Cloud SQL or AlloyDB for operational data; more Cloud Run instances</a:t>
            </a:r>
          </a:p>
          <a:p>
            <a:pPr algn="l">
              <a:spcAft>
                <a:spcPts val="700"/>
              </a:spcAft>
            </a:pPr>
            <a:r>
              <a:rPr sz="1050" b="0">
                <a:solidFill>
                  <a:srgbClr val="F9AB00"/>
                </a:solidFill>
                <a:latin typeface="Google Sans Flex"/>
                <a:ea typeface="Google Sans Flex"/>
                <a:cs typeface="Google Sans Flex"/>
                <a:sym typeface="Google Sans Flex"/>
              </a:rPr>
              <a:t>•  </a:t>
            </a:r>
            <a:r>
              <a:rPr sz="1050" b="0">
                <a:solidFill>
                  <a:srgbClr val="202124"/>
                </a:solidFill>
                <a:latin typeface="Google Sans Flex"/>
                <a:ea typeface="Google Sans Flex"/>
                <a:cs typeface="Google Sans Flex"/>
                <a:sym typeface="Google Sans Flex"/>
              </a:rPr>
              <a:t>Firebase Authentication for real shopper and shop sign-in</a:t>
            </a:r>
          </a:p>
          <a:p>
            <a:pPr algn="l">
              <a:spcAft>
                <a:spcPts val="700"/>
              </a:spcAft>
            </a:pPr>
            <a:r>
              <a:rPr sz="1050" b="0">
                <a:solidFill>
                  <a:srgbClr val="F9AB00"/>
                </a:solidFill>
                <a:latin typeface="Google Sans Flex"/>
                <a:ea typeface="Google Sans Flex"/>
                <a:cs typeface="Google Sans Flex"/>
                <a:sym typeface="Google Sans Flex"/>
              </a:rPr>
              <a:t>•  </a:t>
            </a:r>
            <a:r>
              <a:rPr sz="1050" b="0">
                <a:solidFill>
                  <a:srgbClr val="202124"/>
                </a:solidFill>
                <a:latin typeface="Google Sans Flex"/>
                <a:ea typeface="Google Sans Flex"/>
                <a:cs typeface="Google Sans Flex"/>
                <a:sym typeface="Google Sans Flex"/>
              </a:rPr>
              <a:t>Looker dashboards on the BigQuery views; Gemini check that filters mislabelled map listings</a:t>
            </a:r>
          </a:p>
        </p:txBody>
      </p:sp>
      <p:sp>
        <p:nvSpPr>
          <p:cNvPr id="161" name="Rounded Rectangle 160"/>
          <p:cNvSpPr/>
          <p:nvPr/>
        </p:nvSpPr>
        <p:spPr>
          <a:xfrm>
            <a:off x="365760" y="3675887"/>
            <a:ext cx="8412480" cy="868680"/>
          </a:xfrm>
          <a:prstGeom prst="roundRect">
            <a:avLst>
              <a:gd name="adj" fmla="val 8000"/>
            </a:avLst>
          </a:prstGeom>
          <a:noFill/>
          <a:ln w="12700">
            <a:solidFill>
              <a:srgbClr val="DADCE0"/>
            </a:solidFill>
          </a:ln>
        </p:spPr>
        <p:txBody>
          <a:bodyPr rtlCol="0" anchor="ctr"/>
          <a:lstStyle/>
          <a:p>
            <a:pPr algn="ctr"/>
          </a:p>
        </p:txBody>
      </p:sp>
      <p:sp>
        <p:nvSpPr>
          <p:cNvPr id="162" name="TextBox 161"/>
          <p:cNvSpPr txBox="1"/>
          <p:nvPr/>
        </p:nvSpPr>
        <p:spPr>
          <a:xfrm>
            <a:off x="548640" y="3749039"/>
            <a:ext cx="8092440" cy="777240"/>
          </a:xfrm>
          <a:prstGeom prst="rect">
            <a:avLst/>
          </a:prstGeom>
          <a:noFill/>
        </p:spPr>
        <p:txBody>
          <a:bodyPr wrap="square" anchor="t" lIns="0" rIns="0" tIns="0" bIns="0">
            <a:spAutoFit/>
          </a:bodyPr>
          <a:lstStyle/>
          <a:p>
            <a:pPr algn="l">
              <a:spcAft>
                <a:spcPts val="400"/>
              </a:spcAft>
            </a:pPr>
            <a:r>
              <a:rPr sz="1100" b="0">
                <a:solidFill>
                  <a:srgbClr val="202124"/>
                </a:solidFill>
                <a:latin typeface="Google Sans Flex Medium"/>
                <a:ea typeface="Google Sans Flex Medium"/>
                <a:cs typeface="Google Sans Flex Medium"/>
                <a:sym typeface="Google Sans Flex Medium"/>
              </a:rPr>
              <a:t>Business model  </a:t>
            </a:r>
            <a:r>
              <a:rPr sz="1050" b="0">
                <a:solidFill>
                  <a:srgbClr val="5F6368"/>
                </a:solidFill>
                <a:latin typeface="Google Sans Flex"/>
                <a:ea typeface="Google Sans Flex"/>
                <a:cs typeface="Google Sans Flex"/>
                <a:sym typeface="Google Sans Flex"/>
              </a:rPr>
              <a:t>Free for shoppers. Shops pay per ready-to-buy customer, or a monthly plan for demand and stock insights. Malls and brands buy category demand by neighbourhood.</a:t>
            </a:r>
          </a:p>
          <a:p>
            <a:pPr algn="l">
              <a:spcAft>
                <a:spcPts val="400"/>
              </a:spcAft>
            </a:pPr>
            <a:r>
              <a:rPr sz="1100" b="0">
                <a:solidFill>
                  <a:srgbClr val="202124"/>
                </a:solidFill>
                <a:latin typeface="Google Sans Flex Medium"/>
                <a:ea typeface="Google Sans Flex Medium"/>
                <a:cs typeface="Google Sans Flex Medium"/>
                <a:sym typeface="Google Sans Flex Medium"/>
              </a:rPr>
              <a:t>Known limits today  </a:t>
            </a:r>
            <a:r>
              <a:rPr sz="1050" b="0">
                <a:solidFill>
                  <a:srgbClr val="5F6368"/>
                </a:solidFill>
                <a:latin typeface="Google Sans Flex"/>
                <a:ea typeface="Google Sans Flex"/>
                <a:cs typeface="Google Sans Flex"/>
                <a:sym typeface="Google Sans Flex"/>
              </a:rPr>
              <a:t>sample shops (labelled) carry fictional listings; tests are small; one Cloud Run instance.</a:t>
            </a: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pic>
        <p:nvPicPr>
          <p:cNvPr id="156" name="Google Shape;156;p26"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157" name="Google Shape;157;p26"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158" name="Google Shape;158;p26"/>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9" name="Google Shape;159;p26"/>
          <p:cNvSpPr txBox="1"/>
          <p:nvPr/>
        </p:nvSpPr>
        <p:spPr>
          <a:xfrm>
            <a:off x="265350" y="663825"/>
            <a:ext cx="8943000" cy="50292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latin typeface="Google Sans Flex Medium"/>
                <a:ea typeface="Google Sans Flex Medium"/>
                <a:cs typeface="Google Sans Flex Medium"/>
                <a:sym typeface="Google Sans Flex Medium"/>
              </a:rPr>
              <a:t>Links</a:t>
            </a:r>
            <a:endParaRPr sz="1600">
              <a:latin typeface="Google Sans Flex Medium"/>
              <a:ea typeface="Google Sans Flex Medium"/>
              <a:cs typeface="Google Sans Flex Medium"/>
              <a:sym typeface="Google Sans Flex Medium"/>
            </a:endParaRPr>
          </a:p>
        </p:txBody>
      </p:sp>
      <p:sp>
        <p:nvSpPr>
          <p:cNvPr id="160" name="Rounded Rectangle 159"/>
          <p:cNvSpPr/>
          <p:nvPr/>
        </p:nvSpPr>
        <p:spPr>
          <a:xfrm>
            <a:off x="365760" y="1325880"/>
            <a:ext cx="8412480" cy="731520"/>
          </a:xfrm>
          <a:prstGeom prst="roundRect">
            <a:avLst>
              <a:gd name="adj" fmla="val 10000"/>
            </a:avLst>
          </a:prstGeom>
          <a:solidFill>
            <a:srgbClr val="F1F3F4"/>
          </a:solidFill>
          <a:ln>
            <a:noFill/>
          </a:ln>
        </p:spPr>
        <p:txBody>
          <a:bodyPr rtlCol="0" anchor="ctr"/>
          <a:lstStyle/>
          <a:p>
            <a:pPr algn="ctr"/>
          </a:p>
        </p:txBody>
      </p:sp>
      <p:sp>
        <p:nvSpPr>
          <p:cNvPr id="161" name="TextBox 160"/>
          <p:cNvSpPr txBox="1"/>
          <p:nvPr/>
        </p:nvSpPr>
        <p:spPr>
          <a:xfrm>
            <a:off x="594360" y="1417320"/>
            <a:ext cx="2743200" cy="548640"/>
          </a:xfrm>
          <a:prstGeom prst="rect">
            <a:avLst/>
          </a:prstGeom>
          <a:noFill/>
        </p:spPr>
        <p:txBody>
          <a:bodyPr wrap="square" anchor="ctr" lIns="0" rIns="0" tIns="0" bIns="0">
            <a:spAutoFit/>
          </a:bodyPr>
          <a:lstStyle/>
          <a:p>
            <a:pPr algn="l">
              <a:spcAft>
                <a:spcPts val="400"/>
              </a:spcAft>
            </a:pPr>
            <a:r>
              <a:rPr sz="1300" b="0">
                <a:solidFill>
                  <a:srgbClr val="202124"/>
                </a:solidFill>
                <a:latin typeface="Google Sans Flex Medium"/>
                <a:ea typeface="Google Sans Flex Medium"/>
                <a:cs typeface="Google Sans Flex Medium"/>
                <a:sym typeface="Google Sans Flex Medium"/>
              </a:rPr>
              <a:t>GitHub public repository</a:t>
            </a:r>
          </a:p>
        </p:txBody>
      </p:sp>
      <p:sp>
        <p:nvSpPr>
          <p:cNvPr id="162" name="TextBox 161"/>
          <p:cNvSpPr txBox="1"/>
          <p:nvPr/>
        </p:nvSpPr>
        <p:spPr>
          <a:xfrm>
            <a:off x="3291840" y="1417320"/>
            <a:ext cx="5303520" cy="548640"/>
          </a:xfrm>
          <a:prstGeom prst="rect">
            <a:avLst/>
          </a:prstGeom>
          <a:noFill/>
        </p:spPr>
        <p:txBody>
          <a:bodyPr wrap="square" anchor="ctr" lIns="0" rIns="0" tIns="0" bIns="0">
            <a:spAutoFit/>
          </a:bodyPr>
          <a:lstStyle/>
          <a:p>
            <a:pPr algn="l">
              <a:spcAft>
                <a:spcPts val="400"/>
              </a:spcAft>
            </a:pPr>
            <a:r>
              <a:rPr sz="1200" b="0">
                <a:solidFill>
                  <a:srgbClr val="1A73E8"/>
                </a:solidFill>
                <a:latin typeface="Google Sans Flex"/>
                <a:ea typeface="Google Sans Flex"/>
                <a:cs typeface="Google Sans Flex"/>
                <a:sym typeface="Google Sans Flex"/>
                <a:hlinkClick r:id="rId5"/>
              </a:rPr>
              <a:t>https://github.com/shrinivashunnur08/NeedProof-AI</a:t>
            </a:r>
          </a:p>
        </p:txBody>
      </p:sp>
      <p:sp>
        <p:nvSpPr>
          <p:cNvPr id="163" name="Rounded Rectangle 162"/>
          <p:cNvSpPr/>
          <p:nvPr/>
        </p:nvSpPr>
        <p:spPr>
          <a:xfrm>
            <a:off x="365760" y="2194560"/>
            <a:ext cx="8412480" cy="731520"/>
          </a:xfrm>
          <a:prstGeom prst="roundRect">
            <a:avLst>
              <a:gd name="adj" fmla="val 10000"/>
            </a:avLst>
          </a:prstGeom>
          <a:solidFill>
            <a:srgbClr val="F1F3F4"/>
          </a:solidFill>
          <a:ln>
            <a:noFill/>
          </a:ln>
        </p:spPr>
        <p:txBody>
          <a:bodyPr rtlCol="0" anchor="ctr"/>
          <a:lstStyle/>
          <a:p>
            <a:pPr algn="ctr"/>
          </a:p>
        </p:txBody>
      </p:sp>
      <p:sp>
        <p:nvSpPr>
          <p:cNvPr id="164" name="TextBox 163"/>
          <p:cNvSpPr txBox="1"/>
          <p:nvPr/>
        </p:nvSpPr>
        <p:spPr>
          <a:xfrm>
            <a:off x="594360" y="2286000"/>
            <a:ext cx="2743200" cy="548640"/>
          </a:xfrm>
          <a:prstGeom prst="rect">
            <a:avLst/>
          </a:prstGeom>
          <a:noFill/>
        </p:spPr>
        <p:txBody>
          <a:bodyPr wrap="square" anchor="ctr" lIns="0" rIns="0" tIns="0" bIns="0">
            <a:spAutoFit/>
          </a:bodyPr>
          <a:lstStyle/>
          <a:p>
            <a:pPr algn="l">
              <a:spcAft>
                <a:spcPts val="400"/>
              </a:spcAft>
            </a:pPr>
            <a:r>
              <a:rPr sz="1300" b="0">
                <a:solidFill>
                  <a:srgbClr val="202124"/>
                </a:solidFill>
                <a:latin typeface="Google Sans Flex Medium"/>
                <a:ea typeface="Google Sans Flex Medium"/>
                <a:cs typeface="Google Sans Flex Medium"/>
                <a:sym typeface="Google Sans Flex Medium"/>
              </a:rPr>
              <a:t>Demo video (3–4 minutes)</a:t>
            </a:r>
          </a:p>
        </p:txBody>
      </p:sp>
      <p:sp>
        <p:nvSpPr>
          <p:cNvPr id="165" name="TextBox 164"/>
          <p:cNvSpPr txBox="1"/>
          <p:nvPr/>
        </p:nvSpPr>
        <p:spPr>
          <a:xfrm>
            <a:off x="3291840" y="2286000"/>
            <a:ext cx="5303520" cy="548640"/>
          </a:xfrm>
          <a:prstGeom prst="rect">
            <a:avLst/>
          </a:prstGeom>
          <a:noFill/>
        </p:spPr>
        <p:txBody>
          <a:bodyPr wrap="square" anchor="ctr" lIns="0" rIns="0" tIns="0" bIns="0">
            <a:spAutoFit/>
          </a:bodyPr>
          <a:lstStyle/>
          <a:p>
            <a:pPr algn="l">
              <a:spcAft>
                <a:spcPts val="400"/>
              </a:spcAft>
            </a:pPr>
            <a:r>
              <a:rPr sz="1200" b="0">
                <a:solidFill>
                  <a:srgbClr val="5F6368"/>
                </a:solidFill>
                <a:latin typeface="Google Sans Flex"/>
                <a:ea typeface="Google Sans Flex"/>
                <a:cs typeface="Google Sans Flex"/>
                <a:sym typeface="Google Sans Flex"/>
              </a:rPr>
              <a:t>‹add the video link›</a:t>
            </a:r>
          </a:p>
        </p:txBody>
      </p:sp>
      <p:sp>
        <p:nvSpPr>
          <p:cNvPr id="166" name="Rounded Rectangle 165"/>
          <p:cNvSpPr/>
          <p:nvPr/>
        </p:nvSpPr>
        <p:spPr>
          <a:xfrm>
            <a:off x="365760" y="3063239"/>
            <a:ext cx="8412480" cy="731520"/>
          </a:xfrm>
          <a:prstGeom prst="roundRect">
            <a:avLst>
              <a:gd name="adj" fmla="val 10000"/>
            </a:avLst>
          </a:prstGeom>
          <a:solidFill>
            <a:srgbClr val="F1F3F4"/>
          </a:solidFill>
          <a:ln>
            <a:noFill/>
          </a:ln>
        </p:spPr>
        <p:txBody>
          <a:bodyPr rtlCol="0" anchor="ctr"/>
          <a:lstStyle/>
          <a:p>
            <a:pPr algn="ctr"/>
          </a:p>
        </p:txBody>
      </p:sp>
      <p:sp>
        <p:nvSpPr>
          <p:cNvPr id="167" name="TextBox 166"/>
          <p:cNvSpPr txBox="1"/>
          <p:nvPr/>
        </p:nvSpPr>
        <p:spPr>
          <a:xfrm>
            <a:off x="594360" y="3154679"/>
            <a:ext cx="2743200" cy="548640"/>
          </a:xfrm>
          <a:prstGeom prst="rect">
            <a:avLst/>
          </a:prstGeom>
          <a:noFill/>
        </p:spPr>
        <p:txBody>
          <a:bodyPr wrap="square" anchor="ctr" lIns="0" rIns="0" tIns="0" bIns="0">
            <a:spAutoFit/>
          </a:bodyPr>
          <a:lstStyle/>
          <a:p>
            <a:pPr algn="l">
              <a:spcAft>
                <a:spcPts val="400"/>
              </a:spcAft>
            </a:pPr>
            <a:r>
              <a:rPr sz="1300" b="0">
                <a:solidFill>
                  <a:srgbClr val="202124"/>
                </a:solidFill>
                <a:latin typeface="Google Sans Flex Medium"/>
                <a:ea typeface="Google Sans Flex Medium"/>
                <a:cs typeface="Google Sans Flex Medium"/>
                <a:sym typeface="Google Sans Flex Medium"/>
              </a:rPr>
              <a:t>Live prototype (Cloud Run)</a:t>
            </a:r>
          </a:p>
        </p:txBody>
      </p:sp>
      <p:sp>
        <p:nvSpPr>
          <p:cNvPr id="168" name="TextBox 167"/>
          <p:cNvSpPr txBox="1"/>
          <p:nvPr/>
        </p:nvSpPr>
        <p:spPr>
          <a:xfrm>
            <a:off x="3291840" y="3154679"/>
            <a:ext cx="5303520" cy="548640"/>
          </a:xfrm>
          <a:prstGeom prst="rect">
            <a:avLst/>
          </a:prstGeom>
          <a:noFill/>
        </p:spPr>
        <p:txBody>
          <a:bodyPr wrap="square" anchor="ctr" lIns="0" rIns="0" tIns="0" bIns="0">
            <a:spAutoFit/>
          </a:bodyPr>
          <a:lstStyle/>
          <a:p>
            <a:pPr algn="l">
              <a:spcAft>
                <a:spcPts val="400"/>
              </a:spcAft>
            </a:pPr>
            <a:r>
              <a:rPr sz="1200" b="0">
                <a:solidFill>
                  <a:srgbClr val="1A73E8"/>
                </a:solidFill>
                <a:latin typeface="Google Sans Flex"/>
                <a:ea typeface="Google Sans Flex"/>
                <a:cs typeface="Google Sans Flex"/>
                <a:sym typeface="Google Sans Flex"/>
                <a:hlinkClick r:id="rId6"/>
              </a:rPr>
              <a:t>https://needproof-822406860102.asia-southeast1.run.app</a:t>
            </a:r>
          </a:p>
        </p:txBody>
      </p:sp>
      <p:sp>
        <p:nvSpPr>
          <p:cNvPr id="169" name="TextBox 168"/>
          <p:cNvSpPr txBox="1"/>
          <p:nvPr/>
        </p:nvSpPr>
        <p:spPr>
          <a:xfrm>
            <a:off x="365760" y="4023360"/>
            <a:ext cx="8412480" cy="457200"/>
          </a:xfrm>
          <a:prstGeom prst="rect">
            <a:avLst/>
          </a:prstGeom>
          <a:noFill/>
        </p:spPr>
        <p:txBody>
          <a:bodyPr wrap="square" anchor="t" lIns="0" rIns="0" tIns="0" bIns="0">
            <a:spAutoFit/>
          </a:bodyPr>
          <a:lstStyle/>
          <a:p>
            <a:pPr algn="l">
              <a:spcAft>
                <a:spcPts val="400"/>
              </a:spcAft>
            </a:pPr>
            <a:r>
              <a:rPr sz="1000" b="0">
                <a:solidFill>
                  <a:srgbClr val="5F6368"/>
                </a:solidFill>
                <a:latin typeface="Google Sans Flex"/>
                <a:ea typeface="Google Sans Flex"/>
                <a:cs typeface="Google Sans Flex"/>
                <a:sym typeface="Google Sans Flex"/>
              </a:rPr>
              <a:t>Try it: pick a role from "Signed in as". As a shopper in Mumbai, tap "Search by photo"; then "Reply as shop" on a real nearby shop to answer as that shopkeeper.</a:t>
            </a: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pic>
        <p:nvPicPr>
          <p:cNvPr id="164" name="Google Shape;164;p27"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165" name="Google Shape;165;p27"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166" name="Google Shape;166;p27"/>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9" name="Google Shape;119;p21"/>
          <p:cNvSpPr txBox="1"/>
          <p:nvPr/>
        </p:nvSpPr>
        <p:spPr>
          <a:xfrm>
            <a:off x="265350" y="663825"/>
            <a:ext cx="8943000" cy="50292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latin typeface="Google Sans Flex Medium"/>
                <a:ea typeface="Google Sans Flex Medium"/>
                <a:cs typeface="Google Sans Flex Medium"/>
                <a:sym typeface="Google Sans Flex Medium"/>
              </a:rPr>
              <a:t>How NeedProof covers the theme's suggested directions and technologies</a:t>
            </a:r>
            <a:endParaRPr sz="1600">
              <a:latin typeface="Google Sans Flex Medium"/>
              <a:ea typeface="Google Sans Flex Medium"/>
              <a:cs typeface="Google Sans Flex Medium"/>
              <a:sym typeface="Google Sans Flex Medium"/>
            </a:endParaRPr>
          </a:p>
        </p:txBody>
      </p:sp>
      <p:graphicFrame>
        <p:nvGraphicFramePr>
          <p:cNvPr id="167" name="Table 166"/>
          <p:cNvGraphicFramePr>
            <a:graphicFrameLocks noGrp="1"/>
          </p:cNvGraphicFramePr>
          <p:nvPr/>
        </p:nvGraphicFramePr>
        <p:xfrm>
          <a:off x="365760" y="1234440"/>
          <a:ext cx="4800600" cy="2962656"/>
        </p:xfrm>
        <a:graphic>
          <a:graphicData uri="http://schemas.openxmlformats.org/drawingml/2006/table">
            <a:tbl>
              <a:tblPr firstRow="0" bandRow="0">
                <a:tableStyleId>{5940675A-B579-460E-94D1-54222C63F5DA}</a:tableStyleId>
              </a:tblPr>
              <a:tblGrid>
                <a:gridCol w="1417320"/>
                <a:gridCol w="274320"/>
                <a:gridCol w="3108960"/>
              </a:tblGrid>
              <a:tr h="329184">
                <a:tc>
                  <a:txBody>
                    <a:bodyPr/>
                    <a:lstStyle/>
                    <a:p>
                      <a:r>
                        <a:rPr sz="950" b="0">
                          <a:solidFill>
                            <a:srgbClr val="FFFFFF"/>
                          </a:solidFill>
                          <a:latin typeface="Google Sans Flex Medium"/>
                          <a:ea typeface="Google Sans Flex Medium"/>
                          <a:cs typeface="Google Sans Flex Medium"/>
                          <a:sym typeface="Google Sans Flex Medium"/>
                        </a:rPr>
                        <a:t>Suggested direction</a:t>
                      </a:r>
                    </a:p>
                  </a:txBody>
                  <a:tcPr>
                    <a:solidFill>
                      <a:srgbClr val="202124"/>
                    </a:solidFill>
                  </a:tcPr>
                </a:tc>
                <a:tc>
                  <a:txBody>
                    <a:bodyPr/>
                    <a:lstStyle/>
                    <a:p>
                      <a:r>
                        <a:rPr sz="950" b="0">
                          <a:solidFill>
                            <a:srgbClr val="FFFFFF"/>
                          </a:solidFill>
                          <a:latin typeface="Google Sans Flex Medium"/>
                          <a:ea typeface="Google Sans Flex Medium"/>
                          <a:cs typeface="Google Sans Flex Medium"/>
                          <a:sym typeface="Google Sans Flex Medium"/>
                        </a:rPr>
                        <a:t/>
                      </a:r>
                    </a:p>
                  </a:txBody>
                  <a:tcPr>
                    <a:solidFill>
                      <a:srgbClr val="202124"/>
                    </a:solidFill>
                  </a:tcPr>
                </a:tc>
                <a:tc>
                  <a:txBody>
                    <a:bodyPr/>
                    <a:lstStyle/>
                    <a:p>
                      <a:r>
                        <a:rPr sz="950" b="0">
                          <a:solidFill>
                            <a:srgbClr val="FFFFFF"/>
                          </a:solidFill>
                          <a:latin typeface="Google Sans Flex Medium"/>
                          <a:ea typeface="Google Sans Flex Medium"/>
                          <a:cs typeface="Google Sans Flex Medium"/>
                          <a:sym typeface="Google Sans Flex Medium"/>
                        </a:rPr>
                        <a:t>Where in NeedProof</a:t>
                      </a:r>
                    </a:p>
                  </a:txBody>
                  <a:tcPr>
                    <a:solidFill>
                      <a:srgbClr val="202124"/>
                    </a:solidFill>
                  </a:tcPr>
                </a:tc>
              </a:tr>
              <a:tr h="329184">
                <a:tc>
                  <a:txBody>
                    <a:bodyPr/>
                    <a:lstStyle/>
                    <a:p>
                      <a:r>
                        <a:rPr sz="950" b="0">
                          <a:solidFill>
                            <a:srgbClr val="202124"/>
                          </a:solidFill>
                          <a:latin typeface="Google Sans Flex Medium"/>
                          <a:ea typeface="Google Sans Flex Medium"/>
                          <a:cs typeface="Google Sans Flex Medium"/>
                          <a:sym typeface="Google Sans Flex Medium"/>
                        </a:rPr>
                        <a:t>Conversational commerce</a:t>
                      </a:r>
                    </a:p>
                  </a:txBody>
                  <a:tcPr marT="27432" marB="27432" marL="54864" marR="54864">
                    <a:solidFill>
                      <a:srgbClr val="FFFFFF"/>
                    </a:solidFill>
                  </a:tcPr>
                </a:tc>
                <a:tc>
                  <a:txBody>
                    <a:bodyPr/>
                    <a:lstStyle/>
                    <a:p>
                      <a:pPr algn="ctr"/>
                      <a:r>
                        <a:rPr sz="1000" b="0">
                          <a:solidFill>
                            <a:srgbClr val="1E8E3E"/>
                          </a:solidFill>
                          <a:latin typeface="Google Sans Flex Medium"/>
                          <a:ea typeface="Google Sans Flex Medium"/>
                          <a:cs typeface="Google Sans Flex Medium"/>
                          <a:sym typeface="Google Sans Flex Medium"/>
                        </a:rPr>
                        <a:t>●</a:t>
                      </a:r>
                    </a:p>
                  </a:txBody>
                  <a:tcPr marT="27432" marB="27432" marL="54864" marR="54864">
                    <a:solidFill>
                      <a:srgbClr val="FFFFFF"/>
                    </a:solidFill>
                  </a:tcPr>
                </a:tc>
                <a:tc>
                  <a:txBody>
                    <a:bodyPr/>
                    <a:lstStyle/>
                    <a:p>
                      <a:r>
                        <a:rPr sz="850" b="0">
                          <a:solidFill>
                            <a:srgbClr val="5F6368"/>
                          </a:solidFill>
                          <a:latin typeface="Google Sans Flex"/>
                          <a:ea typeface="Google Sans Flex"/>
                          <a:cs typeface="Google Sans Flex"/>
                          <a:sym typeface="Google Sans Flex"/>
                        </a:rPr>
                        <a:t>Gemini agent chat in any language, voice and photo; shops reply by link</a:t>
                      </a:r>
                    </a:p>
                  </a:txBody>
                  <a:tcPr marT="27432" marB="27432" marL="54864" marR="54864">
                    <a:solidFill>
                      <a:srgbClr val="FFFFFF"/>
                    </a:solidFill>
                  </a:tcPr>
                </a:tc>
              </a:tr>
              <a:tr h="329184">
                <a:tc>
                  <a:txBody>
                    <a:bodyPr/>
                    <a:lstStyle/>
                    <a:p>
                      <a:r>
                        <a:rPr sz="950" b="0">
                          <a:solidFill>
                            <a:srgbClr val="202124"/>
                          </a:solidFill>
                          <a:latin typeface="Google Sans Flex Medium"/>
                          <a:ea typeface="Google Sans Flex Medium"/>
                          <a:cs typeface="Google Sans Flex Medium"/>
                          <a:sym typeface="Google Sans Flex Medium"/>
                        </a:rPr>
                        <a:t>Product discovery</a:t>
                      </a:r>
                    </a:p>
                  </a:txBody>
                  <a:tcPr marT="27432" marB="27432" marL="54864" marR="54864">
                    <a:solidFill>
                      <a:srgbClr val="F1F3F4"/>
                    </a:solidFill>
                  </a:tcPr>
                </a:tc>
                <a:tc>
                  <a:txBody>
                    <a:bodyPr/>
                    <a:lstStyle/>
                    <a:p>
                      <a:pPr algn="ctr"/>
                      <a:r>
                        <a:rPr sz="1000" b="0">
                          <a:solidFill>
                            <a:srgbClr val="1E8E3E"/>
                          </a:solidFill>
                          <a:latin typeface="Google Sans Flex Medium"/>
                          <a:ea typeface="Google Sans Flex Medium"/>
                          <a:cs typeface="Google Sans Flex Medium"/>
                          <a:sym typeface="Google Sans Flex Medium"/>
                        </a:rPr>
                        <a:t>●</a:t>
                      </a:r>
                    </a:p>
                  </a:txBody>
                  <a:tcPr marT="27432" marB="27432" marL="54864" marR="54864">
                    <a:solidFill>
                      <a:srgbClr val="F1F3F4"/>
                    </a:solidFill>
                  </a:tcPr>
                </a:tc>
                <a:tc>
                  <a:txBody>
                    <a:bodyPr/>
                    <a:lstStyle/>
                    <a:p>
                      <a:r>
                        <a:rPr sz="850" b="0">
                          <a:solidFill>
                            <a:srgbClr val="5F6368"/>
                          </a:solidFill>
                          <a:latin typeface="Google Sans Flex"/>
                          <a:ea typeface="Google Sans Flex"/>
                          <a:cs typeface="Google Sans Flex"/>
                          <a:sym typeface="Google Sans Flex"/>
                        </a:rPr>
                        <a:t>Photo search, real shops by category, inventory search, photo proof</a:t>
                      </a:r>
                    </a:p>
                  </a:txBody>
                  <a:tcPr marT="27432" marB="27432" marL="54864" marR="54864">
                    <a:solidFill>
                      <a:srgbClr val="F1F3F4"/>
                    </a:solidFill>
                  </a:tcPr>
                </a:tc>
              </a:tr>
              <a:tr h="329184">
                <a:tc>
                  <a:txBody>
                    <a:bodyPr/>
                    <a:lstStyle/>
                    <a:p>
                      <a:r>
                        <a:rPr sz="950" b="0">
                          <a:solidFill>
                            <a:srgbClr val="202124"/>
                          </a:solidFill>
                          <a:latin typeface="Google Sans Flex Medium"/>
                          <a:ea typeface="Google Sans Flex Medium"/>
                          <a:cs typeface="Google Sans Flex Medium"/>
                          <a:sym typeface="Google Sans Flex Medium"/>
                        </a:rPr>
                        <a:t>Hyper-personalization</a:t>
                      </a:r>
                    </a:p>
                  </a:txBody>
                  <a:tcPr marT="27432" marB="27432" marL="54864" marR="54864">
                    <a:solidFill>
                      <a:srgbClr val="FFFFFF"/>
                    </a:solidFill>
                  </a:tcPr>
                </a:tc>
                <a:tc>
                  <a:txBody>
                    <a:bodyPr/>
                    <a:lstStyle/>
                    <a:p>
                      <a:pPr algn="ctr"/>
                      <a:r>
                        <a:rPr sz="1000" b="0">
                          <a:solidFill>
                            <a:srgbClr val="B06000"/>
                          </a:solidFill>
                          <a:latin typeface="Google Sans Flex Medium"/>
                          <a:ea typeface="Google Sans Flex Medium"/>
                          <a:cs typeface="Google Sans Flex Medium"/>
                          <a:sym typeface="Google Sans Flex Medium"/>
                        </a:rPr>
                        <a:t>◐</a:t>
                      </a:r>
                    </a:p>
                  </a:txBody>
                  <a:tcPr marT="27432" marB="27432" marL="54864" marR="54864">
                    <a:solidFill>
                      <a:srgbClr val="FFFFFF"/>
                    </a:solidFill>
                  </a:tcPr>
                </a:tc>
                <a:tc>
                  <a:txBody>
                    <a:bodyPr/>
                    <a:lstStyle/>
                    <a:p>
                      <a:r>
                        <a:rPr sz="850" b="0">
                          <a:solidFill>
                            <a:srgbClr val="5F6368"/>
                          </a:solidFill>
                          <a:latin typeface="Google Sans Flex"/>
                          <a:ea typeface="Google Sans Flex"/>
                          <a:cs typeface="Google Sans Flex"/>
                          <a:sym typeface="Google Sans Flex"/>
                        </a:rPr>
                        <a:t>Remembers budget, device, past needs, language (with forget me)</a:t>
                      </a:r>
                    </a:p>
                  </a:txBody>
                  <a:tcPr marT="27432" marB="27432" marL="54864" marR="54864">
                    <a:solidFill>
                      <a:srgbClr val="FFFFFF"/>
                    </a:solidFill>
                  </a:tcPr>
                </a:tc>
              </a:tr>
              <a:tr h="329184">
                <a:tc>
                  <a:txBody>
                    <a:bodyPr/>
                    <a:lstStyle/>
                    <a:p>
                      <a:r>
                        <a:rPr sz="950" b="0">
                          <a:solidFill>
                            <a:srgbClr val="202124"/>
                          </a:solidFill>
                          <a:latin typeface="Google Sans Flex Medium"/>
                          <a:ea typeface="Google Sans Flex Medium"/>
                          <a:cs typeface="Google Sans Flex Medium"/>
                          <a:sym typeface="Google Sans Flex Medium"/>
                        </a:rPr>
                        <a:t>Demand forecasting</a:t>
                      </a:r>
                    </a:p>
                  </a:txBody>
                  <a:tcPr marT="27432" marB="27432" marL="54864" marR="54864">
                    <a:solidFill>
                      <a:srgbClr val="F1F3F4"/>
                    </a:solidFill>
                  </a:tcPr>
                </a:tc>
                <a:tc>
                  <a:txBody>
                    <a:bodyPr/>
                    <a:lstStyle/>
                    <a:p>
                      <a:pPr algn="ctr"/>
                      <a:r>
                        <a:rPr sz="1000" b="0">
                          <a:solidFill>
                            <a:srgbClr val="1E8E3E"/>
                          </a:solidFill>
                          <a:latin typeface="Google Sans Flex Medium"/>
                          <a:ea typeface="Google Sans Flex Medium"/>
                          <a:cs typeface="Google Sans Flex Medium"/>
                          <a:sym typeface="Google Sans Flex Medium"/>
                        </a:rPr>
                        <a:t>●</a:t>
                      </a:r>
                    </a:p>
                  </a:txBody>
                  <a:tcPr marT="27432" marB="27432" marL="54864" marR="54864">
                    <a:solidFill>
                      <a:srgbClr val="F1F3F4"/>
                    </a:solidFill>
                  </a:tcPr>
                </a:tc>
                <a:tc>
                  <a:txBody>
                    <a:bodyPr/>
                    <a:lstStyle/>
                    <a:p>
                      <a:r>
                        <a:rPr sz="850" b="0">
                          <a:solidFill>
                            <a:srgbClr val="5F6368"/>
                          </a:solidFill>
                          <a:latin typeface="Google Sans Flex"/>
                          <a:ea typeface="Google Sans Flex"/>
                          <a:cs typeface="Google Sans Flex"/>
                          <a:sym typeface="Google Sans Flex"/>
                        </a:rPr>
                        <a:t>Backtested per-shop forecast; BigQuery ML ARIMA_PLUS city demand</a:t>
                      </a:r>
                    </a:p>
                  </a:txBody>
                  <a:tcPr marT="27432" marB="27432" marL="54864" marR="54864">
                    <a:solidFill>
                      <a:srgbClr val="F1F3F4"/>
                    </a:solidFill>
                  </a:tcPr>
                </a:tc>
              </a:tr>
              <a:tr h="329184">
                <a:tc>
                  <a:txBody>
                    <a:bodyPr/>
                    <a:lstStyle/>
                    <a:p>
                      <a:r>
                        <a:rPr sz="950" b="0">
                          <a:solidFill>
                            <a:srgbClr val="202124"/>
                          </a:solidFill>
                          <a:latin typeface="Google Sans Flex Medium"/>
                          <a:ea typeface="Google Sans Flex Medium"/>
                          <a:cs typeface="Google Sans Flex Medium"/>
                          <a:sym typeface="Google Sans Flex Medium"/>
                        </a:rPr>
                        <a:t>Basket analysis</a:t>
                      </a:r>
                    </a:p>
                  </a:txBody>
                  <a:tcPr marT="27432" marB="27432" marL="54864" marR="54864">
                    <a:solidFill>
                      <a:srgbClr val="FFFFFF"/>
                    </a:solidFill>
                  </a:tcPr>
                </a:tc>
                <a:tc>
                  <a:txBody>
                    <a:bodyPr/>
                    <a:lstStyle/>
                    <a:p>
                      <a:pPr algn="ctr"/>
                      <a:r>
                        <a:rPr sz="1000" b="0">
                          <a:solidFill>
                            <a:srgbClr val="1E8E3E"/>
                          </a:solidFill>
                          <a:latin typeface="Google Sans Flex Medium"/>
                          <a:ea typeface="Google Sans Flex Medium"/>
                          <a:cs typeface="Google Sans Flex Medium"/>
                          <a:sym typeface="Google Sans Flex Medium"/>
                        </a:rPr>
                        <a:t>●</a:t>
                      </a:r>
                    </a:p>
                  </a:txBody>
                  <a:tcPr marT="27432" marB="27432" marL="54864" marR="54864">
                    <a:solidFill>
                      <a:srgbClr val="FFFFFF"/>
                    </a:solidFill>
                  </a:tcPr>
                </a:tc>
                <a:tc>
                  <a:txBody>
                    <a:bodyPr/>
                    <a:lstStyle/>
                    <a:p>
                      <a:r>
                        <a:rPr sz="850" b="0">
                          <a:solidFill>
                            <a:srgbClr val="5F6368"/>
                          </a:solidFill>
                          <a:latin typeface="Google Sans Flex"/>
                          <a:ea typeface="Google Sans Flex"/>
                          <a:cs typeface="Google Sans Flex"/>
                          <a:sym typeface="Google Sans Flex"/>
                        </a:rPr>
                        <a:t>Bought-together rules (confidence, lift); multi-item basket solver</a:t>
                      </a:r>
                    </a:p>
                  </a:txBody>
                  <a:tcPr marT="27432" marB="27432" marL="54864" marR="54864">
                    <a:solidFill>
                      <a:srgbClr val="FFFFFF"/>
                    </a:solidFill>
                  </a:tcPr>
                </a:tc>
              </a:tr>
              <a:tr h="329184">
                <a:tc>
                  <a:txBody>
                    <a:bodyPr/>
                    <a:lstStyle/>
                    <a:p>
                      <a:r>
                        <a:rPr sz="950" b="0">
                          <a:solidFill>
                            <a:srgbClr val="202124"/>
                          </a:solidFill>
                          <a:latin typeface="Google Sans Flex Medium"/>
                          <a:ea typeface="Google Sans Flex Medium"/>
                          <a:cs typeface="Google Sans Flex Medium"/>
                          <a:sym typeface="Google Sans Flex Medium"/>
                        </a:rPr>
                        <a:t>Customer segmentation</a:t>
                      </a:r>
                    </a:p>
                  </a:txBody>
                  <a:tcPr marT="27432" marB="27432" marL="54864" marR="54864">
                    <a:solidFill>
                      <a:srgbClr val="F1F3F4"/>
                    </a:solidFill>
                  </a:tcPr>
                </a:tc>
                <a:tc>
                  <a:txBody>
                    <a:bodyPr/>
                    <a:lstStyle/>
                    <a:p>
                      <a:pPr algn="ctr"/>
                      <a:r>
                        <a:rPr sz="1000" b="0">
                          <a:solidFill>
                            <a:srgbClr val="1E8E3E"/>
                          </a:solidFill>
                          <a:latin typeface="Google Sans Flex Medium"/>
                          <a:ea typeface="Google Sans Flex Medium"/>
                          <a:cs typeface="Google Sans Flex Medium"/>
                          <a:sym typeface="Google Sans Flex Medium"/>
                        </a:rPr>
                        <a:t>●</a:t>
                      </a:r>
                    </a:p>
                  </a:txBody>
                  <a:tcPr marT="27432" marB="27432" marL="54864" marR="54864">
                    <a:solidFill>
                      <a:srgbClr val="F1F3F4"/>
                    </a:solidFill>
                  </a:tcPr>
                </a:tc>
                <a:tc>
                  <a:txBody>
                    <a:bodyPr/>
                    <a:lstStyle/>
                    <a:p>
                      <a:r>
                        <a:rPr sz="850" b="0">
                          <a:solidFill>
                            <a:srgbClr val="5F6368"/>
                          </a:solidFill>
                          <a:latin typeface="Google Sans Flex"/>
                          <a:ea typeface="Google Sans Flex"/>
                          <a:cs typeface="Google Sans Flex"/>
                          <a:sym typeface="Google Sans Flex"/>
                        </a:rPr>
                        <a:t>k-means groups on recency, orders, spend from a shop's sales</a:t>
                      </a:r>
                    </a:p>
                  </a:txBody>
                  <a:tcPr marT="27432" marB="27432" marL="54864" marR="54864">
                    <a:solidFill>
                      <a:srgbClr val="F1F3F4"/>
                    </a:solidFill>
                  </a:tcPr>
                </a:tc>
              </a:tr>
              <a:tr h="329184">
                <a:tc>
                  <a:txBody>
                    <a:bodyPr/>
                    <a:lstStyle/>
                    <a:p>
                      <a:r>
                        <a:rPr sz="950" b="0">
                          <a:solidFill>
                            <a:srgbClr val="202124"/>
                          </a:solidFill>
                          <a:latin typeface="Google Sans Flex Medium"/>
                          <a:ea typeface="Google Sans Flex Medium"/>
                          <a:cs typeface="Google Sans Flex Medium"/>
                          <a:sym typeface="Google Sans Flex Medium"/>
                        </a:rPr>
                        <a:t>Inventory intelligence</a:t>
                      </a:r>
                    </a:p>
                  </a:txBody>
                  <a:tcPr marT="27432" marB="27432" marL="54864" marR="54864">
                    <a:solidFill>
                      <a:srgbClr val="FFFFFF"/>
                    </a:solidFill>
                  </a:tcPr>
                </a:tc>
                <a:tc>
                  <a:txBody>
                    <a:bodyPr/>
                    <a:lstStyle/>
                    <a:p>
                      <a:pPr algn="ctr"/>
                      <a:r>
                        <a:rPr sz="1000" b="0">
                          <a:solidFill>
                            <a:srgbClr val="1E8E3E"/>
                          </a:solidFill>
                          <a:latin typeface="Google Sans Flex Medium"/>
                          <a:ea typeface="Google Sans Flex Medium"/>
                          <a:cs typeface="Google Sans Flex Medium"/>
                          <a:sym typeface="Google Sans Flex Medium"/>
                        </a:rPr>
                        <a:t>●</a:t>
                      </a:r>
                    </a:p>
                  </a:txBody>
                  <a:tcPr marT="27432" marB="27432" marL="54864" marR="54864">
                    <a:solidFill>
                      <a:srgbClr val="FFFFFF"/>
                    </a:solidFill>
                  </a:tcPr>
                </a:tc>
                <a:tc>
                  <a:txBody>
                    <a:bodyPr/>
                    <a:lstStyle/>
                    <a:p>
                      <a:r>
                        <a:rPr sz="850" b="0">
                          <a:solidFill>
                            <a:srgbClr val="5F6368"/>
                          </a:solidFill>
                          <a:latin typeface="Google Sans Flex"/>
                          <a:ea typeface="Google Sans Flex"/>
                          <a:cs typeface="Google Sans Flex"/>
                          <a:sym typeface="Google Sans Flex"/>
                        </a:rPr>
                        <a:t>Stock upload, AI reply drafts, stock cover, missed sales</a:t>
                      </a:r>
                    </a:p>
                  </a:txBody>
                  <a:tcPr marT="27432" marB="27432" marL="54864" marR="54864">
                    <a:solidFill>
                      <a:srgbClr val="FFFFFF"/>
                    </a:solidFill>
                  </a:tcPr>
                </a:tc>
              </a:tr>
              <a:tr h="329184">
                <a:tc>
                  <a:txBody>
                    <a:bodyPr/>
                    <a:lstStyle/>
                    <a:p>
                      <a:r>
                        <a:rPr sz="950" b="0">
                          <a:solidFill>
                            <a:srgbClr val="202124"/>
                          </a:solidFill>
                          <a:latin typeface="Google Sans Flex Medium"/>
                          <a:ea typeface="Google Sans Flex Medium"/>
                          <a:cs typeface="Google Sans Flex Medium"/>
                          <a:sym typeface="Google Sans Flex Medium"/>
                        </a:rPr>
                        <a:t>Fraud (problem statement)</a:t>
                      </a:r>
                    </a:p>
                  </a:txBody>
                  <a:tcPr marT="27432" marB="27432" marL="54864" marR="54864">
                    <a:solidFill>
                      <a:srgbClr val="F1F3F4"/>
                    </a:solidFill>
                  </a:tcPr>
                </a:tc>
                <a:tc>
                  <a:txBody>
                    <a:bodyPr/>
                    <a:lstStyle/>
                    <a:p>
                      <a:pPr algn="ctr"/>
                      <a:r>
                        <a:rPr sz="1000" b="0">
                          <a:solidFill>
                            <a:srgbClr val="B06000"/>
                          </a:solidFill>
                          <a:latin typeface="Google Sans Flex Medium"/>
                          <a:ea typeface="Google Sans Flex Medium"/>
                          <a:cs typeface="Google Sans Flex Medium"/>
                          <a:sym typeface="Google Sans Flex Medium"/>
                        </a:rPr>
                        <a:t>◐</a:t>
                      </a:r>
                    </a:p>
                  </a:txBody>
                  <a:tcPr marT="27432" marB="27432" marL="54864" marR="54864">
                    <a:solidFill>
                      <a:srgbClr val="F1F3F4"/>
                    </a:solidFill>
                  </a:tcPr>
                </a:tc>
                <a:tc>
                  <a:txBody>
                    <a:bodyPr/>
                    <a:lstStyle/>
                    <a:p>
                      <a:r>
                        <a:rPr sz="850" b="0">
                          <a:solidFill>
                            <a:srgbClr val="5F6368"/>
                          </a:solidFill>
                          <a:latin typeface="Google Sans Flex"/>
                          <a:ea typeface="Google Sans Flex"/>
                          <a:cs typeface="Google Sans Flex"/>
                          <a:sym typeface="Google Sans Flex"/>
                        </a:rPr>
                        <a:t>Flags fake brands and wrong items in shop photos</a:t>
                      </a:r>
                    </a:p>
                  </a:txBody>
                  <a:tcPr marT="27432" marB="27432" marL="54864" marR="54864">
                    <a:solidFill>
                      <a:srgbClr val="F1F3F4"/>
                    </a:solidFill>
                  </a:tcPr>
                </a:tc>
              </a:tr>
            </a:tbl>
          </a:graphicData>
        </a:graphic>
      </p:graphicFrame>
      <p:graphicFrame>
        <p:nvGraphicFramePr>
          <p:cNvPr id="168" name="Table 167"/>
          <p:cNvGraphicFramePr>
            <a:graphicFrameLocks noGrp="1"/>
          </p:cNvGraphicFramePr>
          <p:nvPr/>
        </p:nvGraphicFramePr>
        <p:xfrm>
          <a:off x="5303520" y="1234440"/>
          <a:ext cx="3474720" cy="2962656"/>
        </p:xfrm>
        <a:graphic>
          <a:graphicData uri="http://schemas.openxmlformats.org/drawingml/2006/table">
            <a:tbl>
              <a:tblPr firstRow="0" bandRow="0">
                <a:tableStyleId>{5940675A-B579-460E-94D1-54222C63F5DA}</a:tableStyleId>
              </a:tblPr>
              <a:tblGrid>
                <a:gridCol w="1280160"/>
                <a:gridCol w="274320"/>
                <a:gridCol w="1920240"/>
              </a:tblGrid>
              <a:tr h="329184">
                <a:tc>
                  <a:txBody>
                    <a:bodyPr/>
                    <a:lstStyle/>
                    <a:p>
                      <a:r>
                        <a:rPr sz="950" b="0">
                          <a:solidFill>
                            <a:srgbClr val="FFFFFF"/>
                          </a:solidFill>
                          <a:latin typeface="Google Sans Flex Medium"/>
                          <a:ea typeface="Google Sans Flex Medium"/>
                          <a:cs typeface="Google Sans Flex Medium"/>
                          <a:sym typeface="Google Sans Flex Medium"/>
                        </a:rPr>
                        <a:t>Suggested technology</a:t>
                      </a:r>
                    </a:p>
                  </a:txBody>
                  <a:tcPr>
                    <a:solidFill>
                      <a:srgbClr val="202124"/>
                    </a:solidFill>
                  </a:tcPr>
                </a:tc>
                <a:tc>
                  <a:txBody>
                    <a:bodyPr/>
                    <a:lstStyle/>
                    <a:p>
                      <a:r>
                        <a:rPr sz="950" b="0">
                          <a:solidFill>
                            <a:srgbClr val="FFFFFF"/>
                          </a:solidFill>
                          <a:latin typeface="Google Sans Flex Medium"/>
                          <a:ea typeface="Google Sans Flex Medium"/>
                          <a:cs typeface="Google Sans Flex Medium"/>
                          <a:sym typeface="Google Sans Flex Medium"/>
                        </a:rPr>
                        <a:t/>
                      </a:r>
                    </a:p>
                  </a:txBody>
                  <a:tcPr>
                    <a:solidFill>
                      <a:srgbClr val="202124"/>
                    </a:solidFill>
                  </a:tcPr>
                </a:tc>
                <a:tc>
                  <a:txBody>
                    <a:bodyPr/>
                    <a:lstStyle/>
                    <a:p>
                      <a:r>
                        <a:rPr sz="950" b="0">
                          <a:solidFill>
                            <a:srgbClr val="FFFFFF"/>
                          </a:solidFill>
                          <a:latin typeface="Google Sans Flex Medium"/>
                          <a:ea typeface="Google Sans Flex Medium"/>
                          <a:cs typeface="Google Sans Flex Medium"/>
                          <a:sym typeface="Google Sans Flex Medium"/>
                        </a:rPr>
                        <a:t>How it is used</a:t>
                      </a:r>
                    </a:p>
                  </a:txBody>
                  <a:tcPr>
                    <a:solidFill>
                      <a:srgbClr val="202124"/>
                    </a:solidFill>
                  </a:tcPr>
                </a:tc>
              </a:tr>
              <a:tr h="329184">
                <a:tc>
                  <a:txBody>
                    <a:bodyPr/>
                    <a:lstStyle/>
                    <a:p>
                      <a:r>
                        <a:rPr sz="950" b="0">
                          <a:solidFill>
                            <a:srgbClr val="202124"/>
                          </a:solidFill>
                          <a:latin typeface="Google Sans Flex Medium"/>
                          <a:ea typeface="Google Sans Flex Medium"/>
                          <a:cs typeface="Google Sans Flex Medium"/>
                          <a:sym typeface="Google Sans Flex Medium"/>
                        </a:rPr>
                        <a:t>Gemini on Vertex AI</a:t>
                      </a:r>
                    </a:p>
                  </a:txBody>
                  <a:tcPr marT="27432" marB="27432" marL="54864" marR="54864">
                    <a:solidFill>
                      <a:srgbClr val="FFFFFF"/>
                    </a:solidFill>
                  </a:tcPr>
                </a:tc>
                <a:tc>
                  <a:txBody>
                    <a:bodyPr/>
                    <a:lstStyle/>
                    <a:p>
                      <a:pPr algn="ctr"/>
                      <a:r>
                        <a:rPr sz="1000" b="0">
                          <a:solidFill>
                            <a:srgbClr val="1E8E3E"/>
                          </a:solidFill>
                          <a:latin typeface="Google Sans Flex Medium"/>
                          <a:ea typeface="Google Sans Flex Medium"/>
                          <a:cs typeface="Google Sans Flex Medium"/>
                          <a:sym typeface="Google Sans Flex Medium"/>
                        </a:rPr>
                        <a:t>●</a:t>
                      </a:r>
                    </a:p>
                  </a:txBody>
                  <a:tcPr marT="27432" marB="27432" marL="54864" marR="54864">
                    <a:solidFill>
                      <a:srgbClr val="FFFFFF"/>
                    </a:solidFill>
                  </a:tcPr>
                </a:tc>
                <a:tc>
                  <a:txBody>
                    <a:bodyPr/>
                    <a:lstStyle/>
                    <a:p>
                      <a:r>
                        <a:rPr sz="850" b="0">
                          <a:solidFill>
                            <a:srgbClr val="5F6368"/>
                          </a:solidFill>
                          <a:latin typeface="Google Sans Flex"/>
                          <a:ea typeface="Google Sans Flex"/>
                          <a:cs typeface="Google Sans Flex"/>
                          <a:sym typeface="Google Sans Flex"/>
                        </a:rPr>
                        <a:t>Seven uses: photo, intent, routing, agent, proof, drafts, answers</a:t>
                      </a:r>
                    </a:p>
                  </a:txBody>
                  <a:tcPr marT="27432" marB="27432" marL="54864" marR="54864">
                    <a:solidFill>
                      <a:srgbClr val="FFFFFF"/>
                    </a:solidFill>
                  </a:tcPr>
                </a:tc>
              </a:tr>
              <a:tr h="329184">
                <a:tc>
                  <a:txBody>
                    <a:bodyPr/>
                    <a:lstStyle/>
                    <a:p>
                      <a:r>
                        <a:rPr sz="950" b="0">
                          <a:solidFill>
                            <a:srgbClr val="202124"/>
                          </a:solidFill>
                          <a:latin typeface="Google Sans Flex Medium"/>
                          <a:ea typeface="Google Sans Flex Medium"/>
                          <a:cs typeface="Google Sans Flex Medium"/>
                          <a:sym typeface="Google Sans Flex Medium"/>
                        </a:rPr>
                        <a:t>Vertex AI / Agent Search</a:t>
                      </a:r>
                    </a:p>
                  </a:txBody>
                  <a:tcPr marT="27432" marB="27432" marL="54864" marR="54864">
                    <a:solidFill>
                      <a:srgbClr val="F1F3F4"/>
                    </a:solidFill>
                  </a:tcPr>
                </a:tc>
                <a:tc>
                  <a:txBody>
                    <a:bodyPr/>
                    <a:lstStyle/>
                    <a:p>
                      <a:pPr algn="ctr"/>
                      <a:r>
                        <a:rPr sz="1000" b="0">
                          <a:solidFill>
                            <a:srgbClr val="1E8E3E"/>
                          </a:solidFill>
                          <a:latin typeface="Google Sans Flex Medium"/>
                          <a:ea typeface="Google Sans Flex Medium"/>
                          <a:cs typeface="Google Sans Flex Medium"/>
                          <a:sym typeface="Google Sans Flex Medium"/>
                        </a:rPr>
                        <a:t>●</a:t>
                      </a:r>
                    </a:p>
                  </a:txBody>
                  <a:tcPr marT="27432" marB="27432" marL="54864" marR="54864">
                    <a:solidFill>
                      <a:srgbClr val="F1F3F4"/>
                    </a:solidFill>
                  </a:tcPr>
                </a:tc>
                <a:tc>
                  <a:txBody>
                    <a:bodyPr/>
                    <a:lstStyle/>
                    <a:p>
                      <a:r>
                        <a:rPr sz="850" b="0">
                          <a:solidFill>
                            <a:srgbClr val="5F6368"/>
                          </a:solidFill>
                          <a:latin typeface="Google Sans Flex"/>
                          <a:ea typeface="Google Sans Flex"/>
                          <a:cs typeface="Google Sans Flex"/>
                          <a:sym typeface="Google Sans Flex"/>
                        </a:rPr>
                        <a:t>Inventory data store and engine</a:t>
                      </a:r>
                    </a:p>
                  </a:txBody>
                  <a:tcPr marT="27432" marB="27432" marL="54864" marR="54864">
                    <a:solidFill>
                      <a:srgbClr val="F1F3F4"/>
                    </a:solidFill>
                  </a:tcPr>
                </a:tc>
              </a:tr>
              <a:tr h="329184">
                <a:tc>
                  <a:txBody>
                    <a:bodyPr/>
                    <a:lstStyle/>
                    <a:p>
                      <a:r>
                        <a:rPr sz="950" b="0">
                          <a:solidFill>
                            <a:srgbClr val="202124"/>
                          </a:solidFill>
                          <a:latin typeface="Google Sans Flex Medium"/>
                          <a:ea typeface="Google Sans Flex Medium"/>
                          <a:cs typeface="Google Sans Flex Medium"/>
                          <a:sym typeface="Google Sans Flex Medium"/>
                        </a:rPr>
                        <a:t>BigQuery</a:t>
                      </a:r>
                    </a:p>
                  </a:txBody>
                  <a:tcPr marT="27432" marB="27432" marL="54864" marR="54864">
                    <a:solidFill>
                      <a:srgbClr val="FFFFFF"/>
                    </a:solidFill>
                  </a:tcPr>
                </a:tc>
                <a:tc>
                  <a:txBody>
                    <a:bodyPr/>
                    <a:lstStyle/>
                    <a:p>
                      <a:pPr algn="ctr"/>
                      <a:r>
                        <a:rPr sz="1000" b="0">
                          <a:solidFill>
                            <a:srgbClr val="1E8E3E"/>
                          </a:solidFill>
                          <a:latin typeface="Google Sans Flex Medium"/>
                          <a:ea typeface="Google Sans Flex Medium"/>
                          <a:cs typeface="Google Sans Flex Medium"/>
                          <a:sym typeface="Google Sans Flex Medium"/>
                        </a:rPr>
                        <a:t>●</a:t>
                      </a:r>
                    </a:p>
                  </a:txBody>
                  <a:tcPr marT="27432" marB="27432" marL="54864" marR="54864">
                    <a:solidFill>
                      <a:srgbClr val="FFFFFF"/>
                    </a:solidFill>
                  </a:tcPr>
                </a:tc>
                <a:tc>
                  <a:txBody>
                    <a:bodyPr/>
                    <a:lstStyle/>
                    <a:p>
                      <a:r>
                        <a:rPr sz="850" b="0">
                          <a:solidFill>
                            <a:srgbClr val="5F6368"/>
                          </a:solidFill>
                          <a:latin typeface="Google Sans Flex"/>
                          <a:ea typeface="Google Sans Flex"/>
                          <a:cs typeface="Google Sans Flex"/>
                          <a:sym typeface="Google Sans Flex"/>
                        </a:rPr>
                        <a:t>Demand events, unmet-demand views</a:t>
                      </a:r>
                    </a:p>
                  </a:txBody>
                  <a:tcPr marT="27432" marB="27432" marL="54864" marR="54864">
                    <a:solidFill>
                      <a:srgbClr val="FFFFFF"/>
                    </a:solidFill>
                  </a:tcPr>
                </a:tc>
              </a:tr>
              <a:tr h="329184">
                <a:tc>
                  <a:txBody>
                    <a:bodyPr/>
                    <a:lstStyle/>
                    <a:p>
                      <a:r>
                        <a:rPr sz="950" b="0">
                          <a:solidFill>
                            <a:srgbClr val="202124"/>
                          </a:solidFill>
                          <a:latin typeface="Google Sans Flex Medium"/>
                          <a:ea typeface="Google Sans Flex Medium"/>
                          <a:cs typeface="Google Sans Flex Medium"/>
                          <a:sym typeface="Google Sans Flex Medium"/>
                        </a:rPr>
                        <a:t>BigQuery AI</a:t>
                      </a:r>
                    </a:p>
                  </a:txBody>
                  <a:tcPr marT="27432" marB="27432" marL="54864" marR="54864">
                    <a:solidFill>
                      <a:srgbClr val="F1F3F4"/>
                    </a:solidFill>
                  </a:tcPr>
                </a:tc>
                <a:tc>
                  <a:txBody>
                    <a:bodyPr/>
                    <a:lstStyle/>
                    <a:p>
                      <a:pPr algn="ctr"/>
                      <a:r>
                        <a:rPr sz="1000" b="0">
                          <a:solidFill>
                            <a:srgbClr val="1E8E3E"/>
                          </a:solidFill>
                          <a:latin typeface="Google Sans Flex Medium"/>
                          <a:ea typeface="Google Sans Flex Medium"/>
                          <a:cs typeface="Google Sans Flex Medium"/>
                          <a:sym typeface="Google Sans Flex Medium"/>
                        </a:rPr>
                        <a:t>●</a:t>
                      </a:r>
                    </a:p>
                  </a:txBody>
                  <a:tcPr marT="27432" marB="27432" marL="54864" marR="54864">
                    <a:solidFill>
                      <a:srgbClr val="F1F3F4"/>
                    </a:solidFill>
                  </a:tcPr>
                </a:tc>
                <a:tc>
                  <a:txBody>
                    <a:bodyPr/>
                    <a:lstStyle/>
                    <a:p>
                      <a:r>
                        <a:rPr sz="850" b="0">
                          <a:solidFill>
                            <a:srgbClr val="5F6368"/>
                          </a:solidFill>
                          <a:latin typeface="Google Sans Flex"/>
                          <a:ea typeface="Google Sans Flex"/>
                          <a:cs typeface="Google Sans Flex"/>
                          <a:sym typeface="Google Sans Flex"/>
                        </a:rPr>
                        <a:t>AI.GENERATE brief + BigQuery ML forecast</a:t>
                      </a:r>
                    </a:p>
                  </a:txBody>
                  <a:tcPr marT="27432" marB="27432" marL="54864" marR="54864">
                    <a:solidFill>
                      <a:srgbClr val="F1F3F4"/>
                    </a:solidFill>
                  </a:tcPr>
                </a:tc>
              </a:tr>
              <a:tr h="329184">
                <a:tc>
                  <a:txBody>
                    <a:bodyPr/>
                    <a:lstStyle/>
                    <a:p>
                      <a:r>
                        <a:rPr sz="950" b="0">
                          <a:solidFill>
                            <a:srgbClr val="202124"/>
                          </a:solidFill>
                          <a:latin typeface="Google Sans Flex Medium"/>
                          <a:ea typeface="Google Sans Flex Medium"/>
                          <a:cs typeface="Google Sans Flex Medium"/>
                          <a:sym typeface="Google Sans Flex Medium"/>
                        </a:rPr>
                        <a:t>Cloud Run</a:t>
                      </a:r>
                    </a:p>
                  </a:txBody>
                  <a:tcPr marT="27432" marB="27432" marL="54864" marR="54864">
                    <a:solidFill>
                      <a:srgbClr val="FFFFFF"/>
                    </a:solidFill>
                  </a:tcPr>
                </a:tc>
                <a:tc>
                  <a:txBody>
                    <a:bodyPr/>
                    <a:lstStyle/>
                    <a:p>
                      <a:pPr algn="ctr"/>
                      <a:r>
                        <a:rPr sz="1000" b="0">
                          <a:solidFill>
                            <a:srgbClr val="1E8E3E"/>
                          </a:solidFill>
                          <a:latin typeface="Google Sans Flex Medium"/>
                          <a:ea typeface="Google Sans Flex Medium"/>
                          <a:cs typeface="Google Sans Flex Medium"/>
                          <a:sym typeface="Google Sans Flex Medium"/>
                        </a:rPr>
                        <a:t>●</a:t>
                      </a:r>
                    </a:p>
                  </a:txBody>
                  <a:tcPr marT="27432" marB="27432" marL="54864" marR="54864">
                    <a:solidFill>
                      <a:srgbClr val="FFFFFF"/>
                    </a:solidFill>
                  </a:tcPr>
                </a:tc>
                <a:tc>
                  <a:txBody>
                    <a:bodyPr/>
                    <a:lstStyle/>
                    <a:p>
                      <a:r>
                        <a:rPr sz="850" b="0">
                          <a:solidFill>
                            <a:srgbClr val="5F6368"/>
                          </a:solidFill>
                          <a:latin typeface="Google Sans Flex"/>
                          <a:ea typeface="Google Sans Flex"/>
                          <a:cs typeface="Google Sans Flex"/>
                          <a:sym typeface="Google Sans Flex"/>
                        </a:rPr>
                        <a:t>App and APIs</a:t>
                      </a:r>
                    </a:p>
                  </a:txBody>
                  <a:tcPr marT="27432" marB="27432" marL="54864" marR="54864">
                    <a:solidFill>
                      <a:srgbClr val="FFFFFF"/>
                    </a:solidFill>
                  </a:tcPr>
                </a:tc>
              </a:tr>
              <a:tr h="329184">
                <a:tc>
                  <a:txBody>
                    <a:bodyPr/>
                    <a:lstStyle/>
                    <a:p>
                      <a:r>
                        <a:rPr sz="950" b="0">
                          <a:solidFill>
                            <a:srgbClr val="202124"/>
                          </a:solidFill>
                          <a:latin typeface="Google Sans Flex Medium"/>
                          <a:ea typeface="Google Sans Flex Medium"/>
                          <a:cs typeface="Google Sans Flex Medium"/>
                          <a:sym typeface="Google Sans Flex Medium"/>
                        </a:rPr>
                        <a:t>Cloud Storage</a:t>
                      </a:r>
                    </a:p>
                  </a:txBody>
                  <a:tcPr marT="27432" marB="27432" marL="54864" marR="54864">
                    <a:solidFill>
                      <a:srgbClr val="F1F3F4"/>
                    </a:solidFill>
                  </a:tcPr>
                </a:tc>
                <a:tc>
                  <a:txBody>
                    <a:bodyPr/>
                    <a:lstStyle/>
                    <a:p>
                      <a:pPr algn="ctr"/>
                      <a:r>
                        <a:rPr sz="1000" b="0">
                          <a:solidFill>
                            <a:srgbClr val="1E8E3E"/>
                          </a:solidFill>
                          <a:latin typeface="Google Sans Flex Medium"/>
                          <a:ea typeface="Google Sans Flex Medium"/>
                          <a:cs typeface="Google Sans Flex Medium"/>
                          <a:sym typeface="Google Sans Flex Medium"/>
                        </a:rPr>
                        <a:t>●</a:t>
                      </a:r>
                    </a:p>
                  </a:txBody>
                  <a:tcPr marT="27432" marB="27432" marL="54864" marR="54864">
                    <a:solidFill>
                      <a:srgbClr val="F1F3F4"/>
                    </a:solidFill>
                  </a:tcPr>
                </a:tc>
                <a:tc>
                  <a:txBody>
                    <a:bodyPr/>
                    <a:lstStyle/>
                    <a:p>
                      <a:r>
                        <a:rPr sz="850" b="0">
                          <a:solidFill>
                            <a:srgbClr val="5F6368"/>
                          </a:solidFill>
                          <a:latin typeface="Google Sans Flex"/>
                          <a:ea typeface="Google Sans Flex"/>
                          <a:cs typeface="Google Sans Flex"/>
                          <a:sym typeface="Google Sans Flex"/>
                        </a:rPr>
                        <a:t>Photos and state snapshots</a:t>
                      </a:r>
                    </a:p>
                  </a:txBody>
                  <a:tcPr marT="27432" marB="27432" marL="54864" marR="54864">
                    <a:solidFill>
                      <a:srgbClr val="F1F3F4"/>
                    </a:solidFill>
                  </a:tcPr>
                </a:tc>
              </a:tr>
              <a:tr h="329184">
                <a:tc>
                  <a:txBody>
                    <a:bodyPr/>
                    <a:lstStyle/>
                    <a:p>
                      <a:r>
                        <a:rPr sz="950" b="0">
                          <a:solidFill>
                            <a:srgbClr val="202124"/>
                          </a:solidFill>
                          <a:latin typeface="Google Sans Flex Medium"/>
                          <a:ea typeface="Google Sans Flex Medium"/>
                          <a:cs typeface="Google Sans Flex Medium"/>
                          <a:sym typeface="Google Sans Flex Medium"/>
                        </a:rPr>
                        <a:t>AlloyDB / Cloud SQL</a:t>
                      </a:r>
                    </a:p>
                  </a:txBody>
                  <a:tcPr marT="27432" marB="27432" marL="54864" marR="54864">
                    <a:solidFill>
                      <a:srgbClr val="FFFFFF"/>
                    </a:solidFill>
                  </a:tcPr>
                </a:tc>
                <a:tc>
                  <a:txBody>
                    <a:bodyPr/>
                    <a:lstStyle/>
                    <a:p>
                      <a:pPr algn="ctr"/>
                      <a:r>
                        <a:rPr sz="1000" b="0">
                          <a:solidFill>
                            <a:srgbClr val="D93025"/>
                          </a:solidFill>
                          <a:latin typeface="Google Sans Flex Medium"/>
                          <a:ea typeface="Google Sans Flex Medium"/>
                          <a:cs typeface="Google Sans Flex Medium"/>
                          <a:sym typeface="Google Sans Flex Medium"/>
                        </a:rPr>
                        <a:t>○</a:t>
                      </a:r>
                    </a:p>
                  </a:txBody>
                  <a:tcPr marT="27432" marB="27432" marL="54864" marR="54864">
                    <a:solidFill>
                      <a:srgbClr val="FFFFFF"/>
                    </a:solidFill>
                  </a:tcPr>
                </a:tc>
                <a:tc>
                  <a:txBody>
                    <a:bodyPr/>
                    <a:lstStyle/>
                    <a:p>
                      <a:r>
                        <a:rPr sz="850" b="0">
                          <a:solidFill>
                            <a:srgbClr val="5F6368"/>
                          </a:solidFill>
                          <a:latin typeface="Google Sans Flex"/>
                          <a:ea typeface="Google Sans Flex"/>
                          <a:cs typeface="Google Sans Flex"/>
                          <a:sym typeface="Google Sans Flex"/>
                        </a:rPr>
                        <a:t>Not yet: SQLite + snapshots (next step)</a:t>
                      </a:r>
                    </a:p>
                  </a:txBody>
                  <a:tcPr marT="27432" marB="27432" marL="54864" marR="54864">
                    <a:solidFill>
                      <a:srgbClr val="FFFFFF"/>
                    </a:solidFill>
                  </a:tcPr>
                </a:tc>
              </a:tr>
              <a:tr h="329184">
                <a:tc>
                  <a:txBody>
                    <a:bodyPr/>
                    <a:lstStyle/>
                    <a:p>
                      <a:r>
                        <a:rPr sz="950" b="0">
                          <a:solidFill>
                            <a:srgbClr val="202124"/>
                          </a:solidFill>
                          <a:latin typeface="Google Sans Flex Medium"/>
                          <a:ea typeface="Google Sans Flex Medium"/>
                          <a:cs typeface="Google Sans Flex Medium"/>
                          <a:sym typeface="Google Sans Flex Medium"/>
                        </a:rPr>
                        <a:t>Looker</a:t>
                      </a:r>
                    </a:p>
                  </a:txBody>
                  <a:tcPr marT="27432" marB="27432" marL="54864" marR="54864">
                    <a:solidFill>
                      <a:srgbClr val="F1F3F4"/>
                    </a:solidFill>
                  </a:tcPr>
                </a:tc>
                <a:tc>
                  <a:txBody>
                    <a:bodyPr/>
                    <a:lstStyle/>
                    <a:p>
                      <a:pPr algn="ctr"/>
                      <a:r>
                        <a:rPr sz="1000" b="0">
                          <a:solidFill>
                            <a:srgbClr val="B06000"/>
                          </a:solidFill>
                          <a:latin typeface="Google Sans Flex Medium"/>
                          <a:ea typeface="Google Sans Flex Medium"/>
                          <a:cs typeface="Google Sans Flex Medium"/>
                          <a:sym typeface="Google Sans Flex Medium"/>
                        </a:rPr>
                        <a:t>◐</a:t>
                      </a:r>
                    </a:p>
                  </a:txBody>
                  <a:tcPr marT="27432" marB="27432" marL="54864" marR="54864">
                    <a:solidFill>
                      <a:srgbClr val="F1F3F4"/>
                    </a:solidFill>
                  </a:tcPr>
                </a:tc>
                <a:tc>
                  <a:txBody>
                    <a:bodyPr/>
                    <a:lstStyle/>
                    <a:p>
                      <a:r>
                        <a:rPr sz="850" b="0">
                          <a:solidFill>
                            <a:srgbClr val="5F6368"/>
                          </a:solidFill>
                          <a:latin typeface="Google Sans Flex"/>
                          <a:ea typeface="Google Sans Flex"/>
                          <a:cs typeface="Google Sans Flex"/>
                          <a:sym typeface="Google Sans Flex"/>
                        </a:rPr>
                        <a:t>Looker Studio link on BigQuery views</a:t>
                      </a:r>
                    </a:p>
                  </a:txBody>
                  <a:tcPr marT="27432" marB="27432" marL="54864" marR="54864">
                    <a:solidFill>
                      <a:srgbClr val="F1F3F4"/>
                    </a:solidFill>
                  </a:tcPr>
                </a:tc>
              </a:tr>
            </a:tbl>
          </a:graphicData>
        </a:graphic>
      </p:graphicFrame>
      <p:sp>
        <p:nvSpPr>
          <p:cNvPr id="169" name="TextBox 168"/>
          <p:cNvSpPr txBox="1"/>
          <p:nvPr/>
        </p:nvSpPr>
        <p:spPr>
          <a:xfrm>
            <a:off x="365760" y="4315968"/>
            <a:ext cx="8412480" cy="274320"/>
          </a:xfrm>
          <a:prstGeom prst="rect">
            <a:avLst/>
          </a:prstGeom>
          <a:noFill/>
        </p:spPr>
        <p:txBody>
          <a:bodyPr wrap="square" anchor="t" lIns="0" rIns="0" tIns="0" bIns="0">
            <a:spAutoFit/>
          </a:bodyPr>
          <a:lstStyle/>
          <a:p>
            <a:pPr algn="l">
              <a:spcAft>
                <a:spcPts val="400"/>
              </a:spcAft>
            </a:pPr>
            <a:r>
              <a:rPr sz="900" b="0">
                <a:solidFill>
                  <a:srgbClr val="1E8E3E"/>
                </a:solidFill>
                <a:latin typeface="Google Sans Flex"/>
                <a:ea typeface="Google Sans Flex"/>
                <a:cs typeface="Google Sans Flex"/>
                <a:sym typeface="Google Sans Flex"/>
              </a:rPr>
              <a:t>●</a:t>
            </a:r>
            <a:r>
              <a:rPr sz="900" b="0">
                <a:solidFill>
                  <a:srgbClr val="5F6368"/>
                </a:solidFill>
                <a:latin typeface="Google Sans Flex"/>
                <a:ea typeface="Google Sans Flex"/>
                <a:cs typeface="Google Sans Flex"/>
                <a:sym typeface="Google Sans Flex"/>
              </a:rPr>
              <a:t> built and live    </a:t>
            </a:r>
            <a:r>
              <a:rPr sz="900" b="0">
                <a:solidFill>
                  <a:srgbClr val="B06000"/>
                </a:solidFill>
                <a:latin typeface="Google Sans Flex"/>
                <a:ea typeface="Google Sans Flex"/>
                <a:cs typeface="Google Sans Flex"/>
                <a:sym typeface="Google Sans Flex"/>
              </a:rPr>
              <a:t>◐</a:t>
            </a:r>
            <a:r>
              <a:rPr sz="900" b="0">
                <a:solidFill>
                  <a:srgbClr val="5F6368"/>
                </a:solidFill>
                <a:latin typeface="Google Sans Flex"/>
                <a:ea typeface="Google Sans Flex"/>
                <a:cs typeface="Google Sans Flex"/>
                <a:sym typeface="Google Sans Flex"/>
              </a:rPr>
              <a:t> partly    </a:t>
            </a:r>
            <a:r>
              <a:rPr sz="900" b="0">
                <a:solidFill>
                  <a:srgbClr val="D93025"/>
                </a:solidFill>
                <a:latin typeface="Google Sans Flex"/>
                <a:ea typeface="Google Sans Flex"/>
                <a:cs typeface="Google Sans Flex"/>
                <a:sym typeface="Google Sans Flex"/>
              </a:rPr>
              <a:t>○</a:t>
            </a:r>
            <a:r>
              <a:rPr sz="900" b="0">
                <a:solidFill>
                  <a:srgbClr val="5F6368"/>
                </a:solidFill>
                <a:latin typeface="Google Sans Flex"/>
                <a:ea typeface="Google Sans Flex"/>
                <a:cs typeface="Google Sans Flex"/>
                <a:sym typeface="Google Sans Flex"/>
              </a:rPr>
              <a:t> not yet</a:t>
            </a: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 name="Shape 170"/>
        <p:cNvGrpSpPr/>
        <p:nvPr/>
      </p:nvGrpSpPr>
      <p:grpSpPr>
        <a:xfrm>
          <a:off x="0" y="0"/>
          <a:ext cx="0" cy="0"/>
          <a:chOff x="0" y="0"/>
          <a:chExt cx="0" cy="0"/>
        </a:xfrm>
      </p:grpSpPr>
      <p:pic>
        <p:nvPicPr>
          <p:cNvPr id="171" name="Google Shape;171;p28"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172" name="Google Shape;172;p28" title="Frame 145.png"/>
          <p:cNvPicPr preferRelativeResize="0"/>
          <p:nvPr/>
        </p:nvPicPr>
        <p:blipFill>
          <a:blip r:embed="rId4">
            <a:alphaModFix/>
          </a:blip>
          <a:stretch>
            <a:fillRect/>
          </a:stretch>
        </p:blipFill>
        <p:spPr>
          <a:xfrm>
            <a:off x="0" y="0"/>
            <a:ext cx="9144000" cy="5143516"/>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